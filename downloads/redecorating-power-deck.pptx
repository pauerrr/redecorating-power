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390e0ab-e2d6-dfeb-739a-549bcaa83bbf}">
          <p14:sldIdLst>
            <p14:sldId id="256"/>
            <p14:sldId id="257"/>
          </p14:sldIdLst>
        </p14:section>
        <p14:section name="00 Boot" id="{a396e21b-cf1b-e682-df95-b540cf79bfde}">
          <p14:sldIdLst>
            <p14:sldId id="258"/>
            <p14:sldId id="259"/>
            <p14:sldId id="260"/>
            <p14:sldId id="261"/>
            <p14:sldId id="262"/>
            <p14:sldId id="263"/>
          </p14:sldIdLst>
        </p14:section>
        <p14:section name="01 Read the grammar" id="{b19370c6-091a-d64e-f5dd-092a2a098c11}">
          <p14:sldIdLst>
            <p14:sldId id="264"/>
            <p14:sldId id="265"/>
            <p14:sldId id="266"/>
            <p14:sldId id="267"/>
            <p14:sldId id="268"/>
            <p14:sldId id="269"/>
            <p14:sldId id="270"/>
            <p14:sldId id="271"/>
          </p14:sldIdLst>
        </p14:section>
        <p14:section name="02 Pick a target" id="{aaca496d-c78a-017f-f82e-3fa26a1fbdfd}">
          <p14:sldIdLst>
            <p14:sldId id="272"/>
            <p14:sldId id="273"/>
            <p14:sldId id="274"/>
            <p14:sldId id="275"/>
            <p14:sldId id="276"/>
            <p14:sldId id="277"/>
          </p14:sldIdLst>
        </p14:section>
        <p14:section name="03 Clone the skin" id="{de3e2ee3-7cfb-73f9-3017-c7467a8d2f4c}">
          <p14:sldIdLst>
            <p14:sldId id="278"/>
            <p14:sldId id="279"/>
            <p14:sldId id="280"/>
            <p14:sldId id="281"/>
          </p14:sldIdLst>
        </p14:section>
        <p14:section name="04 Pour in the story" id="{e07483e6-a4e1-aba1-093b-40edbf3551c0}">
          <p14:sldIdLst>
            <p14:sldId id="282"/>
            <p14:sldId id="283"/>
            <p14:sldId id="284"/>
          </p14:sldIdLst>
        </p14:section>
        <p14:section name="05 The register" id="{d84b81c6-9779-ad10-9930-80b86f1f7245}">
          <p14:sldIdLst>
            <p14:sldId id="285"/>
            <p14:sldId id="286"/>
          </p14:sldIdLst>
        </p14:section>
        <p14:section name="06 Debrief" id="{4047a90c-b394-659b-c8bc-1874f5f2229d}">
          <p14:sldIdLst>
            <p14:sldId id="287"/>
            <p14:sldId id="288"/>
            <p14:sldId id="289"/>
            <p14:sldId id="290"/>
          </p14:sldIdLst>
        </p14:section>
        <p14:section name="Close" id="{d75cd233-22c8-9678-f60e-c825a8f55477}">
          <p14:sldIdLst>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Sites</c:v>
                </c:pt>
              </c:strCache>
            </c:strRef>
          </c:tx>
          <c:spPr>
            <a:solidFill>
              <a:srgbClr val="0B0C0C"/>
            </a:solidFill>
            <a:effectLst/>
          </c:spPr>
          <c:invertIfNegative val="0"/>
          <c:dLbls>
            <c:numFmt formatCode="#,##0" sourceLinked="0"/>
            <c:txPr>
              <a:bodyPr/>
              <a:lstStyle/>
              <a:p>
                <a:pPr>
                  <a:defRPr b="0" i="0" strike="noStrike" sz="1200" u="none">
                    <a:solidFill>
                      <a:srgbClr val="0B0C0C"/>
                    </a:solidFill>
                    <a:latin typeface="+mn-lt"/>
                  </a:defRPr>
                </a:pPr>
              </a:p>
            </c:txPr>
            <c:showLegendKey val="0"/>
            <c:showVal val="1"/>
            <c:showCatName val="0"/>
            <c:showSerName val="0"/>
            <c:showPercent val="0"/>
            <c:showBubbleSize val="0"/>
            <c:showLeaderLines val="0"/>
          </c:dLbls>
          <c:cat>
            <c:multiLvlStrRef>
              <c:f>Sheet1!$A$2:$A$7</c:f>
              <c:multiLvlStrCache>
                <c:ptCount val="6"/>
                <c:lvl>
                  <c:pt idx="0">
                    <c:v>Roboto</c:v>
                  </c:pt>
                  <c:pt idx="1">
                    <c:v>Arial</c:v>
                  </c:pt>
                  <c:pt idx="2">
                    <c:v>Titillium Web</c:v>
                  </c:pt>
                  <c:pt idx="3">
                    <c:v>Helvetica</c:v>
                  </c:pt>
                  <c:pt idx="4">
                    <c:v>Marianne</c:v>
                  </c:pt>
                  <c:pt idx="5">
                    <c:v>BundesSansWeb</c:v>
                  </c:pt>
                </c:lvl>
              </c:multiLvlStrCache>
            </c:multiLvlStrRef>
          </c:cat>
          <c:val>
            <c:numRef>
              <c:f>Sheet1!$B$2:$B$7</c:f>
              <c:numCache>
                <c:formatCode>General</c:formatCode>
                <c:ptCount val="6"/>
                <c:pt idx="0">
                  <c:v>7</c:v>
                </c:pt>
                <c:pt idx="1">
                  <c:v>3</c:v>
                </c:pt>
                <c:pt idx="2">
                  <c:v>3</c:v>
                </c:pt>
                <c:pt idx="3">
                  <c:v>2</c:v>
                </c:pt>
                <c:pt idx="4">
                  <c:v>2</c:v>
                </c:pt>
                <c:pt idx="5">
                  <c:v>2</c:v>
                </c:pt>
              </c:numCache>
            </c:numRef>
          </c:val>
        </c:ser>
        <c:dLbls>
          <c:numFmt formatCode="#,##0" sourceLinked="0"/>
          <c:txPr>
            <a:bodyPr/>
            <a:lstStyle/>
            <a:p>
              <a:pPr>
                <a:defRPr b="0" i="0" strike="noStrike" sz="1200" u="none">
                  <a:solidFill>
                    <a:srgbClr val="0B0C0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0B0C0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Doors open. Leave this up while people arrive. If wifi is shaky, say so now and point at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opens the kit on their own laptop now. Wait until most screens show the Style Bureau. Press Q at any time later to bring the QR code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The point of this phase is to feel the design before we name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commentary. Sixty seconds of silence is fine. Then take three answers. Someone will say 'trustworthy', someone 'boring', someone 'I need to renew my passport'. All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the words on sticky notes or in the chat. Keep them visible — you'll return to them in phase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brief. Say it once, slowly. The room knows how to prompt a model; we are not teaching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 of show adapts to the format set in assets/edition.js. Point out where the break is; people relax once they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slide out loud. It is the condition that lets us do any of this. If someone pushes back ('but everyone knows he did it'), the answer is: then the court will say so eventually, and we'll update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minutes of talk, fifteen of exercise. Keep the talk moving; let the data slides do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the blues out loud if the room is quiet. Blue says stable, cold, competent, and nobody ever lost a tender for choosing it. Then point at the exceptions: the Bundestag's yellow, Romania's aubergine parliament, the Polish anti-corruption bureau in deep red, Portugal's teal parliament.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Roboto is Google's house typeface. The joke writes itself, so let it: the state wanted to look authorless and outsourced the authorship to Google. Arial is the old way of saying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design system is a government deciding what authority looks like and then enforcing it across hundreds of sites. France even names its typeface after the national symbol. These are the easiest targets to clone precisely, because the rules are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is decoration. Each item says: a serious institution built this and followed procedure. When teams clone a site, these are the parts that make it believable.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one in the original language if anyone in the room can, then the translation. Passive constructions, careful hedges, consent by not objecting. This is the register teams will write in during phase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Pause after it. People will quote it at the bar; let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Pairs usually find colour and type quickly and miss furniture. Nudge them toward breadcrumbs, cookie banners, reference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form now if they haven't. Two to four people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people ask which country has the 'best' material: they all do. The Netherlands has a cabinet that resigned over a benefits scandal; Malta's file reads like a thriller; Romania's anti-corruption directorate lists final convictions on its own homepage.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receipt is the safest for a first build. The monument is the most dangerous and the funniest; make sure the person qualifies under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rungs in order. The third one is a website. The first one is a tweet nobody remembers. Push every team up the ladder during the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checkpoint that keeps the session clean. Check every card. If a name doesn't have 'convicted, final' or 'resigned' next to it in the dossier, the team picks someone else. No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in the standard format. Start the next block on time; teams with momentum will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vibe-coding they already know, with the bar set higher: not 'looks governmental', but 'looks like that exact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1 live on the projector with one of your hero bodies. It takes thirty seconds and saves ten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agent keeps producing a modern startup site, the line to paste is: 'Do not modernise it. Remove every rounded corner, shadow and animation the original does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the swap at minute 35 loudly. It's the most useful two minutes of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content. Everything they write uses the institution's own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left one. Some laughs. Read the right one. Better laughs, and a slightly worse feeling. That second reaction is what we're after. The wink lets the reader off the hook; the deadpan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calling time at minute 40. People will want one more page. Done and pointed beats sprawling and vague.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up the laptops or the screen-share order before you start. Transitions eat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a visible timer. Applause between teams is the transition. Critique the illusion, not the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wall of words from E0.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run E6: everyone names one interface outside government that uses the same tricks.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quick fire. End on a laugh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even if nobody plans to publish today. Someone will,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QR code: the kit stays online. Thank the host. If there's a submission link, put it on screen and leave it there while people pack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P Cover">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0"/>
            <a:ext cx="8762695" cy="2971800"/>
          </a:xfrm>
          <a:prstGeom prst="rect">
            <a:avLst/>
          </a:prstGeom>
          <a:noFill/>
          <a:ln/>
        </p:spPr>
        <p:txBody>
          <a:bodyPr wrap="square" rtlCol="0"/>
          <a:lstStyle>
            <a:lvl1pPr algn="l" indent="0" marL="0">
              <a:buNone/>
              <a:defRPr lang="en-US" sz="9000" dirty="0">
                <a:solidFill>
                  <a:schemeClr val="tx1"/>
                </a:solidFill>
              </a:defRPr>
            </a:lvl1pPr>
          </a:lstStyle>
          <a:p>
            <a:pPr algn="l" indent="0" marL="0">
              <a:buNone/>
            </a:pPr>
            <a:endParaRPr lang="en-US" sz="9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P Phase">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267505"/>
            <a:ext cx="10668305" cy="1524305"/>
          </a:xfrm>
          <a:prstGeom prst="rect">
            <a:avLst/>
          </a:prstGeom>
          <a:noFill/>
          <a:ln/>
        </p:spPr>
        <p:txBody>
          <a:bodyPr wrap="square" rtlCol="0"/>
          <a:lstStyle>
            <a:lvl1pPr algn="l" indent="0" marL="0">
              <a:buNone/>
              <a:defRPr lang="en-US" sz="6200" dirty="0">
                <a:solidFill>
                  <a:schemeClr val="tx1"/>
                </a:solidFill>
              </a:defRPr>
            </a:lvl1pPr>
          </a:lstStyle>
          <a:p>
            <a:pPr algn="l" indent="0" marL="0">
              <a:buNone/>
            </a:pPr>
            <a:endParaRPr lang="en-US" sz="6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P Content Whit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61695"/>
          </a:xfrm>
          <a:prstGeom prst="rect">
            <a:avLst/>
          </a:prstGeom>
          <a:noFill/>
          <a:ln/>
        </p:spPr>
        <p:txBody>
          <a:bodyPr wrap="square" rtlCol="0"/>
          <a:lstStyle>
            <a:lvl1pPr algn="l" indent="0" marL="0">
              <a:buNone/>
              <a:defRPr lang="en-US" sz="4100" dirty="0">
                <a:solidFill>
                  <a:schemeClr val="tx1"/>
                </a:solidFill>
              </a:defRPr>
            </a:lvl1pPr>
          </a:lstStyle>
          <a:p>
            <a:pPr algn="l" indent="0" marL="0">
              <a:buNone/>
            </a:pPr>
            <a:endParaRPr lang="en-US" sz="41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P Content Cream">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61695"/>
          </a:xfrm>
          <a:prstGeom prst="rect">
            <a:avLst/>
          </a:prstGeom>
          <a:noFill/>
          <a:ln/>
        </p:spPr>
        <p:txBody>
          <a:bodyPr wrap="square" rtlCol="0"/>
          <a:lstStyle>
            <a:lvl1pPr algn="l" indent="0" marL="0">
              <a:buNone/>
              <a:defRPr lang="en-US" sz="4100" dirty="0">
                <a:solidFill>
                  <a:schemeClr val="tx1"/>
                </a:solidFill>
              </a:defRPr>
            </a:lvl1pPr>
          </a:lstStyle>
          <a:p>
            <a:pPr algn="l" indent="0" marL="0">
              <a:buNone/>
            </a:pPr>
            <a:endParaRPr lang="en-US" sz="41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P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90295"/>
            <a:ext cx="5790895" cy="3047695"/>
          </a:xfrm>
          <a:prstGeom prst="rect">
            <a:avLst/>
          </a:prstGeom>
          <a:noFill/>
          <a:ln/>
        </p:spPr>
        <p:txBody>
          <a:bodyPr wrap="square" rtlCol="0"/>
          <a:lstStyle>
            <a:lvl1pPr algn="l" indent="0" marL="0">
              <a:buNone/>
              <a:defRPr lang="en-US" sz="5800" dirty="0">
                <a:solidFill>
                  <a:schemeClr val="bg2"/>
                </a:solidFill>
              </a:defRPr>
            </a:lvl1pPr>
          </a:lstStyle>
          <a:p>
            <a:pPr algn="l" indent="0" marL="0">
              <a:buNone/>
            </a:pPr>
            <a:endParaRPr lang="en-US" sz="58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9A8A2"/>
                </a:solidFill>
                <a:latin typeface="Courier New"/>
                <a:ea typeface="Courier New"/>
                <a:cs typeface="Courier New"/>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RP Exercise">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335585" y="335585"/>
            <a:ext cx="11521440" cy="5943600"/>
          </a:xfrm>
          <a:prstGeom prst="rect">
            <a:avLst/>
          </a:prstGeom>
          <a:solidFill>
            <a:schemeClr val="bg1"/>
          </a:solidFill>
          <a:ln/>
        </p:spPr>
      </p:sp>
      <p:sp>
        <p:nvSpPr>
          <p:cNvPr id="3" name="Text 1"/>
          <p:cNvSpPr/>
          <p:nvPr>
            <p:ph idx="101" type="title" hasCustomPrompt="1"/>
          </p:nvPr>
        </p:nvSpPr>
        <p:spPr>
          <a:xfrm>
            <a:off x="822960" y="1218895"/>
            <a:ext cx="4343400" cy="1828800"/>
          </a:xfrm>
          <a:prstGeom prst="rect">
            <a:avLst/>
          </a:prstGeom>
          <a:noFill/>
          <a:ln/>
        </p:spPr>
        <p:txBody>
          <a:bodyPr wrap="square" rtlCol="0"/>
          <a:lstStyle>
            <a:lvl1pPr algn="l" indent="0" marL="0">
              <a:buNone/>
              <a:defRPr lang="en-US" sz="4300" dirty="0">
                <a:solidFill>
                  <a:schemeClr val="tx1"/>
                </a:solidFill>
              </a:defRPr>
            </a:lvl1pPr>
          </a:lstStyle>
          <a:p>
            <a:pPr algn="l" indent="0" marL="0">
              <a:buNone/>
            </a:pPr>
            <a:endParaRPr lang="en-US" sz="43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P Blank">
    <p:bg>
      <p:bgPr>
        <a:solidFill>
          <a:schemeClr val="bg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8.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5.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8.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6.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304495"/>
            <a:ext cx="5333695" cy="228600"/>
          </a:xfrm>
          <a:prstGeom prst="rect">
            <a:avLst/>
          </a:prstGeom>
          <a:noFill/>
          <a:ln/>
        </p:spPr>
        <p:txBody>
          <a:bodyPr wrap="square" lIns="0" tIns="0" rIns="0" bIns="0" rtlCol="0" anchor="t"/>
          <a:lstStyle/>
          <a:p>
            <a:pPr indent="0" marL="0">
              <a:buNone/>
            </a:pPr>
            <a:r>
              <a:rPr lang="en-US" sz="1000" spc="400" kern="0" dirty="0">
                <a:solidFill>
                  <a:schemeClr val="tx1"/>
                </a:solidFill>
                <a:latin typeface="Roobert" pitchFamily="34" charset="0"/>
                <a:ea typeface="Roobert" pitchFamily="34" charset="-122"/>
                <a:cs typeface="Roobert" pitchFamily="34" charset="-120"/>
              </a:rPr>
              <a:t>DOMESTIC DATA STREAMERS</a:t>
            </a:r>
            <a:endParaRPr lang="en-US" sz="1000" dirty="0"/>
          </a:p>
        </p:txBody>
      </p:sp>
      <p:sp>
        <p:nvSpPr>
          <p:cNvPr id="3" name="Text 0"/>
          <p:cNvSpPr/>
          <p:nvPr>
            <p:ph idx="100" type="title" hasCustomPrompt="1"/>
          </p:nvPr>
        </p:nvSpPr>
        <p:spPr>
          <a:xfrm>
            <a:off x="548640" y="2286000"/>
            <a:ext cx="8762695" cy="2971800"/>
          </a:xfrm>
          <a:prstGeom prst="rect">
            <a:avLst/>
          </a:prstGeom>
          <a:noFill/>
          <a:ln/>
        </p:spPr>
        <p:txBody>
          <a:bodyPr wrap="square" lIns="0" tIns="0" rIns="0" bIns="0" rtlCol="0" anchor="b"/>
          <a:lstStyle/>
          <a:p>
            <a:pPr algn="l" indent="0" marL="0">
              <a:buNone/>
            </a:pPr>
            <a:r>
              <a:rPr lang="en-US" sz="9000" dirty="0">
                <a:solidFill>
                  <a:schemeClr val="tx1"/>
                </a:solidFill>
              </a:rPr>
              <a:t>Redecorating</a:t>
            </a:r>
            <a:endParaRPr lang="en-US" sz="9000" dirty="0"/>
          </a:p>
          <a:p>
            <a:pPr algn="l" indent="0" marL="0">
              <a:buNone/>
            </a:pPr>
            <a:r>
              <a:rPr lang="en-US" sz="9000" dirty="0">
                <a:solidFill>
                  <a:schemeClr val="tx1"/>
                </a:solidFill>
              </a:rPr>
              <a:t>Power</a:t>
            </a:r>
            <a:endParaRPr lang="en-US" sz="9000" dirty="0"/>
          </a:p>
        </p:txBody>
      </p:sp>
      <p:sp>
        <p:nvSpPr>
          <p:cNvPr id="4" name="Text 2"/>
          <p:cNvSpPr txBox="1"/>
          <p:nvPr/>
        </p:nvSpPr>
        <p:spPr>
          <a:xfrm>
            <a:off x="548640" y="5486400"/>
            <a:ext cx="7619695" cy="381305"/>
          </a:xfrm>
          <a:prstGeom prst="rect">
            <a:avLst/>
          </a:prstGeom>
          <a:noFill/>
          <a:ln/>
        </p:spPr>
        <p:txBody>
          <a:bodyPr wrap="square" lIns="0" tIns="0" rIns="0" bIns="0" rtlCol="0" anchor="t"/>
          <a:lstStyle/>
          <a:p>
            <a:pPr indent="0" marL="0">
              <a:buNone/>
            </a:pPr>
            <a:r>
              <a:rPr lang="en-US" sz="1800" dirty="0">
                <a:solidFill>
                  <a:schemeClr val="tx1"/>
                </a:solidFill>
                <a:latin typeface="Roobert" pitchFamily="34" charset="0"/>
                <a:ea typeface="Roobert" pitchFamily="34" charset="-122"/>
                <a:cs typeface="Roobert" pitchFamily="34" charset="-120"/>
              </a:rPr>
              <a:t>A workshop on bureaucratic aesthetics and the stories they hide.</a:t>
            </a:r>
            <a:endParaRPr lang="en-US" sz="1800" dirty="0"/>
          </a:p>
        </p:txBody>
      </p:sp>
      <p:sp>
        <p:nvSpPr>
          <p:cNvPr id="5" name="Text 3"/>
          <p:cNvSpPr txBox="1"/>
          <p:nvPr/>
        </p:nvSpPr>
        <p:spPr>
          <a:xfrm>
            <a:off x="548640" y="6019495"/>
            <a:ext cx="7619695" cy="304495"/>
          </a:xfrm>
          <a:prstGeom prst="rect">
            <a:avLst/>
          </a:prstGeom>
          <a:noFill/>
          <a:ln/>
        </p:spPr>
        <p:txBody>
          <a:bodyPr wrap="square" lIns="0" tIns="0" rIns="0" bIns="0" rtlCol="0" anchor="t"/>
          <a:lstStyle/>
          <a:p>
            <a:pPr indent="0" marL="0">
              <a:buNone/>
            </a:pPr>
            <a:r>
              <a:rPr lang="en-US" sz="1200" dirty="0">
                <a:solidFill>
                  <a:srgbClr val="6F6F6A"/>
                </a:solidFill>
                <a:latin typeface="Roobert" pitchFamily="34" charset="0"/>
                <a:ea typeface="Roobert" pitchFamily="34" charset="-122"/>
                <a:cs typeface="Roobert" pitchFamily="34" charset="-120"/>
              </a:rPr>
              <a:t>Education &amp; Tools</a:t>
            </a:r>
            <a:endParaRPr lang="en-US" sz="1200" dirty="0"/>
          </a:p>
        </p:txBody>
      </p:sp>
      <p:sp>
        <p:nvSpPr>
          <p:cNvPr id="6" name="Kit address card"/>
          <p:cNvSpPr/>
          <p:nvPr/>
        </p:nvSpPr>
        <p:spPr>
          <a:xfrm>
            <a:off x="9357055" y="914400"/>
            <a:ext cx="2286000" cy="2819095"/>
          </a:xfrm>
          <a:prstGeom prst="roundRect">
            <a:avLst>
              <a:gd name="adj" fmla="val 10000"/>
            </a:avLst>
          </a:prstGeom>
          <a:solidFill>
            <a:schemeClr val="bg1"/>
          </a:solidFill>
          <a:ln/>
        </p:spPr>
      </p:sp>
      <p:pic>
        <p:nvPicPr>
          <p:cNvPr id="7" name="QR code" descr="QR code to the workshop kit">    </p:cNvPr>
          <p:cNvPicPr>
            <a:picLocks noChangeAspect="1"/>
          </p:cNvPicPr>
          <p:nvPr/>
        </p:nvPicPr>
        <p:blipFill>
          <a:blip r:embed="rId1"/>
          <a:stretch>
            <a:fillRect/>
          </a:stretch>
        </p:blipFill>
        <p:spPr>
          <a:xfrm>
            <a:off x="9539935" y="1097280"/>
            <a:ext cx="1920240" cy="1920240"/>
          </a:xfrm>
          <a:prstGeom prst="rect">
            <a:avLst/>
          </a:prstGeom>
        </p:spPr>
      </p:pic>
      <p:sp>
        <p:nvSpPr>
          <p:cNvPr id="8" name="Text 5"/>
          <p:cNvSpPr txBox="1"/>
          <p:nvPr/>
        </p:nvSpPr>
        <p:spPr>
          <a:xfrm>
            <a:off x="9539935" y="3124505"/>
            <a:ext cx="1920240" cy="45720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pauerrr.github.io/redecorating-power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61695"/>
          </a:xfrm>
          <a:prstGeom prst="rect">
            <a:avLst/>
          </a:prstGeom>
          <a:noFill/>
          <a:ln/>
        </p:spPr>
        <p:txBody>
          <a:bodyPr wrap="square" lIns="0" tIns="0" rIns="0" bIns="0" rtlCol="0" anchor="b"/>
          <a:lstStyle/>
          <a:p>
            <a:pPr algn="l" indent="0" marL="0">
              <a:buNone/>
            </a:pPr>
            <a:r>
              <a:rPr lang="en-US" sz="4100" dirty="0">
                <a:solidFill>
                  <a:schemeClr val="tx1"/>
                </a:solidFill>
              </a:rPr>
              <a:t>Open the kit</a:t>
            </a:r>
            <a:endParaRPr lang="en-US" sz="4100" dirty="0"/>
          </a:p>
        </p:txBody>
      </p:sp>
      <p:sp>
        <p:nvSpPr>
          <p:cNvPr id="3" name="Kit address"/>
          <p:cNvSpPr txBox="1"/>
          <p:nvPr/>
        </p:nvSpPr>
        <p:spPr>
          <a:xfrm>
            <a:off x="548640" y="1981505"/>
            <a:ext cx="6248095" cy="914400"/>
          </a:xfrm>
          <a:prstGeom prst="rect">
            <a:avLst/>
          </a:prstGeom>
          <a:noFill/>
          <a:ln/>
        </p:spPr>
        <p:txBody>
          <a:bodyPr wrap="square" lIns="0" tIns="0" rIns="0" bIns="0" rtlCol="0" anchor="t"/>
          <a:lstStyle/>
          <a:p>
            <a:pPr indent="0" marL="0">
              <a:buNone/>
            </a:pPr>
            <a:r>
              <a:rPr lang="en-US" sz="2000" dirty="0">
                <a:solidFill>
                  <a:schemeClr val="tx1"/>
                </a:solidFill>
                <a:latin typeface="Courier New" pitchFamily="34" charset="0"/>
                <a:ea typeface="Courier New" pitchFamily="34" charset="-122"/>
                <a:cs typeface="Courier New" pitchFamily="34" charset="-120"/>
              </a:rPr>
              <a:t>pauerrr.github.io/redecorating-power</a:t>
            </a:r>
            <a:endParaRPr lang="en-US" sz="2000" dirty="0"/>
          </a:p>
        </p:txBody>
      </p:sp>
      <p:sp>
        <p:nvSpPr>
          <p:cNvPr id="4" name="Text 2"/>
          <p:cNvSpPr txBox="1"/>
          <p:nvPr/>
        </p:nvSpPr>
        <p:spPr>
          <a:xfrm>
            <a:off x="548640" y="5639105"/>
            <a:ext cx="6248095" cy="381305"/>
          </a:xfrm>
          <a:prstGeom prst="rect">
            <a:avLst/>
          </a:prstGeom>
          <a:noFill/>
          <a:ln/>
        </p:spPr>
        <p:txBody>
          <a:bodyPr wrap="square" lIns="0" tIns="0" rIns="0" bIns="0" rtlCol="0" anchor="t"/>
          <a:lstStyle/>
          <a:p>
            <a:pPr indent="0" marL="0">
              <a:buNone/>
            </a:pPr>
            <a:r>
              <a:rPr lang="en-US" sz="1400" dirty="0">
                <a:solidFill>
                  <a:schemeClr val="tx1"/>
                </a:solidFill>
                <a:latin typeface="Roobert" pitchFamily="34" charset="0"/>
                <a:ea typeface="Roobert" pitchFamily="34" charset="-122"/>
                <a:cs typeface="Roobert" pitchFamily="34" charset="-120"/>
              </a:rPr>
              <a:t>Style Bureau · Dossiers · Exercises · this deck</a:t>
            </a:r>
            <a:endParaRPr lang="en-US" sz="1400" dirty="0"/>
          </a:p>
        </p:txBody>
      </p:sp>
      <p:sp>
        <p:nvSpPr>
          <p:cNvPr id="5" name="Kit address card"/>
          <p:cNvSpPr/>
          <p:nvPr/>
        </p:nvSpPr>
        <p:spPr>
          <a:xfrm>
            <a:off x="7619695" y="1143000"/>
            <a:ext cx="3962095" cy="4496105"/>
          </a:xfrm>
          <a:prstGeom prst="roundRect">
            <a:avLst>
              <a:gd name="adj" fmla="val 5770"/>
            </a:avLst>
          </a:prstGeom>
          <a:solidFill>
            <a:schemeClr val="bg1"/>
          </a:solidFill>
          <a:ln/>
        </p:spPr>
      </p:sp>
      <p:pic>
        <p:nvPicPr>
          <p:cNvPr id="6" name="QR code" descr="QR code to the workshop kit">    </p:cNvPr>
          <p:cNvPicPr>
            <a:picLocks noChangeAspect="1"/>
          </p:cNvPicPr>
          <p:nvPr/>
        </p:nvPicPr>
        <p:blipFill>
          <a:blip r:embed="rId1"/>
          <a:stretch>
            <a:fillRect/>
          </a:stretch>
        </p:blipFill>
        <p:spPr>
          <a:xfrm>
            <a:off x="7802575" y="1325880"/>
            <a:ext cx="3596335" cy="3596335"/>
          </a:xfrm>
          <a:prstGeom prst="rect">
            <a:avLst/>
          </a:prstGeom>
        </p:spPr>
      </p:pic>
      <p:sp>
        <p:nvSpPr>
          <p:cNvPr id="7" name="Text 4"/>
          <p:cNvSpPr txBox="1"/>
          <p:nvPr/>
        </p:nvSpPr>
        <p:spPr>
          <a:xfrm>
            <a:off x="7802575" y="5029200"/>
            <a:ext cx="3596335" cy="45720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pauerrr.github.io/redecorating-power</a:t>
            </a:r>
            <a:endParaRPr lang="en-US" sz="10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accent1"/>
        </a:solidFill>
      </p:bgPr>
    </p:bg>
    <p:spTree>
      <p:nvGrpSpPr>
        <p:cNvPr id="1" name=""/>
        <p:cNvGrpSpPr/>
        <p:nvPr/>
      </p:nvGrpSpPr>
      <p:grpSpPr>
        <a:xfrm>
          <a:off x="0" y="0"/>
          <a:ext cx="0" cy="0"/>
          <a:chOff x="0" y="0"/>
          <a:chExt cx="0" cy="0"/>
        </a:xfrm>
      </p:grpSpPr>
      <p:sp>
        <p:nvSpPr>
          <p:cNvPr id="2" name="Phase number"/>
          <p:cNvSpPr txBox="1"/>
          <p:nvPr/>
        </p:nvSpPr>
        <p:spPr>
          <a:xfrm>
            <a:off x="441655" y="152705"/>
            <a:ext cx="7619695" cy="3200400"/>
          </a:xfrm>
          <a:prstGeom prst="rect">
            <a:avLst/>
          </a:prstGeom>
          <a:noFill/>
          <a:ln/>
        </p:spPr>
        <p:txBody>
          <a:bodyPr wrap="square" lIns="0" tIns="0" rIns="0" bIns="0" rtlCol="0" anchor="t"/>
          <a:lstStyle/>
          <a:p>
            <a:pPr indent="0" marL="0">
              <a:buNone/>
            </a:pPr>
            <a:r>
              <a:rPr lang="en-US" sz="25200" dirty="0">
                <a:solidFill>
                  <a:schemeClr val="tx1"/>
                </a:solidFill>
                <a:latin typeface="Roobert" pitchFamily="34" charset="0"/>
                <a:ea typeface="Roobert" pitchFamily="34" charset="-122"/>
                <a:cs typeface="Roobert" pitchFamily="34" charset="-120"/>
              </a:rPr>
              <a:t>00</a:t>
            </a:r>
            <a:endParaRPr lang="en-US" sz="25200" dirty="0"/>
          </a:p>
        </p:txBody>
      </p:sp>
      <p:sp>
        <p:nvSpPr>
          <p:cNvPr id="3" name="Text 0"/>
          <p:cNvSpPr/>
          <p:nvPr>
            <p:ph idx="100" type="title" hasCustomPrompt="1"/>
          </p:nvPr>
        </p:nvSpPr>
        <p:spPr>
          <a:xfrm>
            <a:off x="548640" y="4267505"/>
            <a:ext cx="10668305" cy="1524305"/>
          </a:xfrm>
          <a:prstGeom prst="rect">
            <a:avLst/>
          </a:prstGeom>
          <a:noFill/>
          <a:ln/>
        </p:spPr>
        <p:txBody>
          <a:bodyPr wrap="square" lIns="0" tIns="0" rIns="0" bIns="0" rtlCol="0" anchor="b"/>
          <a:lstStyle/>
          <a:p>
            <a:pPr algn="l" indent="0" marL="0">
              <a:buNone/>
            </a:pPr>
            <a:r>
              <a:rPr lang="en-US" sz="6200" dirty="0">
                <a:solidFill>
                  <a:schemeClr val="tx1"/>
                </a:solidFill>
              </a:rPr>
              <a:t>Boot</a:t>
            </a:r>
            <a:endParaRPr lang="en-US" sz="6200" dirty="0"/>
          </a:p>
        </p:txBody>
      </p:sp>
      <p:sp>
        <p:nvSpPr>
          <p:cNvPr id="4" name="Text 2"/>
          <p:cNvSpPr txBox="1"/>
          <p:nvPr/>
        </p:nvSpPr>
        <p:spPr>
          <a:xfrm>
            <a:off x="548640" y="5943600"/>
            <a:ext cx="9905695" cy="381305"/>
          </a:xfrm>
          <a:prstGeom prst="rect">
            <a:avLst/>
          </a:prstGeom>
          <a:noFill/>
          <a:ln/>
        </p:spPr>
        <p:txBody>
          <a:bodyPr wrap="square" lIns="0" tIns="0" rIns="0" bIns="0" rtlCol="0" anchor="t"/>
          <a:lstStyle/>
          <a:p>
            <a:pPr indent="0" marL="0">
              <a:buNone/>
            </a:pPr>
            <a:r>
              <a:rPr lang="en-US" sz="1800" dirty="0">
                <a:solidFill>
                  <a:schemeClr val="tx1"/>
                </a:solidFill>
                <a:latin typeface="Roobert" pitchFamily="34" charset="0"/>
                <a:ea typeface="Roobert" pitchFamily="34" charset="-122"/>
                <a:cs typeface="Roobert" pitchFamily="34" charset="-120"/>
              </a:rPr>
              <a:t>Before anyone explains anything.</a:t>
            </a:r>
            <a:endParaRPr lang="en-US" sz="1800" dirty="0"/>
          </a:p>
        </p:txBody>
      </p:sp>
      <p:sp>
        <p:nvSpPr>
          <p:cNvPr id="5" name="Duration"/>
          <p:cNvSpPr/>
          <p:nvPr/>
        </p:nvSpPr>
        <p:spPr>
          <a:xfrm>
            <a:off x="10591495" y="457200"/>
            <a:ext cx="1067105" cy="395935"/>
          </a:xfrm>
          <a:prstGeom prst="roundRect">
            <a:avLst>
              <a:gd name="adj" fmla="val 115473"/>
            </a:avLst>
          </a:prstGeom>
          <a:ln w="12700">
            <a:solidFill>
              <a:schemeClr val="tx1"/>
            </a:solidFill>
            <a:prstDash val="solid"/>
          </a:ln>
        </p:spPr>
      </p:sp>
      <p:sp>
        <p:nvSpPr>
          <p:cNvPr id="6" name="Text 4"/>
          <p:cNvSpPr txBox="1"/>
          <p:nvPr/>
        </p:nvSpPr>
        <p:spPr>
          <a:xfrm>
            <a:off x="10591495" y="457200"/>
            <a:ext cx="1067105" cy="395935"/>
          </a:xfrm>
          <a:prstGeom prst="rect">
            <a:avLst/>
          </a:prstGeom>
          <a:noFill/>
          <a:ln/>
        </p:spPr>
        <p:txBody>
          <a:bodyPr wrap="square" lIns="0" tIns="0" rIns="0" bIns="0" rtlCol="0" anchor="ctr"/>
          <a:lstStyle/>
          <a:p>
            <a:pPr algn="ctr" indent="0" marL="0">
              <a:buNone/>
            </a:pPr>
            <a:r>
              <a:rPr lang="en-US" sz="1400" dirty="0">
                <a:solidFill>
                  <a:schemeClr val="tx1"/>
                </a:solidFill>
                <a:latin typeface="Roobert" pitchFamily="34" charset="0"/>
                <a:ea typeface="Roobert" pitchFamily="34" charset="-122"/>
                <a:cs typeface="Roobert" pitchFamily="34" charset="-120"/>
              </a:rPr>
              <a:t>20 min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creenshot" descr="dna.ro — Direcția Națională Anticorupție, Romania">    </p:cNvPr>
          <p:cNvPicPr>
            <a:picLocks noChangeAspect="1"/>
          </p:cNvPicPr>
          <p:nvPr/>
        </p:nvPicPr>
        <p:blipFill>
          <a:blip r:embed="rId1"/>
          <a:stretch>
            <a:fillRect/>
          </a:stretch>
        </p:blipFill>
        <p:spPr>
          <a:xfrm>
            <a:off x="0" y="0"/>
            <a:ext cx="6553505" cy="6858000"/>
          </a:xfrm>
          <a:prstGeom prst="rect">
            <a:avLst/>
          </a:prstGeom>
        </p:spPr>
      </p:pic>
      <p:sp>
        <p:nvSpPr>
          <p:cNvPr id="3" name="Question"/>
          <p:cNvSpPr txBox="1"/>
          <p:nvPr/>
        </p:nvSpPr>
        <p:spPr>
          <a:xfrm>
            <a:off x="7162495" y="1295705"/>
            <a:ext cx="4496105" cy="3200400"/>
          </a:xfrm>
          <a:prstGeom prst="rect">
            <a:avLst/>
          </a:prstGeom>
          <a:noFill/>
          <a:ln/>
        </p:spPr>
        <p:txBody>
          <a:bodyPr wrap="square" lIns="0" tIns="0" rIns="0" bIns="0" rtlCol="0" anchor="t"/>
          <a:lstStyle/>
          <a:p>
            <a:pPr indent="0" marL="0">
              <a:buNone/>
            </a:pPr>
            <a:r>
              <a:rPr lang="en-US" sz="4200" dirty="0">
                <a:solidFill>
                  <a:schemeClr val="tx1"/>
                </a:solidFill>
                <a:latin typeface="Roobert" pitchFamily="34" charset="0"/>
                <a:ea typeface="Roobert" pitchFamily="34" charset="-122"/>
                <a:cs typeface="Roobert" pitchFamily="34" charset="-120"/>
              </a:rPr>
              <a:t>What is this website trying to make you feel?</a:t>
            </a:r>
            <a:endParaRPr lang="en-US" sz="4200" dirty="0"/>
          </a:p>
        </p:txBody>
      </p:sp>
      <p:sp>
        <p:nvSpPr>
          <p:cNvPr id="4" name="Text 1"/>
          <p:cNvSpPr txBox="1"/>
          <p:nvPr/>
        </p:nvSpPr>
        <p:spPr>
          <a:xfrm>
            <a:off x="7162495" y="5943600"/>
            <a:ext cx="4496105" cy="304495"/>
          </a:xfrm>
          <a:prstGeom prst="rect">
            <a:avLst/>
          </a:prstGeom>
          <a:noFill/>
          <a:ln/>
        </p:spPr>
        <p:txBody>
          <a:bodyPr wrap="square" lIns="0" tIns="0" rIns="0" bIns="0" rtlCol="0" anchor="t"/>
          <a:lstStyle/>
          <a:p>
            <a:pPr indent="0" marL="0">
              <a:buNone/>
            </a:pPr>
            <a:r>
              <a:rPr lang="en-US" sz="1100" dirty="0">
                <a:solidFill>
                  <a:srgbClr val="6F6F6A"/>
                </a:solidFill>
                <a:latin typeface="Roobert" pitchFamily="34" charset="0"/>
                <a:ea typeface="Roobert" pitchFamily="34" charset="-122"/>
                <a:cs typeface="Roobert" pitchFamily="34" charset="-120"/>
              </a:rPr>
              <a:t>dna.ro — Direcția Națională Anticorupție, Romania</a:t>
            </a:r>
            <a:endParaRPr lang="en-US" sz="11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ag Exercise E0"/>
          <p:cNvSpPr/>
          <p:nvPr/>
        </p:nvSpPr>
        <p:spPr>
          <a:xfrm>
            <a:off x="822960" y="792785"/>
            <a:ext cx="990295" cy="244145"/>
          </a:xfrm>
          <a:prstGeom prst="roundRect">
            <a:avLst>
              <a:gd name="adj" fmla="val 187266"/>
            </a:avLst>
          </a:prstGeom>
          <a:solidFill>
            <a:srgbClr val="0B0C0C"/>
          </a:solidFill>
          <a:ln w="9525">
            <a:solidFill>
              <a:srgbClr val="0B0C0C"/>
            </a:solidFill>
            <a:prstDash val="solid"/>
          </a:ln>
        </p:spPr>
      </p:sp>
      <p:sp>
        <p:nvSpPr>
          <p:cNvPr id="3" name="Text 1"/>
          <p:cNvSpPr txBox="1"/>
          <p:nvPr/>
        </p:nvSpPr>
        <p:spPr>
          <a:xfrm>
            <a:off x="822960" y="792785"/>
            <a:ext cx="990295" cy="244145"/>
          </a:xfrm>
          <a:prstGeom prst="rect">
            <a:avLst/>
          </a:prstGeom>
          <a:noFill/>
          <a:ln/>
        </p:spPr>
        <p:txBody>
          <a:bodyPr wrap="square" lIns="0" tIns="0" rIns="0" bIns="0" rtlCol="0" anchor="ctr"/>
          <a:lstStyle/>
          <a:p>
            <a:pPr algn="ctr" indent="0" marL="0">
              <a:buNone/>
            </a:pPr>
            <a:r>
              <a:rPr lang="en-US" sz="1000" dirty="0">
                <a:solidFill>
                  <a:srgbClr val="FFFFFF"/>
                </a:solidFill>
                <a:latin typeface="Roobert" pitchFamily="34" charset="0"/>
                <a:ea typeface="Roobert" pitchFamily="34" charset="-122"/>
                <a:cs typeface="Roobert" pitchFamily="34" charset="-120"/>
              </a:rPr>
              <a:t>Exercise E0</a:t>
            </a:r>
            <a:endParaRPr lang="en-US" sz="1000" dirty="0"/>
          </a:p>
        </p:txBody>
      </p:sp>
      <p:sp>
        <p:nvSpPr>
          <p:cNvPr id="4" name="Shape 2"/>
          <p:cNvSpPr/>
          <p:nvPr/>
        </p:nvSpPr>
        <p:spPr>
          <a:xfrm>
            <a:off x="1920240" y="845820"/>
            <a:ext cx="137160" cy="137160"/>
          </a:xfrm>
          <a:prstGeom prst="ellipse">
            <a:avLst/>
          </a:prstGeom>
          <a:solidFill>
            <a:schemeClr val="accent1"/>
          </a:solidFill>
          <a:ln/>
        </p:spPr>
      </p:sp>
      <p:sp>
        <p:nvSpPr>
          <p:cNvPr id="5" name="Text 3"/>
          <p:cNvSpPr txBox="1"/>
          <p:nvPr/>
        </p:nvSpPr>
        <p:spPr>
          <a:xfrm>
            <a:off x="2133295" y="792785"/>
            <a:ext cx="1524305" cy="244145"/>
          </a:xfrm>
          <a:prstGeom prst="rect">
            <a:avLst/>
          </a:prstGeom>
          <a:noFill/>
          <a:ln/>
        </p:spPr>
        <p:txBody>
          <a:bodyPr wrap="square" lIns="0" tIns="0" rIns="0" bIns="0" rtlCol="0" anchor="ctr"/>
          <a:lstStyle/>
          <a:p>
            <a:pPr indent="0" marL="0">
              <a:buNone/>
            </a:pPr>
            <a:r>
              <a:rPr lang="en-US" sz="1000" dirty="0">
                <a:solidFill>
                  <a:srgbClr val="6F6F6A"/>
                </a:solidFill>
                <a:latin typeface="Roobert" pitchFamily="34" charset="0"/>
                <a:ea typeface="Roobert" pitchFamily="34" charset="-122"/>
                <a:cs typeface="Roobert" pitchFamily="34" charset="-120"/>
              </a:rPr>
              <a:t>Phase 00</a:t>
            </a:r>
            <a:endParaRPr lang="en-US" sz="1000" dirty="0"/>
          </a:p>
        </p:txBody>
      </p:sp>
      <p:sp>
        <p:nvSpPr>
          <p:cNvPr id="6" name="Text 1"/>
          <p:cNvSpPr/>
          <p:nvPr>
            <p:ph idx="101" type="title" hasCustomPrompt="1"/>
          </p:nvPr>
        </p:nvSpPr>
        <p:spPr>
          <a:xfrm>
            <a:off x="822960" y="1218895"/>
            <a:ext cx="4343400" cy="1828800"/>
          </a:xfrm>
          <a:prstGeom prst="rect">
            <a:avLst/>
          </a:prstGeom>
          <a:noFill/>
          <a:ln/>
        </p:spPr>
        <p:txBody>
          <a:bodyPr wrap="square" lIns="0" tIns="0" rIns="0" bIns="0" rtlCol="0" anchor="t"/>
          <a:lstStyle/>
          <a:p>
            <a:pPr algn="l" indent="0" marL="0">
              <a:buNone/>
            </a:pPr>
            <a:r>
              <a:rPr lang="en-US" sz="4300" dirty="0">
                <a:solidFill>
                  <a:schemeClr val="tx1"/>
                </a:solidFill>
              </a:rPr>
              <a:t>First impressions</a:t>
            </a:r>
            <a:endParaRPr lang="en-US" sz="4300" dirty="0"/>
          </a:p>
        </p:txBody>
      </p:sp>
      <p:sp>
        <p:nvSpPr>
          <p:cNvPr id="7" name="Shape 5"/>
          <p:cNvSpPr/>
          <p:nvPr/>
        </p:nvSpPr>
        <p:spPr>
          <a:xfrm>
            <a:off x="822960" y="3200400"/>
            <a:ext cx="4267505" cy="0"/>
          </a:xfrm>
          <a:prstGeom prst="line">
            <a:avLst/>
          </a:prstGeom>
          <a:noFill/>
          <a:ln w="9525">
            <a:solidFill>
              <a:srgbClr val="C9C7BE"/>
            </a:solidFill>
            <a:prstDash val="solid"/>
          </a:ln>
        </p:spPr>
      </p:sp>
      <p:sp>
        <p:nvSpPr>
          <p:cNvPr id="8" name="Text 6"/>
          <p:cNvSpPr txBox="1"/>
          <p:nvPr/>
        </p:nvSpPr>
        <p:spPr>
          <a:xfrm>
            <a:off x="822960" y="3353105"/>
            <a:ext cx="4267505" cy="1143000"/>
          </a:xfrm>
          <a:prstGeom prst="rect">
            <a:avLst/>
          </a:prstGeom>
          <a:noFill/>
          <a:ln/>
        </p:spPr>
        <p:txBody>
          <a:bodyPr wrap="square" lIns="0" tIns="0" rIns="0" bIns="0" rtlCol="0" anchor="t"/>
          <a:lstStyle/>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Time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5 min</a:t>
            </a:r>
            <a:endParaRPr lang="en-US" sz="1300" dirty="0"/>
          </a:p>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Who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Everyone</a:t>
            </a:r>
            <a:endParaRPr lang="en-US" sz="1300" dirty="0"/>
          </a:p>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Hand in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One word each</a:t>
            </a:r>
            <a:endParaRPr lang="en-US" sz="1300" dirty="0"/>
          </a:p>
        </p:txBody>
      </p:sp>
      <p:sp>
        <p:nvSpPr>
          <p:cNvPr id="9" name="Text 7"/>
          <p:cNvSpPr txBox="1"/>
          <p:nvPr/>
        </p:nvSpPr>
        <p:spPr>
          <a:xfrm>
            <a:off x="822960" y="5790895"/>
            <a:ext cx="4572000"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Sheet: pauerrr.github.io/redecorating-power/exercises/#e0</a:t>
            </a:r>
            <a:endParaRPr lang="en-US" sz="900" dirty="0"/>
          </a:p>
        </p:txBody>
      </p:sp>
      <p:sp>
        <p:nvSpPr>
          <p:cNvPr id="10" name="Shape 8"/>
          <p:cNvSpPr/>
          <p:nvPr/>
        </p:nvSpPr>
        <p:spPr>
          <a:xfrm>
            <a:off x="5639105" y="792785"/>
            <a:ext cx="5790895" cy="0"/>
          </a:xfrm>
          <a:prstGeom prst="line">
            <a:avLst/>
          </a:prstGeom>
          <a:noFill/>
          <a:ln w="9525">
            <a:solidFill>
              <a:srgbClr val="C9C7BE"/>
            </a:solidFill>
            <a:prstDash val="solid"/>
          </a:ln>
        </p:spPr>
      </p:sp>
      <p:sp>
        <p:nvSpPr>
          <p:cNvPr id="11" name="Text 9"/>
          <p:cNvSpPr txBox="1"/>
          <p:nvPr/>
        </p:nvSpPr>
        <p:spPr>
          <a:xfrm>
            <a:off x="5639105" y="94457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01</a:t>
            </a:r>
            <a:endParaRPr lang="en-US" sz="900" dirty="0"/>
          </a:p>
        </p:txBody>
      </p:sp>
      <p:sp>
        <p:nvSpPr>
          <p:cNvPr id="12" name="Text 10"/>
          <p:cNvSpPr txBox="1"/>
          <p:nvPr/>
        </p:nvSpPr>
        <p:spPr>
          <a:xfrm>
            <a:off x="6096305" y="89885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Look at the homepage on the wall for sixty seconds. Don't read it. Feel it.</a:t>
            </a:r>
            <a:endParaRPr lang="en-US" sz="1600" dirty="0"/>
          </a:p>
        </p:txBody>
      </p:sp>
      <p:sp>
        <p:nvSpPr>
          <p:cNvPr id="13" name="Shape 11"/>
          <p:cNvSpPr/>
          <p:nvPr/>
        </p:nvSpPr>
        <p:spPr>
          <a:xfrm>
            <a:off x="5639105" y="1554480"/>
            <a:ext cx="5790895" cy="0"/>
          </a:xfrm>
          <a:prstGeom prst="line">
            <a:avLst/>
          </a:prstGeom>
          <a:noFill/>
          <a:ln w="9525">
            <a:solidFill>
              <a:srgbClr val="C9C7BE"/>
            </a:solidFill>
            <a:prstDash val="solid"/>
          </a:ln>
        </p:spPr>
      </p:sp>
      <p:sp>
        <p:nvSpPr>
          <p:cNvPr id="14" name="Text 12"/>
          <p:cNvSpPr txBox="1"/>
          <p:nvPr/>
        </p:nvSpPr>
        <p:spPr>
          <a:xfrm>
            <a:off x="5639105" y="170718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02</a:t>
            </a:r>
            <a:endParaRPr lang="en-US" sz="900" dirty="0"/>
          </a:p>
        </p:txBody>
      </p:sp>
      <p:sp>
        <p:nvSpPr>
          <p:cNvPr id="15" name="Text 13"/>
          <p:cNvSpPr txBox="1"/>
          <p:nvPr/>
        </p:nvSpPr>
        <p:spPr>
          <a:xfrm>
            <a:off x="6096305" y="1661465"/>
            <a:ext cx="5333695" cy="39593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Write one word for what it wants you to feel.</a:t>
            </a:r>
            <a:endParaRPr lang="en-US" sz="1600" dirty="0"/>
          </a:p>
        </p:txBody>
      </p:sp>
      <p:sp>
        <p:nvSpPr>
          <p:cNvPr id="16" name="Shape 14"/>
          <p:cNvSpPr/>
          <p:nvPr/>
        </p:nvSpPr>
        <p:spPr>
          <a:xfrm>
            <a:off x="5639105" y="2103120"/>
            <a:ext cx="5790895" cy="0"/>
          </a:xfrm>
          <a:prstGeom prst="line">
            <a:avLst/>
          </a:prstGeom>
          <a:noFill/>
          <a:ln w="9525">
            <a:solidFill>
              <a:srgbClr val="C9C7BE"/>
            </a:solidFill>
            <a:prstDash val="solid"/>
          </a:ln>
        </p:spPr>
      </p:sp>
      <p:sp>
        <p:nvSpPr>
          <p:cNvPr id="17" name="Text 15"/>
          <p:cNvSpPr txBox="1"/>
          <p:nvPr/>
        </p:nvSpPr>
        <p:spPr>
          <a:xfrm>
            <a:off x="5639105" y="225582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03</a:t>
            </a:r>
            <a:endParaRPr lang="en-US" sz="900" dirty="0"/>
          </a:p>
        </p:txBody>
      </p:sp>
      <p:sp>
        <p:nvSpPr>
          <p:cNvPr id="18" name="Text 16"/>
          <p:cNvSpPr txBox="1"/>
          <p:nvPr/>
        </p:nvSpPr>
        <p:spPr>
          <a:xfrm>
            <a:off x="6096305" y="221010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Read the words out. They stay on the wall until the debrief.</a:t>
            </a:r>
            <a:endParaRPr lang="en-US" sz="1600" dirty="0"/>
          </a:p>
        </p:txBody>
      </p:sp>
      <p:sp>
        <p:nvSpPr>
          <p:cNvPr id="19" name="Shape 17"/>
          <p:cNvSpPr/>
          <p:nvPr/>
        </p:nvSpPr>
        <p:spPr>
          <a:xfrm>
            <a:off x="5639105" y="2864815"/>
            <a:ext cx="5790895" cy="0"/>
          </a:xfrm>
          <a:prstGeom prst="line">
            <a:avLst/>
          </a:prstGeom>
          <a:noFill/>
          <a:ln w="9525">
            <a:solidFill>
              <a:srgbClr val="C9C7BE"/>
            </a:solidFill>
            <a:prstDash val="solid"/>
          </a:ln>
        </p:spPr>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tatement"/>
          <p:cNvSpPr txBox="1"/>
          <p:nvPr/>
        </p:nvSpPr>
        <p:spPr>
          <a:xfrm>
            <a:off x="548640" y="990295"/>
            <a:ext cx="10668305" cy="3200400"/>
          </a:xfrm>
          <a:prstGeom prst="rect">
            <a:avLst/>
          </a:prstGeom>
          <a:noFill/>
          <a:ln/>
        </p:spPr>
        <p:txBody>
          <a:bodyPr wrap="square" lIns="0" tIns="0" rIns="0" bIns="0" rtlCol="0" anchor="t"/>
          <a:lstStyle/>
          <a:p>
            <a:pPr indent="0" marL="0">
              <a:buNone/>
            </a:pPr>
            <a:r>
              <a:rPr lang="en-US" sz="6000" dirty="0">
                <a:solidFill>
                  <a:schemeClr val="tx1"/>
                </a:solidFill>
                <a:latin typeface="Roobert" pitchFamily="34" charset="0"/>
                <a:ea typeface="Roobert" pitchFamily="34" charset="-122"/>
                <a:cs typeface="Roobert" pitchFamily="34" charset="-120"/>
              </a:rPr>
              <a:t>Clone the look of power. Fill it with the record.</a:t>
            </a:r>
            <a:endParaRPr lang="en-US" sz="6000" dirty="0"/>
          </a:p>
        </p:txBody>
      </p:sp>
      <p:sp>
        <p:nvSpPr>
          <p:cNvPr id="3" name="Text 1"/>
          <p:cNvSpPr txBox="1"/>
          <p:nvPr/>
        </p:nvSpPr>
        <p:spPr>
          <a:xfrm>
            <a:off x="548640" y="4876495"/>
            <a:ext cx="7619695" cy="121889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You already know how to vibe-code. Today is about what the code can't tell you: why a ministry's website feels the way it does, and how to turn that feeling against it.</a:t>
            </a:r>
            <a:endParaRPr lang="en-US" sz="1600" dirty="0"/>
          </a:p>
        </p:txBody>
      </p:sp>
      <p:sp>
        <p:nvSpPr>
          <p:cNvPr id="5" name="Text 0"/>
          <p:cNvSpPr/>
          <p:nvPr>
            <p:ph idx="100" type="title" hasCustomPrompt="1"/>
          </p:nvPr>
        </p:nvSpPr>
        <p:spPr>
          <a:xfrm>
            <a:off x="548640" y="731520"/>
            <a:ext cx="11094415" cy="761695"/>
          </a:xfrm>
          <a:prstGeom prst="rect">
            <a:avLst/>
          </a:prstGeom>
          <a:noFill/>
          <a:ln/>
        </p:spPr>
        <p:txBody>
          <a:bodyPr wrap="square" lIns="0" tIns="0" rIns="0" bIns="0" rtlCol="0" anchor="b"/>
          <a:lstStyle/>
          <a:p>
            <a:pPr algn="l" indent="0" marL="0">
              <a:buNone/>
            </a:pPr>
            <a:endParaRPr lang="en-US" sz="41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61695"/>
          </a:xfrm>
          <a:prstGeom prst="rect">
            <a:avLst/>
          </a:prstGeom>
          <a:noFill/>
          <a:ln/>
        </p:spPr>
        <p:txBody>
          <a:bodyPr wrap="square" lIns="0" tIns="0" rIns="0" bIns="0" rtlCol="0" anchor="b"/>
          <a:lstStyle/>
          <a:p>
            <a:pPr algn="l" indent="0" marL="0">
              <a:buNone/>
            </a:pPr>
            <a:r>
              <a:rPr lang="en-US" sz="4100" dirty="0">
                <a:solidFill>
                  <a:schemeClr val="tx1"/>
                </a:solidFill>
              </a:rPr>
              <a:t>How the next hours go</a:t>
            </a:r>
            <a:endParaRPr lang="en-US" sz="4100" dirty="0"/>
          </a:p>
        </p:txBody>
      </p:sp>
      <p:sp>
        <p:nvSpPr>
          <p:cNvPr id="3" name="Block Boot"/>
          <p:cNvSpPr/>
          <p:nvPr/>
        </p:nvSpPr>
        <p:spPr>
          <a:xfrm>
            <a:off x="548640" y="2057400"/>
            <a:ext cx="1025957" cy="427025"/>
          </a:xfrm>
          <a:prstGeom prst="rect">
            <a:avLst/>
          </a:prstGeom>
          <a:solidFill>
            <a:schemeClr val="accent1"/>
          </a:solidFill>
          <a:ln/>
        </p:spPr>
      </p:sp>
      <p:sp>
        <p:nvSpPr>
          <p:cNvPr id="4" name="Shape 2"/>
          <p:cNvSpPr/>
          <p:nvPr/>
        </p:nvSpPr>
        <p:spPr>
          <a:xfrm>
            <a:off x="548640" y="3139135"/>
            <a:ext cx="152705" cy="152705"/>
          </a:xfrm>
          <a:prstGeom prst="ellipse">
            <a:avLst/>
          </a:prstGeom>
          <a:solidFill>
            <a:schemeClr val="accent1"/>
          </a:solidFill>
          <a:ln/>
        </p:spPr>
      </p:sp>
      <p:sp>
        <p:nvSpPr>
          <p:cNvPr id="5" name="Text 3"/>
          <p:cNvSpPr txBox="1"/>
          <p:nvPr/>
        </p:nvSpPr>
        <p:spPr>
          <a:xfrm>
            <a:off x="807415" y="3078785"/>
            <a:ext cx="2438705" cy="274320"/>
          </a:xfrm>
          <a:prstGeom prst="rect">
            <a:avLst/>
          </a:prstGeom>
          <a:noFill/>
          <a:ln/>
        </p:spPr>
        <p:txBody>
          <a:bodyPr wrap="square" lIns="0" tIns="0" rIns="0" bIns="0" rtlCol="0" anchor="t"/>
          <a:lstStyle/>
          <a:p>
            <a:pPr indent="0" marL="0">
              <a:buNone/>
            </a:pPr>
            <a:r>
              <a:rPr lang="en-US" sz="1400" dirty="0">
                <a:solidFill>
                  <a:schemeClr val="tx1"/>
                </a:solidFill>
                <a:latin typeface="Roobert" pitchFamily="34" charset="0"/>
                <a:ea typeface="Roobert" pitchFamily="34" charset="-122"/>
                <a:cs typeface="Roobert" pitchFamily="34" charset="-120"/>
              </a:rPr>
              <a:t>00 · Boot</a:t>
            </a:r>
            <a:endParaRPr lang="en-US" sz="1400" dirty="0"/>
          </a:p>
        </p:txBody>
      </p:sp>
      <p:sp>
        <p:nvSpPr>
          <p:cNvPr id="6" name="Text 4"/>
          <p:cNvSpPr txBox="1"/>
          <p:nvPr/>
        </p:nvSpPr>
        <p:spPr>
          <a:xfrm>
            <a:off x="3139135" y="3093415"/>
            <a:ext cx="838505" cy="274320"/>
          </a:xfrm>
          <a:prstGeom prst="rect">
            <a:avLst/>
          </a:prstGeom>
          <a:noFill/>
          <a:ln/>
        </p:spPr>
        <p:txBody>
          <a:bodyPr wrap="square" lIns="0" tIns="0" rIns="0" bIns="0" rtlCol="0" anchor="t"/>
          <a:lstStyle/>
          <a:p>
            <a:pPr algn="r" indent="0" marL="0">
              <a:buNone/>
            </a:pPr>
            <a:r>
              <a:rPr lang="en-US" sz="1100" dirty="0">
                <a:solidFill>
                  <a:srgbClr val="6F6F6A"/>
                </a:solidFill>
                <a:latin typeface="Courier New" pitchFamily="34" charset="0"/>
                <a:ea typeface="Courier New" pitchFamily="34" charset="-122"/>
                <a:cs typeface="Courier New" pitchFamily="34" charset="-120"/>
              </a:rPr>
              <a:t>20 min</a:t>
            </a:r>
            <a:endParaRPr lang="en-US" sz="1100" dirty="0"/>
          </a:p>
        </p:txBody>
      </p:sp>
      <p:sp>
        <p:nvSpPr>
          <p:cNvPr id="7" name="Shape 5"/>
          <p:cNvSpPr/>
          <p:nvPr/>
        </p:nvSpPr>
        <p:spPr>
          <a:xfrm>
            <a:off x="548640" y="3429000"/>
            <a:ext cx="3504895" cy="0"/>
          </a:xfrm>
          <a:prstGeom prst="line">
            <a:avLst/>
          </a:prstGeom>
          <a:noFill/>
          <a:ln w="9525">
            <a:solidFill>
              <a:srgbClr val="C9C7BE"/>
            </a:solidFill>
            <a:prstDash val="solid"/>
          </a:ln>
        </p:spPr>
      </p:sp>
      <p:sp>
        <p:nvSpPr>
          <p:cNvPr id="8" name="Block Read the grammar"/>
          <p:cNvSpPr/>
          <p:nvPr/>
        </p:nvSpPr>
        <p:spPr>
          <a:xfrm>
            <a:off x="1605686" y="2057400"/>
            <a:ext cx="1554480" cy="427025"/>
          </a:xfrm>
          <a:prstGeom prst="rect">
            <a:avLst/>
          </a:prstGeom>
          <a:solidFill>
            <a:schemeClr val="accent4"/>
          </a:solidFill>
          <a:ln/>
        </p:spPr>
      </p:sp>
      <p:sp>
        <p:nvSpPr>
          <p:cNvPr id="9" name="Shape 7"/>
          <p:cNvSpPr/>
          <p:nvPr/>
        </p:nvSpPr>
        <p:spPr>
          <a:xfrm>
            <a:off x="4358945" y="3139135"/>
            <a:ext cx="152705" cy="152705"/>
          </a:xfrm>
          <a:prstGeom prst="ellipse">
            <a:avLst/>
          </a:prstGeom>
          <a:solidFill>
            <a:schemeClr val="accent4"/>
          </a:solidFill>
          <a:ln/>
        </p:spPr>
      </p:sp>
      <p:sp>
        <p:nvSpPr>
          <p:cNvPr id="10" name="Text 8"/>
          <p:cNvSpPr txBox="1"/>
          <p:nvPr/>
        </p:nvSpPr>
        <p:spPr>
          <a:xfrm>
            <a:off x="4617720" y="3078785"/>
            <a:ext cx="2438705" cy="274320"/>
          </a:xfrm>
          <a:prstGeom prst="rect">
            <a:avLst/>
          </a:prstGeom>
          <a:noFill/>
          <a:ln/>
        </p:spPr>
        <p:txBody>
          <a:bodyPr wrap="square" lIns="0" tIns="0" rIns="0" bIns="0" rtlCol="0" anchor="t"/>
          <a:lstStyle/>
          <a:p>
            <a:pPr indent="0" marL="0">
              <a:buNone/>
            </a:pPr>
            <a:r>
              <a:rPr lang="en-US" sz="1400" dirty="0">
                <a:solidFill>
                  <a:schemeClr val="tx1"/>
                </a:solidFill>
                <a:latin typeface="Roobert" pitchFamily="34" charset="0"/>
                <a:ea typeface="Roobert" pitchFamily="34" charset="-122"/>
                <a:cs typeface="Roobert" pitchFamily="34" charset="-120"/>
              </a:rPr>
              <a:t>01 · Read the grammar</a:t>
            </a:r>
            <a:endParaRPr lang="en-US" sz="1400" dirty="0"/>
          </a:p>
        </p:txBody>
      </p:sp>
      <p:sp>
        <p:nvSpPr>
          <p:cNvPr id="11" name="Text 9"/>
          <p:cNvSpPr txBox="1"/>
          <p:nvPr/>
        </p:nvSpPr>
        <p:spPr>
          <a:xfrm>
            <a:off x="6949440" y="3093415"/>
            <a:ext cx="838505" cy="274320"/>
          </a:xfrm>
          <a:prstGeom prst="rect">
            <a:avLst/>
          </a:prstGeom>
          <a:noFill/>
          <a:ln/>
        </p:spPr>
        <p:txBody>
          <a:bodyPr wrap="square" lIns="0" tIns="0" rIns="0" bIns="0" rtlCol="0" anchor="t"/>
          <a:lstStyle/>
          <a:p>
            <a:pPr algn="r" indent="0" marL="0">
              <a:buNone/>
            </a:pPr>
            <a:r>
              <a:rPr lang="en-US" sz="1100" dirty="0">
                <a:solidFill>
                  <a:srgbClr val="6F6F6A"/>
                </a:solidFill>
                <a:latin typeface="Courier New" pitchFamily="34" charset="0"/>
                <a:ea typeface="Courier New" pitchFamily="34" charset="-122"/>
                <a:cs typeface="Courier New" pitchFamily="34" charset="-120"/>
              </a:rPr>
              <a:t>30 min</a:t>
            </a:r>
            <a:endParaRPr lang="en-US" sz="1100" dirty="0"/>
          </a:p>
        </p:txBody>
      </p:sp>
      <p:sp>
        <p:nvSpPr>
          <p:cNvPr id="12" name="Shape 10"/>
          <p:cNvSpPr/>
          <p:nvPr/>
        </p:nvSpPr>
        <p:spPr>
          <a:xfrm>
            <a:off x="4358945" y="3429000"/>
            <a:ext cx="3504895" cy="0"/>
          </a:xfrm>
          <a:prstGeom prst="line">
            <a:avLst/>
          </a:prstGeom>
          <a:noFill/>
          <a:ln w="9525">
            <a:solidFill>
              <a:srgbClr val="C9C7BE"/>
            </a:solidFill>
            <a:prstDash val="solid"/>
          </a:ln>
        </p:spPr>
      </p:sp>
      <p:sp>
        <p:nvSpPr>
          <p:cNvPr id="13" name="Block Pick a target"/>
          <p:cNvSpPr/>
          <p:nvPr/>
        </p:nvSpPr>
        <p:spPr>
          <a:xfrm>
            <a:off x="3190342" y="2057400"/>
            <a:ext cx="1290218" cy="427025"/>
          </a:xfrm>
          <a:prstGeom prst="rect">
            <a:avLst/>
          </a:prstGeom>
          <a:solidFill>
            <a:schemeClr val="accent6"/>
          </a:solidFill>
          <a:ln/>
        </p:spPr>
      </p:sp>
      <p:sp>
        <p:nvSpPr>
          <p:cNvPr id="14" name="Shape 12"/>
          <p:cNvSpPr/>
          <p:nvPr/>
        </p:nvSpPr>
        <p:spPr>
          <a:xfrm>
            <a:off x="8168335" y="3139135"/>
            <a:ext cx="152705" cy="152705"/>
          </a:xfrm>
          <a:prstGeom prst="ellipse">
            <a:avLst/>
          </a:prstGeom>
          <a:solidFill>
            <a:schemeClr val="accent6"/>
          </a:solidFill>
          <a:ln/>
        </p:spPr>
      </p:sp>
      <p:sp>
        <p:nvSpPr>
          <p:cNvPr id="15" name="Text 13"/>
          <p:cNvSpPr txBox="1"/>
          <p:nvPr/>
        </p:nvSpPr>
        <p:spPr>
          <a:xfrm>
            <a:off x="8428025" y="3078785"/>
            <a:ext cx="2438705" cy="274320"/>
          </a:xfrm>
          <a:prstGeom prst="rect">
            <a:avLst/>
          </a:prstGeom>
          <a:noFill/>
          <a:ln/>
        </p:spPr>
        <p:txBody>
          <a:bodyPr wrap="square" lIns="0" tIns="0" rIns="0" bIns="0" rtlCol="0" anchor="t"/>
          <a:lstStyle/>
          <a:p>
            <a:pPr indent="0" marL="0">
              <a:buNone/>
            </a:pPr>
            <a:r>
              <a:rPr lang="en-US" sz="1400" dirty="0">
                <a:solidFill>
                  <a:schemeClr val="tx1"/>
                </a:solidFill>
                <a:latin typeface="Roobert" pitchFamily="34" charset="0"/>
                <a:ea typeface="Roobert" pitchFamily="34" charset="-122"/>
                <a:cs typeface="Roobert" pitchFamily="34" charset="-120"/>
              </a:rPr>
              <a:t>02 · Pick a target</a:t>
            </a:r>
            <a:endParaRPr lang="en-US" sz="1400" dirty="0"/>
          </a:p>
        </p:txBody>
      </p:sp>
      <p:sp>
        <p:nvSpPr>
          <p:cNvPr id="16" name="Text 14"/>
          <p:cNvSpPr txBox="1"/>
          <p:nvPr/>
        </p:nvSpPr>
        <p:spPr>
          <a:xfrm>
            <a:off x="10759745" y="3093415"/>
            <a:ext cx="838505" cy="274320"/>
          </a:xfrm>
          <a:prstGeom prst="rect">
            <a:avLst/>
          </a:prstGeom>
          <a:noFill/>
          <a:ln/>
        </p:spPr>
        <p:txBody>
          <a:bodyPr wrap="square" lIns="0" tIns="0" rIns="0" bIns="0" rtlCol="0" anchor="t"/>
          <a:lstStyle/>
          <a:p>
            <a:pPr algn="r" indent="0" marL="0">
              <a:buNone/>
            </a:pPr>
            <a:r>
              <a:rPr lang="en-US" sz="1100" dirty="0">
                <a:solidFill>
                  <a:srgbClr val="6F6F6A"/>
                </a:solidFill>
                <a:latin typeface="Courier New" pitchFamily="34" charset="0"/>
                <a:ea typeface="Courier New" pitchFamily="34" charset="-122"/>
                <a:cs typeface="Courier New" pitchFamily="34" charset="-120"/>
              </a:rPr>
              <a:t>25 min</a:t>
            </a:r>
            <a:endParaRPr lang="en-US" sz="1100" dirty="0"/>
          </a:p>
        </p:txBody>
      </p:sp>
      <p:sp>
        <p:nvSpPr>
          <p:cNvPr id="17" name="Shape 15"/>
          <p:cNvSpPr/>
          <p:nvPr/>
        </p:nvSpPr>
        <p:spPr>
          <a:xfrm>
            <a:off x="8168335" y="3429000"/>
            <a:ext cx="3504895" cy="0"/>
          </a:xfrm>
          <a:prstGeom prst="line">
            <a:avLst/>
          </a:prstGeom>
          <a:noFill/>
          <a:ln w="9525">
            <a:solidFill>
              <a:srgbClr val="C9C7BE"/>
            </a:solidFill>
            <a:prstDash val="solid"/>
          </a:ln>
        </p:spPr>
      </p:sp>
      <p:sp>
        <p:nvSpPr>
          <p:cNvPr id="18" name="Block Break"/>
          <p:cNvSpPr/>
          <p:nvPr/>
        </p:nvSpPr>
        <p:spPr>
          <a:xfrm>
            <a:off x="4510735" y="2057400"/>
            <a:ext cx="497434" cy="427025"/>
          </a:xfrm>
          <a:prstGeom prst="rect">
            <a:avLst/>
          </a:prstGeom>
          <a:solidFill>
            <a:srgbClr val="D7D5CC"/>
          </a:solidFill>
          <a:ln/>
        </p:spPr>
      </p:sp>
      <p:sp>
        <p:nvSpPr>
          <p:cNvPr id="19" name="Shape 17"/>
          <p:cNvSpPr/>
          <p:nvPr/>
        </p:nvSpPr>
        <p:spPr>
          <a:xfrm>
            <a:off x="548640" y="3642055"/>
            <a:ext cx="152705" cy="152705"/>
          </a:xfrm>
          <a:prstGeom prst="ellipse">
            <a:avLst/>
          </a:prstGeom>
          <a:solidFill>
            <a:srgbClr val="D7D5CC"/>
          </a:solidFill>
          <a:ln/>
        </p:spPr>
      </p:sp>
      <p:sp>
        <p:nvSpPr>
          <p:cNvPr id="20" name="Text 18"/>
          <p:cNvSpPr txBox="1"/>
          <p:nvPr/>
        </p:nvSpPr>
        <p:spPr>
          <a:xfrm>
            <a:off x="807415" y="3581705"/>
            <a:ext cx="2438705" cy="274320"/>
          </a:xfrm>
          <a:prstGeom prst="rect">
            <a:avLst/>
          </a:prstGeom>
          <a:noFill/>
          <a:ln/>
        </p:spPr>
        <p:txBody>
          <a:bodyPr wrap="square" lIns="0" tIns="0" rIns="0" bIns="0" rtlCol="0" anchor="t"/>
          <a:lstStyle/>
          <a:p>
            <a:pPr indent="0" marL="0">
              <a:buNone/>
            </a:pPr>
            <a:r>
              <a:rPr lang="en-US" sz="1400" dirty="0">
                <a:solidFill>
                  <a:schemeClr val="tx1"/>
                </a:solidFill>
                <a:latin typeface="Roobert" pitchFamily="34" charset="0"/>
                <a:ea typeface="Roobert" pitchFamily="34" charset="-122"/>
                <a:cs typeface="Roobert" pitchFamily="34" charset="-120"/>
              </a:rPr>
              <a:t>Break</a:t>
            </a:r>
            <a:endParaRPr lang="en-US" sz="1400" dirty="0"/>
          </a:p>
        </p:txBody>
      </p:sp>
      <p:sp>
        <p:nvSpPr>
          <p:cNvPr id="21" name="Text 19"/>
          <p:cNvSpPr txBox="1"/>
          <p:nvPr/>
        </p:nvSpPr>
        <p:spPr>
          <a:xfrm>
            <a:off x="3139135" y="3596335"/>
            <a:ext cx="838505" cy="274320"/>
          </a:xfrm>
          <a:prstGeom prst="rect">
            <a:avLst/>
          </a:prstGeom>
          <a:noFill/>
          <a:ln/>
        </p:spPr>
        <p:txBody>
          <a:bodyPr wrap="square" lIns="0" tIns="0" rIns="0" bIns="0" rtlCol="0" anchor="t"/>
          <a:lstStyle/>
          <a:p>
            <a:pPr algn="r" indent="0" marL="0">
              <a:buNone/>
            </a:pPr>
            <a:r>
              <a:rPr lang="en-US" sz="1100" dirty="0">
                <a:solidFill>
                  <a:srgbClr val="6F6F6A"/>
                </a:solidFill>
                <a:latin typeface="Courier New" pitchFamily="34" charset="0"/>
                <a:ea typeface="Courier New" pitchFamily="34" charset="-122"/>
                <a:cs typeface="Courier New" pitchFamily="34" charset="-120"/>
              </a:rPr>
              <a:t>10 min</a:t>
            </a:r>
            <a:endParaRPr lang="en-US" sz="1100" dirty="0"/>
          </a:p>
        </p:txBody>
      </p:sp>
      <p:sp>
        <p:nvSpPr>
          <p:cNvPr id="22" name="Shape 20"/>
          <p:cNvSpPr/>
          <p:nvPr/>
        </p:nvSpPr>
        <p:spPr>
          <a:xfrm>
            <a:off x="548640" y="3931920"/>
            <a:ext cx="3504895" cy="0"/>
          </a:xfrm>
          <a:prstGeom prst="line">
            <a:avLst/>
          </a:prstGeom>
          <a:noFill/>
          <a:ln w="9525">
            <a:solidFill>
              <a:srgbClr val="C9C7BE"/>
            </a:solidFill>
            <a:prstDash val="solid"/>
          </a:ln>
        </p:spPr>
      </p:sp>
      <p:sp>
        <p:nvSpPr>
          <p:cNvPr id="23" name="Block Clone the skin"/>
          <p:cNvSpPr/>
          <p:nvPr/>
        </p:nvSpPr>
        <p:spPr>
          <a:xfrm>
            <a:off x="5039258" y="2057400"/>
            <a:ext cx="2347265" cy="427025"/>
          </a:xfrm>
          <a:prstGeom prst="rect">
            <a:avLst/>
          </a:prstGeom>
          <a:solidFill>
            <a:schemeClr val="accent5"/>
          </a:solidFill>
          <a:ln/>
        </p:spPr>
      </p:sp>
      <p:sp>
        <p:nvSpPr>
          <p:cNvPr id="24" name="Shape 22"/>
          <p:cNvSpPr/>
          <p:nvPr/>
        </p:nvSpPr>
        <p:spPr>
          <a:xfrm>
            <a:off x="4358945" y="3642055"/>
            <a:ext cx="152705" cy="152705"/>
          </a:xfrm>
          <a:prstGeom prst="ellipse">
            <a:avLst/>
          </a:prstGeom>
          <a:solidFill>
            <a:schemeClr val="accent5"/>
          </a:solidFill>
          <a:ln/>
        </p:spPr>
      </p:sp>
      <p:sp>
        <p:nvSpPr>
          <p:cNvPr id="25" name="Text 23"/>
          <p:cNvSpPr txBox="1"/>
          <p:nvPr/>
        </p:nvSpPr>
        <p:spPr>
          <a:xfrm>
            <a:off x="4617720" y="3581705"/>
            <a:ext cx="2438705" cy="274320"/>
          </a:xfrm>
          <a:prstGeom prst="rect">
            <a:avLst/>
          </a:prstGeom>
          <a:noFill/>
          <a:ln/>
        </p:spPr>
        <p:txBody>
          <a:bodyPr wrap="square" lIns="0" tIns="0" rIns="0" bIns="0" rtlCol="0" anchor="t"/>
          <a:lstStyle/>
          <a:p>
            <a:pPr indent="0" marL="0">
              <a:buNone/>
            </a:pPr>
            <a:r>
              <a:rPr lang="en-US" sz="1400" dirty="0">
                <a:solidFill>
                  <a:schemeClr val="tx1"/>
                </a:solidFill>
                <a:latin typeface="Roobert" pitchFamily="34" charset="0"/>
                <a:ea typeface="Roobert" pitchFamily="34" charset="-122"/>
                <a:cs typeface="Roobert" pitchFamily="34" charset="-120"/>
              </a:rPr>
              <a:t>03 · Clone the skin</a:t>
            </a:r>
            <a:endParaRPr lang="en-US" sz="1400" dirty="0"/>
          </a:p>
        </p:txBody>
      </p:sp>
      <p:sp>
        <p:nvSpPr>
          <p:cNvPr id="26" name="Text 24"/>
          <p:cNvSpPr txBox="1"/>
          <p:nvPr/>
        </p:nvSpPr>
        <p:spPr>
          <a:xfrm>
            <a:off x="6949440" y="3596335"/>
            <a:ext cx="838505" cy="274320"/>
          </a:xfrm>
          <a:prstGeom prst="rect">
            <a:avLst/>
          </a:prstGeom>
          <a:noFill/>
          <a:ln/>
        </p:spPr>
        <p:txBody>
          <a:bodyPr wrap="square" lIns="0" tIns="0" rIns="0" bIns="0" rtlCol="0" anchor="t"/>
          <a:lstStyle/>
          <a:p>
            <a:pPr algn="r" indent="0" marL="0">
              <a:buNone/>
            </a:pPr>
            <a:r>
              <a:rPr lang="en-US" sz="1100" dirty="0">
                <a:solidFill>
                  <a:srgbClr val="6F6F6A"/>
                </a:solidFill>
                <a:latin typeface="Courier New" pitchFamily="34" charset="0"/>
                <a:ea typeface="Courier New" pitchFamily="34" charset="-122"/>
                <a:cs typeface="Courier New" pitchFamily="34" charset="-120"/>
              </a:rPr>
              <a:t>45 min</a:t>
            </a:r>
            <a:endParaRPr lang="en-US" sz="1100" dirty="0"/>
          </a:p>
        </p:txBody>
      </p:sp>
      <p:sp>
        <p:nvSpPr>
          <p:cNvPr id="27" name="Shape 25"/>
          <p:cNvSpPr/>
          <p:nvPr/>
        </p:nvSpPr>
        <p:spPr>
          <a:xfrm>
            <a:off x="4358945" y="3931920"/>
            <a:ext cx="3504895" cy="0"/>
          </a:xfrm>
          <a:prstGeom prst="line">
            <a:avLst/>
          </a:prstGeom>
          <a:noFill/>
          <a:ln w="9525">
            <a:solidFill>
              <a:srgbClr val="C9C7BE"/>
            </a:solidFill>
            <a:prstDash val="solid"/>
          </a:ln>
        </p:spPr>
      </p:sp>
      <p:sp>
        <p:nvSpPr>
          <p:cNvPr id="28" name="Block Pour in the story"/>
          <p:cNvSpPr/>
          <p:nvPr/>
        </p:nvSpPr>
        <p:spPr>
          <a:xfrm>
            <a:off x="7416698" y="2057400"/>
            <a:ext cx="2347265" cy="427025"/>
          </a:xfrm>
          <a:prstGeom prst="rect">
            <a:avLst/>
          </a:prstGeom>
          <a:solidFill>
            <a:schemeClr val="accent3"/>
          </a:solidFill>
          <a:ln/>
        </p:spPr>
      </p:sp>
      <p:sp>
        <p:nvSpPr>
          <p:cNvPr id="29" name="Shape 27"/>
          <p:cNvSpPr/>
          <p:nvPr/>
        </p:nvSpPr>
        <p:spPr>
          <a:xfrm>
            <a:off x="8168335" y="3642055"/>
            <a:ext cx="152705" cy="152705"/>
          </a:xfrm>
          <a:prstGeom prst="ellipse">
            <a:avLst/>
          </a:prstGeom>
          <a:solidFill>
            <a:schemeClr val="accent3"/>
          </a:solidFill>
          <a:ln/>
        </p:spPr>
      </p:sp>
      <p:sp>
        <p:nvSpPr>
          <p:cNvPr id="30" name="Text 28"/>
          <p:cNvSpPr txBox="1"/>
          <p:nvPr/>
        </p:nvSpPr>
        <p:spPr>
          <a:xfrm>
            <a:off x="8428025" y="3581705"/>
            <a:ext cx="2438705" cy="274320"/>
          </a:xfrm>
          <a:prstGeom prst="rect">
            <a:avLst/>
          </a:prstGeom>
          <a:noFill/>
          <a:ln/>
        </p:spPr>
        <p:txBody>
          <a:bodyPr wrap="square" lIns="0" tIns="0" rIns="0" bIns="0" rtlCol="0" anchor="t"/>
          <a:lstStyle/>
          <a:p>
            <a:pPr indent="0" marL="0">
              <a:buNone/>
            </a:pPr>
            <a:r>
              <a:rPr lang="en-US" sz="1400" dirty="0">
                <a:solidFill>
                  <a:schemeClr val="tx1"/>
                </a:solidFill>
                <a:latin typeface="Roobert" pitchFamily="34" charset="0"/>
                <a:ea typeface="Roobert" pitchFamily="34" charset="-122"/>
                <a:cs typeface="Roobert" pitchFamily="34" charset="-120"/>
              </a:rPr>
              <a:t>04 · Pour in the story</a:t>
            </a:r>
            <a:endParaRPr lang="en-US" sz="1400" dirty="0"/>
          </a:p>
        </p:txBody>
      </p:sp>
      <p:sp>
        <p:nvSpPr>
          <p:cNvPr id="31" name="Text 29"/>
          <p:cNvSpPr txBox="1"/>
          <p:nvPr/>
        </p:nvSpPr>
        <p:spPr>
          <a:xfrm>
            <a:off x="10759745" y="3596335"/>
            <a:ext cx="838505" cy="274320"/>
          </a:xfrm>
          <a:prstGeom prst="rect">
            <a:avLst/>
          </a:prstGeom>
          <a:noFill/>
          <a:ln/>
        </p:spPr>
        <p:txBody>
          <a:bodyPr wrap="square" lIns="0" tIns="0" rIns="0" bIns="0" rtlCol="0" anchor="t"/>
          <a:lstStyle/>
          <a:p>
            <a:pPr algn="r" indent="0" marL="0">
              <a:buNone/>
            </a:pPr>
            <a:r>
              <a:rPr lang="en-US" sz="1100" dirty="0">
                <a:solidFill>
                  <a:srgbClr val="6F6F6A"/>
                </a:solidFill>
                <a:latin typeface="Courier New" pitchFamily="34" charset="0"/>
                <a:ea typeface="Courier New" pitchFamily="34" charset="-122"/>
                <a:cs typeface="Courier New" pitchFamily="34" charset="-120"/>
              </a:rPr>
              <a:t>45 min</a:t>
            </a:r>
            <a:endParaRPr lang="en-US" sz="1100" dirty="0"/>
          </a:p>
        </p:txBody>
      </p:sp>
      <p:sp>
        <p:nvSpPr>
          <p:cNvPr id="32" name="Shape 30"/>
          <p:cNvSpPr/>
          <p:nvPr/>
        </p:nvSpPr>
        <p:spPr>
          <a:xfrm>
            <a:off x="8168335" y="3931920"/>
            <a:ext cx="3504895" cy="0"/>
          </a:xfrm>
          <a:prstGeom prst="line">
            <a:avLst/>
          </a:prstGeom>
          <a:noFill/>
          <a:ln w="9525">
            <a:solidFill>
              <a:srgbClr val="C9C7BE"/>
            </a:solidFill>
            <a:prstDash val="solid"/>
          </a:ln>
        </p:spPr>
      </p:sp>
      <p:sp>
        <p:nvSpPr>
          <p:cNvPr id="33" name="Block The register"/>
          <p:cNvSpPr/>
          <p:nvPr/>
        </p:nvSpPr>
        <p:spPr>
          <a:xfrm>
            <a:off x="9794138" y="2057400"/>
            <a:ext cx="1290218" cy="427025"/>
          </a:xfrm>
          <a:prstGeom prst="rect">
            <a:avLst/>
          </a:prstGeom>
          <a:solidFill>
            <a:schemeClr val="accent2"/>
          </a:solidFill>
          <a:ln/>
        </p:spPr>
      </p:sp>
      <p:sp>
        <p:nvSpPr>
          <p:cNvPr id="34" name="Shape 32"/>
          <p:cNvSpPr/>
          <p:nvPr/>
        </p:nvSpPr>
        <p:spPr>
          <a:xfrm>
            <a:off x="548640" y="4144975"/>
            <a:ext cx="152705" cy="152705"/>
          </a:xfrm>
          <a:prstGeom prst="ellipse">
            <a:avLst/>
          </a:prstGeom>
          <a:solidFill>
            <a:schemeClr val="accent2"/>
          </a:solidFill>
          <a:ln/>
        </p:spPr>
      </p:sp>
      <p:sp>
        <p:nvSpPr>
          <p:cNvPr id="35" name="Text 33"/>
          <p:cNvSpPr txBox="1"/>
          <p:nvPr/>
        </p:nvSpPr>
        <p:spPr>
          <a:xfrm>
            <a:off x="807415" y="4084625"/>
            <a:ext cx="2438705" cy="274320"/>
          </a:xfrm>
          <a:prstGeom prst="rect">
            <a:avLst/>
          </a:prstGeom>
          <a:noFill/>
          <a:ln/>
        </p:spPr>
        <p:txBody>
          <a:bodyPr wrap="square" lIns="0" tIns="0" rIns="0" bIns="0" rtlCol="0" anchor="t"/>
          <a:lstStyle/>
          <a:p>
            <a:pPr indent="0" marL="0">
              <a:buNone/>
            </a:pPr>
            <a:r>
              <a:rPr lang="en-US" sz="1400" dirty="0">
                <a:solidFill>
                  <a:schemeClr val="tx1"/>
                </a:solidFill>
                <a:latin typeface="Roobert" pitchFamily="34" charset="0"/>
                <a:ea typeface="Roobert" pitchFamily="34" charset="-122"/>
                <a:cs typeface="Roobert" pitchFamily="34" charset="-120"/>
              </a:rPr>
              <a:t>05 · The register</a:t>
            </a:r>
            <a:endParaRPr lang="en-US" sz="1400" dirty="0"/>
          </a:p>
        </p:txBody>
      </p:sp>
      <p:sp>
        <p:nvSpPr>
          <p:cNvPr id="36" name="Text 34"/>
          <p:cNvSpPr txBox="1"/>
          <p:nvPr/>
        </p:nvSpPr>
        <p:spPr>
          <a:xfrm>
            <a:off x="3139135" y="4099255"/>
            <a:ext cx="838505" cy="274320"/>
          </a:xfrm>
          <a:prstGeom prst="rect">
            <a:avLst/>
          </a:prstGeom>
          <a:noFill/>
          <a:ln/>
        </p:spPr>
        <p:txBody>
          <a:bodyPr wrap="square" lIns="0" tIns="0" rIns="0" bIns="0" rtlCol="0" anchor="t"/>
          <a:lstStyle/>
          <a:p>
            <a:pPr algn="r" indent="0" marL="0">
              <a:buNone/>
            </a:pPr>
            <a:r>
              <a:rPr lang="en-US" sz="1100" dirty="0">
                <a:solidFill>
                  <a:srgbClr val="6F6F6A"/>
                </a:solidFill>
                <a:latin typeface="Courier New" pitchFamily="34" charset="0"/>
                <a:ea typeface="Courier New" pitchFamily="34" charset="-122"/>
                <a:cs typeface="Courier New" pitchFamily="34" charset="-120"/>
              </a:rPr>
              <a:t>25 min</a:t>
            </a:r>
            <a:endParaRPr lang="en-US" sz="1100" dirty="0"/>
          </a:p>
        </p:txBody>
      </p:sp>
      <p:sp>
        <p:nvSpPr>
          <p:cNvPr id="37" name="Shape 35"/>
          <p:cNvSpPr/>
          <p:nvPr/>
        </p:nvSpPr>
        <p:spPr>
          <a:xfrm>
            <a:off x="548640" y="4434840"/>
            <a:ext cx="3504895" cy="0"/>
          </a:xfrm>
          <a:prstGeom prst="line">
            <a:avLst/>
          </a:prstGeom>
          <a:noFill/>
          <a:ln w="9525">
            <a:solidFill>
              <a:srgbClr val="C9C7BE"/>
            </a:solidFill>
            <a:prstDash val="solid"/>
          </a:ln>
        </p:spPr>
      </p:sp>
      <p:sp>
        <p:nvSpPr>
          <p:cNvPr id="38" name="Block Debrief"/>
          <p:cNvSpPr/>
          <p:nvPr/>
        </p:nvSpPr>
        <p:spPr>
          <a:xfrm>
            <a:off x="11115446" y="2057400"/>
            <a:ext cx="497434" cy="427025"/>
          </a:xfrm>
          <a:prstGeom prst="rect">
            <a:avLst/>
          </a:prstGeom>
          <a:solidFill>
            <a:schemeClr val="tx1"/>
          </a:solidFill>
          <a:ln/>
        </p:spPr>
      </p:sp>
      <p:sp>
        <p:nvSpPr>
          <p:cNvPr id="39" name="Shape 37"/>
          <p:cNvSpPr/>
          <p:nvPr/>
        </p:nvSpPr>
        <p:spPr>
          <a:xfrm>
            <a:off x="4358945" y="4144975"/>
            <a:ext cx="152705" cy="152705"/>
          </a:xfrm>
          <a:prstGeom prst="ellipse">
            <a:avLst/>
          </a:prstGeom>
          <a:solidFill>
            <a:schemeClr val="tx1"/>
          </a:solidFill>
          <a:ln/>
        </p:spPr>
      </p:sp>
      <p:sp>
        <p:nvSpPr>
          <p:cNvPr id="40" name="Text 38"/>
          <p:cNvSpPr txBox="1"/>
          <p:nvPr/>
        </p:nvSpPr>
        <p:spPr>
          <a:xfrm>
            <a:off x="4617720" y="4084625"/>
            <a:ext cx="2438705" cy="274320"/>
          </a:xfrm>
          <a:prstGeom prst="rect">
            <a:avLst/>
          </a:prstGeom>
          <a:noFill/>
          <a:ln/>
        </p:spPr>
        <p:txBody>
          <a:bodyPr wrap="square" lIns="0" tIns="0" rIns="0" bIns="0" rtlCol="0" anchor="t"/>
          <a:lstStyle/>
          <a:p>
            <a:pPr indent="0" marL="0">
              <a:buNone/>
            </a:pPr>
            <a:r>
              <a:rPr lang="en-US" sz="1400" dirty="0">
                <a:solidFill>
                  <a:schemeClr val="tx1"/>
                </a:solidFill>
                <a:latin typeface="Roobert" pitchFamily="34" charset="0"/>
                <a:ea typeface="Roobert" pitchFamily="34" charset="-122"/>
                <a:cs typeface="Roobert" pitchFamily="34" charset="-120"/>
              </a:rPr>
              <a:t>06 · Debrief</a:t>
            </a:r>
            <a:endParaRPr lang="en-US" sz="1400" dirty="0"/>
          </a:p>
        </p:txBody>
      </p:sp>
      <p:sp>
        <p:nvSpPr>
          <p:cNvPr id="41" name="Text 39"/>
          <p:cNvSpPr txBox="1"/>
          <p:nvPr/>
        </p:nvSpPr>
        <p:spPr>
          <a:xfrm>
            <a:off x="6949440" y="4099255"/>
            <a:ext cx="838505" cy="274320"/>
          </a:xfrm>
          <a:prstGeom prst="rect">
            <a:avLst/>
          </a:prstGeom>
          <a:noFill/>
          <a:ln/>
        </p:spPr>
        <p:txBody>
          <a:bodyPr wrap="square" lIns="0" tIns="0" rIns="0" bIns="0" rtlCol="0" anchor="t"/>
          <a:lstStyle/>
          <a:p>
            <a:pPr algn="r" indent="0" marL="0">
              <a:buNone/>
            </a:pPr>
            <a:r>
              <a:rPr lang="en-US" sz="1100" dirty="0">
                <a:solidFill>
                  <a:srgbClr val="6F6F6A"/>
                </a:solidFill>
                <a:latin typeface="Courier New" pitchFamily="34" charset="0"/>
                <a:ea typeface="Courier New" pitchFamily="34" charset="-122"/>
                <a:cs typeface="Courier New" pitchFamily="34" charset="-120"/>
              </a:rPr>
              <a:t>10 min</a:t>
            </a:r>
            <a:endParaRPr lang="en-US" sz="1100" dirty="0"/>
          </a:p>
        </p:txBody>
      </p:sp>
      <p:sp>
        <p:nvSpPr>
          <p:cNvPr id="42" name="Shape 40"/>
          <p:cNvSpPr/>
          <p:nvPr/>
        </p:nvSpPr>
        <p:spPr>
          <a:xfrm>
            <a:off x="4358945" y="4434840"/>
            <a:ext cx="3504895" cy="0"/>
          </a:xfrm>
          <a:prstGeom prst="line">
            <a:avLst/>
          </a:prstGeom>
          <a:noFill/>
          <a:ln w="9525">
            <a:solidFill>
              <a:srgbClr val="C9C7BE"/>
            </a:solidFill>
            <a:prstDash val="solid"/>
          </a:ln>
        </p:spPr>
      </p:sp>
      <p:sp>
        <p:nvSpPr>
          <p:cNvPr id="43" name="Text 41"/>
          <p:cNvSpPr txBox="1"/>
          <p:nvPr/>
        </p:nvSpPr>
        <p:spPr>
          <a:xfrm>
            <a:off x="548640" y="304495"/>
            <a:ext cx="4572000" cy="228600"/>
          </a:xfrm>
          <a:prstGeom prst="rect">
            <a:avLst/>
          </a:prstGeom>
          <a:noFill/>
          <a:ln/>
        </p:spPr>
        <p:txBody>
          <a:bodyPr wrap="square" lIns="0" tIns="0" rIns="0" bIns="0" rtlCol="0" anchor="t"/>
          <a:lstStyle/>
          <a:p>
            <a:pPr indent="0" marL="0">
              <a:buNone/>
            </a:pPr>
            <a:r>
              <a:rPr lang="en-US" sz="1000" spc="300" kern="0" dirty="0">
                <a:solidFill>
                  <a:schemeClr val="tx1"/>
                </a:solidFill>
                <a:latin typeface="Roobert" pitchFamily="34" charset="0"/>
                <a:ea typeface="Roobert" pitchFamily="34" charset="-122"/>
                <a:cs typeface="Roobert" pitchFamily="34" charset="-120"/>
              </a:rPr>
              <a:t>Run of show · 3h30</a:t>
            </a:r>
            <a:endParaRPr lang="en-US" sz="10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990295"/>
            <a:ext cx="5790895" cy="3047695"/>
          </a:xfrm>
          <a:prstGeom prst="rect">
            <a:avLst/>
          </a:prstGeom>
          <a:noFill/>
          <a:ln/>
        </p:spPr>
        <p:txBody>
          <a:bodyPr wrap="square" lIns="0" tIns="0" rIns="0" bIns="0" rtlCol="0" anchor="t"/>
          <a:lstStyle/>
          <a:p>
            <a:pPr algn="l" indent="0" marL="0">
              <a:buNone/>
            </a:pPr>
            <a:r>
              <a:rPr lang="en-US" sz="5800" dirty="0">
                <a:solidFill>
                  <a:schemeClr val="bg2"/>
                </a:solidFill>
              </a:rPr>
              <a:t>Convicted or resigned.</a:t>
            </a:r>
            <a:endParaRPr lang="en-US" sz="5800" dirty="0"/>
          </a:p>
          <a:p>
            <a:pPr algn="l" indent="0" marL="0">
              <a:buNone/>
            </a:pPr>
            <a:r>
              <a:rPr lang="en-US" sz="5800" dirty="0">
                <a:solidFill>
                  <a:srgbClr val="0B0C0C"/>
                </a:solidFill>
                <a:highlight>
                  <a:srgbClr val="C5FF71"/>
                </a:highlight>
              </a:rPr>
              <a:t>Nothing else.</a:t>
            </a:r>
            <a:endParaRPr lang="en-US" sz="5800" dirty="0"/>
          </a:p>
        </p:txBody>
      </p:sp>
      <p:sp>
        <p:nvSpPr>
          <p:cNvPr id="3" name="Shape 1"/>
          <p:cNvSpPr/>
          <p:nvPr/>
        </p:nvSpPr>
        <p:spPr>
          <a:xfrm>
            <a:off x="6705295" y="1067105"/>
            <a:ext cx="4953305" cy="0"/>
          </a:xfrm>
          <a:prstGeom prst="line">
            <a:avLst/>
          </a:prstGeom>
          <a:noFill/>
          <a:ln w="9525">
            <a:solidFill>
              <a:srgbClr val="5B5B57"/>
            </a:solidFill>
            <a:prstDash val="solid"/>
          </a:ln>
        </p:spPr>
      </p:sp>
      <p:sp>
        <p:nvSpPr>
          <p:cNvPr id="4" name="Text 2"/>
          <p:cNvSpPr txBox="1"/>
          <p:nvPr/>
        </p:nvSpPr>
        <p:spPr>
          <a:xfrm>
            <a:off x="6705295" y="1218895"/>
            <a:ext cx="4953305" cy="1218895"/>
          </a:xfrm>
          <a:prstGeom prst="rect">
            <a:avLst/>
          </a:prstGeom>
          <a:noFill/>
          <a:ln/>
        </p:spPr>
        <p:txBody>
          <a:bodyPr wrap="square" lIns="0" tIns="0" rIns="0" bIns="0" rtlCol="0" anchor="t"/>
          <a:lstStyle/>
          <a:p>
            <a:pPr indent="0" marL="0">
              <a:buNone/>
            </a:pPr>
            <a:r>
              <a:rPr lang="en-US" sz="1500" dirty="0">
                <a:solidFill>
                  <a:schemeClr val="bg2"/>
                </a:solidFill>
                <a:latin typeface="Roobert" pitchFamily="34" charset="0"/>
                <a:ea typeface="Roobert" pitchFamily="34" charset="-122"/>
                <a:cs typeface="Roobert" pitchFamily="34" charset="-120"/>
              </a:rPr>
              <a:t>Every person named in the kit holds a final conviction for a corruption-related offence, or resigned over a documented scandal and is described only as having resigned.</a:t>
            </a:r>
            <a:endParaRPr lang="en-US" sz="1500" dirty="0"/>
          </a:p>
        </p:txBody>
      </p:sp>
      <p:sp>
        <p:nvSpPr>
          <p:cNvPr id="5" name="Shape 3"/>
          <p:cNvSpPr/>
          <p:nvPr/>
        </p:nvSpPr>
        <p:spPr>
          <a:xfrm>
            <a:off x="6705295" y="2514600"/>
            <a:ext cx="4953305" cy="0"/>
          </a:xfrm>
          <a:prstGeom prst="line">
            <a:avLst/>
          </a:prstGeom>
          <a:noFill/>
          <a:ln w="9525">
            <a:solidFill>
              <a:srgbClr val="5B5B57"/>
            </a:solidFill>
            <a:prstDash val="solid"/>
          </a:ln>
        </p:spPr>
      </p:sp>
      <p:sp>
        <p:nvSpPr>
          <p:cNvPr id="6" name="Text 4"/>
          <p:cNvSpPr txBox="1"/>
          <p:nvPr/>
        </p:nvSpPr>
        <p:spPr>
          <a:xfrm>
            <a:off x="6705295" y="2667305"/>
            <a:ext cx="4953305" cy="914400"/>
          </a:xfrm>
          <a:prstGeom prst="rect">
            <a:avLst/>
          </a:prstGeom>
          <a:noFill/>
          <a:ln/>
        </p:spPr>
        <p:txBody>
          <a:bodyPr wrap="square" lIns="0" tIns="0" rIns="0" bIns="0" rtlCol="0" anchor="t"/>
          <a:lstStyle/>
          <a:p>
            <a:pPr indent="0" marL="0">
              <a:buNone/>
            </a:pPr>
            <a:r>
              <a:rPr lang="en-US" sz="1500" dirty="0">
                <a:solidFill>
                  <a:schemeClr val="bg2"/>
                </a:solidFill>
                <a:latin typeface="Roobert" pitchFamily="34" charset="0"/>
                <a:ea typeface="Roobert" pitchFamily="34" charset="-122"/>
                <a:cs typeface="Roobert" pitchFamily="34" charset="-120"/>
              </a:rPr>
              <a:t>On trial, acquitted, or cleared on appeal: left out, named by role only. Several were pulled during research for exactly that reason.</a:t>
            </a:r>
            <a:endParaRPr lang="en-US" sz="1500" dirty="0"/>
          </a:p>
        </p:txBody>
      </p:sp>
      <p:sp>
        <p:nvSpPr>
          <p:cNvPr id="7" name="Shape 5"/>
          <p:cNvSpPr/>
          <p:nvPr/>
        </p:nvSpPr>
        <p:spPr>
          <a:xfrm>
            <a:off x="6705295" y="3657600"/>
            <a:ext cx="4953305" cy="0"/>
          </a:xfrm>
          <a:prstGeom prst="line">
            <a:avLst/>
          </a:prstGeom>
          <a:noFill/>
          <a:ln w="9525">
            <a:solidFill>
              <a:srgbClr val="5B5B57"/>
            </a:solidFill>
            <a:prstDash val="solid"/>
          </a:ln>
        </p:spPr>
      </p:sp>
      <p:sp>
        <p:nvSpPr>
          <p:cNvPr id="8" name="Text 6"/>
          <p:cNvSpPr txBox="1"/>
          <p:nvPr/>
        </p:nvSpPr>
        <p:spPr>
          <a:xfrm>
            <a:off x="6705295" y="3810305"/>
            <a:ext cx="4953305" cy="914400"/>
          </a:xfrm>
          <a:prstGeom prst="rect">
            <a:avLst/>
          </a:prstGeom>
          <a:noFill/>
          <a:ln/>
        </p:spPr>
        <p:txBody>
          <a:bodyPr wrap="square" lIns="0" tIns="0" rIns="0" bIns="0" rtlCol="0" anchor="t"/>
          <a:lstStyle/>
          <a:p>
            <a:pPr indent="0" marL="0">
              <a:buNone/>
            </a:pPr>
            <a:r>
              <a:rPr lang="en-US" sz="1500" dirty="0">
                <a:solidFill>
                  <a:schemeClr val="bg2"/>
                </a:solidFill>
                <a:latin typeface="Roobert" pitchFamily="34" charset="0"/>
                <a:ea typeface="Roobert" pitchFamily="34" charset="-122"/>
                <a:cs typeface="Roobert" pitchFamily="34" charset="-120"/>
              </a:rPr>
              <a:t>Truth is a defence. It also makes the work sharper: when you can't exaggerate, you have to be precise.</a:t>
            </a:r>
            <a:endParaRPr lang="en-US" sz="1500" dirty="0"/>
          </a:p>
        </p:txBody>
      </p:sp>
      <p:sp>
        <p:nvSpPr>
          <p:cNvPr id="9" name="Shape 7"/>
          <p:cNvSpPr/>
          <p:nvPr/>
        </p:nvSpPr>
        <p:spPr>
          <a:xfrm>
            <a:off x="6705295" y="4800600"/>
            <a:ext cx="4953305" cy="0"/>
          </a:xfrm>
          <a:prstGeom prst="line">
            <a:avLst/>
          </a:prstGeom>
          <a:noFill/>
          <a:ln w="9525">
            <a:solidFill>
              <a:srgbClr val="5B5B57"/>
            </a:solidFill>
            <a:prstDash val="solid"/>
          </a:ln>
        </p:spPr>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9A8A2"/>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accent4"/>
        </a:solidFill>
      </p:bgPr>
    </p:bg>
    <p:spTree>
      <p:nvGrpSpPr>
        <p:cNvPr id="1" name=""/>
        <p:cNvGrpSpPr/>
        <p:nvPr/>
      </p:nvGrpSpPr>
      <p:grpSpPr>
        <a:xfrm>
          <a:off x="0" y="0"/>
          <a:ext cx="0" cy="0"/>
          <a:chOff x="0" y="0"/>
          <a:chExt cx="0" cy="0"/>
        </a:xfrm>
      </p:grpSpPr>
      <p:sp>
        <p:nvSpPr>
          <p:cNvPr id="2" name="Phase number"/>
          <p:cNvSpPr txBox="1"/>
          <p:nvPr/>
        </p:nvSpPr>
        <p:spPr>
          <a:xfrm>
            <a:off x="441655" y="152705"/>
            <a:ext cx="7619695" cy="3200400"/>
          </a:xfrm>
          <a:prstGeom prst="rect">
            <a:avLst/>
          </a:prstGeom>
          <a:noFill/>
          <a:ln/>
        </p:spPr>
        <p:txBody>
          <a:bodyPr wrap="square" lIns="0" tIns="0" rIns="0" bIns="0" rtlCol="0" anchor="t"/>
          <a:lstStyle/>
          <a:p>
            <a:pPr indent="0" marL="0">
              <a:buNone/>
            </a:pPr>
            <a:r>
              <a:rPr lang="en-US" sz="25200" dirty="0">
                <a:solidFill>
                  <a:schemeClr val="tx1"/>
                </a:solidFill>
                <a:latin typeface="Roobert" pitchFamily="34" charset="0"/>
                <a:ea typeface="Roobert" pitchFamily="34" charset="-122"/>
                <a:cs typeface="Roobert" pitchFamily="34" charset="-120"/>
              </a:rPr>
              <a:t>01</a:t>
            </a:r>
            <a:endParaRPr lang="en-US" sz="25200" dirty="0"/>
          </a:p>
        </p:txBody>
      </p:sp>
      <p:sp>
        <p:nvSpPr>
          <p:cNvPr id="3" name="Text 0"/>
          <p:cNvSpPr/>
          <p:nvPr>
            <p:ph idx="100" type="title" hasCustomPrompt="1"/>
          </p:nvPr>
        </p:nvSpPr>
        <p:spPr>
          <a:xfrm>
            <a:off x="548640" y="4267505"/>
            <a:ext cx="10668305" cy="1524305"/>
          </a:xfrm>
          <a:prstGeom prst="rect">
            <a:avLst/>
          </a:prstGeom>
          <a:noFill/>
          <a:ln/>
        </p:spPr>
        <p:txBody>
          <a:bodyPr wrap="square" lIns="0" tIns="0" rIns="0" bIns="0" rtlCol="0" anchor="b"/>
          <a:lstStyle/>
          <a:p>
            <a:pPr algn="l" indent="0" marL="0">
              <a:buNone/>
            </a:pPr>
            <a:r>
              <a:rPr lang="en-US" sz="6200" dirty="0">
                <a:solidFill>
                  <a:schemeClr val="tx1"/>
                </a:solidFill>
              </a:rPr>
              <a:t>Read the grammar of authority</a:t>
            </a:r>
            <a:endParaRPr lang="en-US" sz="6200" dirty="0"/>
          </a:p>
        </p:txBody>
      </p:sp>
      <p:sp>
        <p:nvSpPr>
          <p:cNvPr id="4" name="Text 2"/>
          <p:cNvSpPr txBox="1"/>
          <p:nvPr/>
        </p:nvSpPr>
        <p:spPr>
          <a:xfrm>
            <a:off x="548640" y="5943600"/>
            <a:ext cx="9905695" cy="381305"/>
          </a:xfrm>
          <a:prstGeom prst="rect">
            <a:avLst/>
          </a:prstGeom>
          <a:noFill/>
          <a:ln/>
        </p:spPr>
        <p:txBody>
          <a:bodyPr wrap="square" lIns="0" tIns="0" rIns="0" bIns="0" rtlCol="0" anchor="t"/>
          <a:lstStyle/>
          <a:p>
            <a:pPr indent="0" marL="0">
              <a:buNone/>
            </a:pPr>
            <a:r>
              <a:rPr lang="en-US" sz="1800" dirty="0">
                <a:solidFill>
                  <a:schemeClr val="tx1"/>
                </a:solidFill>
                <a:latin typeface="Roobert" pitchFamily="34" charset="0"/>
                <a:ea typeface="Roobert" pitchFamily="34" charset="-122"/>
                <a:cs typeface="Roobert" pitchFamily="34" charset="-120"/>
              </a:rPr>
              <a:t>Colour, type, furniture, voice.</a:t>
            </a:r>
            <a:endParaRPr lang="en-US" sz="1800" dirty="0"/>
          </a:p>
        </p:txBody>
      </p:sp>
      <p:sp>
        <p:nvSpPr>
          <p:cNvPr id="5" name="Duration"/>
          <p:cNvSpPr/>
          <p:nvPr/>
        </p:nvSpPr>
        <p:spPr>
          <a:xfrm>
            <a:off x="10591495" y="457200"/>
            <a:ext cx="1067105" cy="395935"/>
          </a:xfrm>
          <a:prstGeom prst="roundRect">
            <a:avLst>
              <a:gd name="adj" fmla="val 115473"/>
            </a:avLst>
          </a:prstGeom>
          <a:ln w="12700">
            <a:solidFill>
              <a:schemeClr val="tx1"/>
            </a:solidFill>
            <a:prstDash val="solid"/>
          </a:ln>
        </p:spPr>
      </p:sp>
      <p:sp>
        <p:nvSpPr>
          <p:cNvPr id="6" name="Text 4"/>
          <p:cNvSpPr txBox="1"/>
          <p:nvPr/>
        </p:nvSpPr>
        <p:spPr>
          <a:xfrm>
            <a:off x="10591495" y="457200"/>
            <a:ext cx="1067105" cy="395935"/>
          </a:xfrm>
          <a:prstGeom prst="rect">
            <a:avLst/>
          </a:prstGeom>
          <a:noFill/>
          <a:ln/>
        </p:spPr>
        <p:txBody>
          <a:bodyPr wrap="square" lIns="0" tIns="0" rIns="0" bIns="0" rtlCol="0" anchor="ctr"/>
          <a:lstStyle/>
          <a:p>
            <a:pPr algn="ctr" indent="0" marL="0">
              <a:buNone/>
            </a:pPr>
            <a:r>
              <a:rPr lang="en-US" sz="1400" dirty="0">
                <a:solidFill>
                  <a:schemeClr val="tx1"/>
                </a:solidFill>
                <a:latin typeface="Roobert" pitchFamily="34" charset="0"/>
                <a:ea typeface="Roobert" pitchFamily="34" charset="-122"/>
                <a:cs typeface="Roobert" pitchFamily="34" charset="-120"/>
              </a:rPr>
              <a:t>30 min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61695"/>
          </a:xfrm>
          <a:prstGeom prst="rect">
            <a:avLst/>
          </a:prstGeom>
          <a:noFill/>
          <a:ln/>
        </p:spPr>
        <p:txBody>
          <a:bodyPr wrap="square" lIns="0" tIns="0" rIns="0" bIns="0" rtlCol="0" anchor="b"/>
          <a:lstStyle/>
          <a:p>
            <a:pPr algn="l" indent="0" marL="0">
              <a:buNone/>
            </a:pPr>
            <a:r>
              <a:rPr lang="en-US" sz="4100" dirty="0">
                <a:solidFill>
                  <a:schemeClr val="tx1"/>
                </a:solidFill>
              </a:rPr>
              <a:t>The colour of the state</a:t>
            </a:r>
            <a:endParaRPr lang="en-US" sz="4100" dirty="0"/>
          </a:p>
        </p:txBody>
      </p:sp>
      <p:sp>
        <p:nvSpPr>
          <p:cNvPr id="3" name="Text 1"/>
          <p:cNvSpPr txBox="1"/>
          <p:nvPr/>
        </p:nvSpPr>
        <p:spPr>
          <a:xfrm>
            <a:off x="548640" y="1561795"/>
            <a:ext cx="9144000" cy="274320"/>
          </a:xfrm>
          <a:prstGeom prst="rect">
            <a:avLst/>
          </a:prstGeom>
          <a:noFill/>
          <a:ln/>
        </p:spPr>
        <p:txBody>
          <a:bodyPr wrap="square" lIns="0" tIns="0" rIns="0" bIns="0" rtlCol="0" anchor="t"/>
          <a:lstStyle/>
          <a:p>
            <a:pPr indent="0" marL="0">
              <a:buNone/>
            </a:pPr>
            <a:r>
              <a:rPr lang="en-US" sz="1400" dirty="0">
                <a:solidFill>
                  <a:srgbClr val="6F6F6A"/>
                </a:solidFill>
                <a:latin typeface="Roobert" pitchFamily="34" charset="0"/>
                <a:ea typeface="Roobert" pitchFamily="34" charset="-122"/>
                <a:cs typeface="Roobert" pitchFamily="34" charset="-120"/>
              </a:rPr>
              <a:t>The lead colour of all 45 bodies, measured from the live pages.</a:t>
            </a:r>
            <a:endParaRPr lang="en-US" sz="1400" dirty="0"/>
          </a:p>
        </p:txBody>
      </p:sp>
      <p:sp>
        <p:nvSpPr>
          <p:cNvPr id="4" name="Blue count"/>
          <p:cNvSpPr txBox="1"/>
          <p:nvPr/>
        </p:nvSpPr>
        <p:spPr>
          <a:xfrm>
            <a:off x="472745" y="1981505"/>
            <a:ext cx="3200400" cy="1828800"/>
          </a:xfrm>
          <a:prstGeom prst="rect">
            <a:avLst/>
          </a:prstGeom>
          <a:noFill/>
          <a:ln/>
        </p:spPr>
        <p:txBody>
          <a:bodyPr wrap="square" lIns="0" tIns="0" rIns="0" bIns="0" rtlCol="0" anchor="t"/>
          <a:lstStyle/>
          <a:p>
            <a:pPr indent="0" marL="0">
              <a:buNone/>
            </a:pPr>
            <a:r>
              <a:rPr lang="en-US" sz="14400" dirty="0">
                <a:solidFill>
                  <a:schemeClr val="tx1"/>
                </a:solidFill>
                <a:latin typeface="Roobert" pitchFamily="34" charset="0"/>
                <a:ea typeface="Roobert" pitchFamily="34" charset="-122"/>
                <a:cs typeface="Roobert" pitchFamily="34" charset="-120"/>
              </a:rPr>
              <a:t>33</a:t>
            </a:r>
            <a:endParaRPr lang="en-US" sz="14400" dirty="0"/>
          </a:p>
        </p:txBody>
      </p:sp>
      <p:sp>
        <p:nvSpPr>
          <p:cNvPr id="5" name="Text 3"/>
          <p:cNvSpPr txBox="1"/>
          <p:nvPr/>
        </p:nvSpPr>
        <p:spPr>
          <a:xfrm>
            <a:off x="609905" y="3886200"/>
            <a:ext cx="2895905" cy="685800"/>
          </a:xfrm>
          <a:prstGeom prst="rect">
            <a:avLst/>
          </a:prstGeom>
          <a:noFill/>
          <a:ln/>
        </p:spPr>
        <p:txBody>
          <a:bodyPr wrap="square" lIns="0" tIns="0" rIns="0" bIns="0" rtlCol="0" anchor="t"/>
          <a:lstStyle/>
          <a:p>
            <a:pPr indent="0" marL="0">
              <a:buNone/>
            </a:pPr>
            <a:r>
              <a:rPr lang="en-US" sz="1700" dirty="0">
                <a:solidFill>
                  <a:schemeClr val="tx1"/>
                </a:solidFill>
                <a:latin typeface="Roobert" pitchFamily="34" charset="0"/>
                <a:ea typeface="Roobert" pitchFamily="34" charset="-122"/>
                <a:cs typeface="Roobert" pitchFamily="34" charset="-120"/>
              </a:rPr>
              <a:t>of 45 lead with a navy or royal blue</a:t>
            </a:r>
            <a:endParaRPr lang="en-US" sz="1700" dirty="0"/>
          </a:p>
        </p:txBody>
      </p:sp>
      <p:sp>
        <p:nvSpPr>
          <p:cNvPr id="6" name="Text 4"/>
          <p:cNvSpPr txBox="1"/>
          <p:nvPr/>
        </p:nvSpPr>
        <p:spPr>
          <a:xfrm>
            <a:off x="4876495" y="1904695"/>
            <a:ext cx="335585" cy="198425"/>
          </a:xfrm>
          <a:prstGeom prst="rect">
            <a:avLst/>
          </a:prstGeom>
          <a:noFill/>
          <a:ln/>
        </p:spPr>
        <p:txBody>
          <a:bodyPr wrap="square" lIns="0" tIns="0" rIns="0" bIns="0" rtlCol="0" anchor="t"/>
          <a:lstStyle/>
          <a:p>
            <a:pPr algn="ctr" indent="0" marL="0">
              <a:buNone/>
            </a:pPr>
            <a:r>
              <a:rPr lang="en-US" sz="900" dirty="0">
                <a:solidFill>
                  <a:srgbClr val="6F6F6A"/>
                </a:solidFill>
                <a:latin typeface="Courier New" pitchFamily="34" charset="0"/>
                <a:ea typeface="Courier New" pitchFamily="34" charset="-122"/>
                <a:cs typeface="Courier New" pitchFamily="34" charset="-120"/>
              </a:rPr>
              <a:t>AT</a:t>
            </a:r>
            <a:endParaRPr lang="en-US" sz="900" dirty="0"/>
          </a:p>
        </p:txBody>
      </p:sp>
      <p:sp>
        <p:nvSpPr>
          <p:cNvPr id="7" name="Text 5"/>
          <p:cNvSpPr txBox="1"/>
          <p:nvPr/>
        </p:nvSpPr>
        <p:spPr>
          <a:xfrm>
            <a:off x="5319065" y="1904695"/>
            <a:ext cx="335585" cy="198425"/>
          </a:xfrm>
          <a:prstGeom prst="rect">
            <a:avLst/>
          </a:prstGeom>
          <a:noFill/>
          <a:ln/>
        </p:spPr>
        <p:txBody>
          <a:bodyPr wrap="square" lIns="0" tIns="0" rIns="0" bIns="0" rtlCol="0" anchor="t"/>
          <a:lstStyle/>
          <a:p>
            <a:pPr algn="ctr" indent="0" marL="0">
              <a:buNone/>
            </a:pPr>
            <a:r>
              <a:rPr lang="en-US" sz="900" dirty="0">
                <a:solidFill>
                  <a:srgbClr val="6F6F6A"/>
                </a:solidFill>
                <a:latin typeface="Courier New" pitchFamily="34" charset="0"/>
                <a:ea typeface="Courier New" pitchFamily="34" charset="-122"/>
                <a:cs typeface="Courier New" pitchFamily="34" charset="-120"/>
              </a:rPr>
              <a:t>BE</a:t>
            </a:r>
            <a:endParaRPr lang="en-US" sz="900" dirty="0"/>
          </a:p>
        </p:txBody>
      </p:sp>
      <p:sp>
        <p:nvSpPr>
          <p:cNvPr id="8" name="Text 6"/>
          <p:cNvSpPr txBox="1"/>
          <p:nvPr/>
        </p:nvSpPr>
        <p:spPr>
          <a:xfrm>
            <a:off x="5760720" y="1904695"/>
            <a:ext cx="335585" cy="198425"/>
          </a:xfrm>
          <a:prstGeom prst="rect">
            <a:avLst/>
          </a:prstGeom>
          <a:noFill/>
          <a:ln/>
        </p:spPr>
        <p:txBody>
          <a:bodyPr wrap="square" lIns="0" tIns="0" rIns="0" bIns="0" rtlCol="0" anchor="t"/>
          <a:lstStyle/>
          <a:p>
            <a:pPr algn="ctr" indent="0" marL="0">
              <a:buNone/>
            </a:pPr>
            <a:r>
              <a:rPr lang="en-US" sz="900" dirty="0">
                <a:solidFill>
                  <a:srgbClr val="6F6F6A"/>
                </a:solidFill>
                <a:latin typeface="Courier New" pitchFamily="34" charset="0"/>
                <a:ea typeface="Courier New" pitchFamily="34" charset="-122"/>
                <a:cs typeface="Courier New" pitchFamily="34" charset="-120"/>
              </a:rPr>
              <a:t>BG</a:t>
            </a:r>
            <a:endParaRPr lang="en-US" sz="900" dirty="0"/>
          </a:p>
        </p:txBody>
      </p:sp>
      <p:sp>
        <p:nvSpPr>
          <p:cNvPr id="9" name="Text 7"/>
          <p:cNvSpPr txBox="1"/>
          <p:nvPr/>
        </p:nvSpPr>
        <p:spPr>
          <a:xfrm>
            <a:off x="6202375" y="1904695"/>
            <a:ext cx="335585" cy="198425"/>
          </a:xfrm>
          <a:prstGeom prst="rect">
            <a:avLst/>
          </a:prstGeom>
          <a:noFill/>
          <a:ln/>
        </p:spPr>
        <p:txBody>
          <a:bodyPr wrap="square" lIns="0" tIns="0" rIns="0" bIns="0" rtlCol="0" anchor="t"/>
          <a:lstStyle/>
          <a:p>
            <a:pPr algn="ctr" indent="0" marL="0">
              <a:buNone/>
            </a:pPr>
            <a:r>
              <a:rPr lang="en-US" sz="900" dirty="0">
                <a:solidFill>
                  <a:srgbClr val="6F6F6A"/>
                </a:solidFill>
                <a:latin typeface="Courier New" pitchFamily="34" charset="0"/>
                <a:ea typeface="Courier New" pitchFamily="34" charset="-122"/>
                <a:cs typeface="Courier New" pitchFamily="34" charset="-120"/>
              </a:rPr>
              <a:t>CZ</a:t>
            </a:r>
            <a:endParaRPr lang="en-US" sz="900" dirty="0"/>
          </a:p>
        </p:txBody>
      </p:sp>
      <p:sp>
        <p:nvSpPr>
          <p:cNvPr id="10" name="Text 8"/>
          <p:cNvSpPr txBox="1"/>
          <p:nvPr/>
        </p:nvSpPr>
        <p:spPr>
          <a:xfrm>
            <a:off x="6644945" y="1904695"/>
            <a:ext cx="335585" cy="198425"/>
          </a:xfrm>
          <a:prstGeom prst="rect">
            <a:avLst/>
          </a:prstGeom>
          <a:noFill/>
          <a:ln/>
        </p:spPr>
        <p:txBody>
          <a:bodyPr wrap="square" lIns="0" tIns="0" rIns="0" bIns="0" rtlCol="0" anchor="t"/>
          <a:lstStyle/>
          <a:p>
            <a:pPr algn="ctr" indent="0" marL="0">
              <a:buNone/>
            </a:pPr>
            <a:r>
              <a:rPr lang="en-US" sz="900" dirty="0">
                <a:solidFill>
                  <a:srgbClr val="6F6F6A"/>
                </a:solidFill>
                <a:latin typeface="Courier New" pitchFamily="34" charset="0"/>
                <a:ea typeface="Courier New" pitchFamily="34" charset="-122"/>
                <a:cs typeface="Courier New" pitchFamily="34" charset="-120"/>
              </a:rPr>
              <a:t>FR</a:t>
            </a:r>
            <a:endParaRPr lang="en-US" sz="900" dirty="0"/>
          </a:p>
        </p:txBody>
      </p:sp>
      <p:sp>
        <p:nvSpPr>
          <p:cNvPr id="11" name="Text 9"/>
          <p:cNvSpPr txBox="1"/>
          <p:nvPr/>
        </p:nvSpPr>
        <p:spPr>
          <a:xfrm>
            <a:off x="7086600" y="1904695"/>
            <a:ext cx="335585" cy="198425"/>
          </a:xfrm>
          <a:prstGeom prst="rect">
            <a:avLst/>
          </a:prstGeom>
          <a:noFill/>
          <a:ln/>
        </p:spPr>
        <p:txBody>
          <a:bodyPr wrap="square" lIns="0" tIns="0" rIns="0" bIns="0" rtlCol="0" anchor="t"/>
          <a:lstStyle/>
          <a:p>
            <a:pPr algn="ctr" indent="0" marL="0">
              <a:buNone/>
            </a:pPr>
            <a:r>
              <a:rPr lang="en-US" sz="900" dirty="0">
                <a:solidFill>
                  <a:srgbClr val="6F6F6A"/>
                </a:solidFill>
                <a:latin typeface="Courier New" pitchFamily="34" charset="0"/>
                <a:ea typeface="Courier New" pitchFamily="34" charset="-122"/>
                <a:cs typeface="Courier New" pitchFamily="34" charset="-120"/>
              </a:rPr>
              <a:t>DE</a:t>
            </a:r>
            <a:endParaRPr lang="en-US" sz="900" dirty="0"/>
          </a:p>
        </p:txBody>
      </p:sp>
      <p:sp>
        <p:nvSpPr>
          <p:cNvPr id="12" name="Text 10"/>
          <p:cNvSpPr txBox="1"/>
          <p:nvPr/>
        </p:nvSpPr>
        <p:spPr>
          <a:xfrm>
            <a:off x="7528255" y="1904695"/>
            <a:ext cx="335585" cy="198425"/>
          </a:xfrm>
          <a:prstGeom prst="rect">
            <a:avLst/>
          </a:prstGeom>
          <a:noFill/>
          <a:ln/>
        </p:spPr>
        <p:txBody>
          <a:bodyPr wrap="square" lIns="0" tIns="0" rIns="0" bIns="0" rtlCol="0" anchor="t"/>
          <a:lstStyle/>
          <a:p>
            <a:pPr algn="ctr" indent="0" marL="0">
              <a:buNone/>
            </a:pPr>
            <a:r>
              <a:rPr lang="en-US" sz="900" dirty="0">
                <a:solidFill>
                  <a:srgbClr val="6F6F6A"/>
                </a:solidFill>
                <a:latin typeface="Courier New" pitchFamily="34" charset="0"/>
                <a:ea typeface="Courier New" pitchFamily="34" charset="-122"/>
                <a:cs typeface="Courier New" pitchFamily="34" charset="-120"/>
              </a:rPr>
              <a:t>GR</a:t>
            </a:r>
            <a:endParaRPr lang="en-US" sz="900" dirty="0"/>
          </a:p>
        </p:txBody>
      </p:sp>
      <p:sp>
        <p:nvSpPr>
          <p:cNvPr id="13" name="Text 11"/>
          <p:cNvSpPr txBox="1"/>
          <p:nvPr/>
        </p:nvSpPr>
        <p:spPr>
          <a:xfrm>
            <a:off x="7970825" y="1904695"/>
            <a:ext cx="335585" cy="198425"/>
          </a:xfrm>
          <a:prstGeom prst="rect">
            <a:avLst/>
          </a:prstGeom>
          <a:noFill/>
          <a:ln/>
        </p:spPr>
        <p:txBody>
          <a:bodyPr wrap="square" lIns="0" tIns="0" rIns="0" bIns="0" rtlCol="0" anchor="t"/>
          <a:lstStyle/>
          <a:p>
            <a:pPr algn="ctr" indent="0" marL="0">
              <a:buNone/>
            </a:pPr>
            <a:r>
              <a:rPr lang="en-US" sz="900" dirty="0">
                <a:solidFill>
                  <a:srgbClr val="6F6F6A"/>
                </a:solidFill>
                <a:latin typeface="Courier New" pitchFamily="34" charset="0"/>
                <a:ea typeface="Courier New" pitchFamily="34" charset="-122"/>
                <a:cs typeface="Courier New" pitchFamily="34" charset="-120"/>
              </a:rPr>
              <a:t>HU</a:t>
            </a:r>
            <a:endParaRPr lang="en-US" sz="900" dirty="0"/>
          </a:p>
        </p:txBody>
      </p:sp>
      <p:sp>
        <p:nvSpPr>
          <p:cNvPr id="14" name="Text 12"/>
          <p:cNvSpPr txBox="1"/>
          <p:nvPr/>
        </p:nvSpPr>
        <p:spPr>
          <a:xfrm>
            <a:off x="8412480" y="1904695"/>
            <a:ext cx="335585" cy="198425"/>
          </a:xfrm>
          <a:prstGeom prst="rect">
            <a:avLst/>
          </a:prstGeom>
          <a:noFill/>
          <a:ln/>
        </p:spPr>
        <p:txBody>
          <a:bodyPr wrap="square" lIns="0" tIns="0" rIns="0" bIns="0" rtlCol="0" anchor="t"/>
          <a:lstStyle/>
          <a:p>
            <a:pPr algn="ctr" indent="0" marL="0">
              <a:buNone/>
            </a:pPr>
            <a:r>
              <a:rPr lang="en-US" sz="900" dirty="0">
                <a:solidFill>
                  <a:srgbClr val="6F6F6A"/>
                </a:solidFill>
                <a:latin typeface="Courier New" pitchFamily="34" charset="0"/>
                <a:ea typeface="Courier New" pitchFamily="34" charset="-122"/>
                <a:cs typeface="Courier New" pitchFamily="34" charset="-120"/>
              </a:rPr>
              <a:t>IT</a:t>
            </a:r>
            <a:endParaRPr lang="en-US" sz="900" dirty="0"/>
          </a:p>
        </p:txBody>
      </p:sp>
      <p:sp>
        <p:nvSpPr>
          <p:cNvPr id="15" name="Text 13"/>
          <p:cNvSpPr txBox="1"/>
          <p:nvPr/>
        </p:nvSpPr>
        <p:spPr>
          <a:xfrm>
            <a:off x="8854135" y="1904695"/>
            <a:ext cx="335585" cy="198425"/>
          </a:xfrm>
          <a:prstGeom prst="rect">
            <a:avLst/>
          </a:prstGeom>
          <a:noFill/>
          <a:ln/>
        </p:spPr>
        <p:txBody>
          <a:bodyPr wrap="square" lIns="0" tIns="0" rIns="0" bIns="0" rtlCol="0" anchor="t"/>
          <a:lstStyle/>
          <a:p>
            <a:pPr algn="ctr" indent="0" marL="0">
              <a:buNone/>
            </a:pPr>
            <a:r>
              <a:rPr lang="en-US" sz="900" dirty="0">
                <a:solidFill>
                  <a:srgbClr val="6F6F6A"/>
                </a:solidFill>
                <a:latin typeface="Courier New" pitchFamily="34" charset="0"/>
                <a:ea typeface="Courier New" pitchFamily="34" charset="-122"/>
                <a:cs typeface="Courier New" pitchFamily="34" charset="-120"/>
              </a:rPr>
              <a:t>MT</a:t>
            </a:r>
            <a:endParaRPr lang="en-US" sz="900" dirty="0"/>
          </a:p>
        </p:txBody>
      </p:sp>
      <p:sp>
        <p:nvSpPr>
          <p:cNvPr id="16" name="Text 14"/>
          <p:cNvSpPr txBox="1"/>
          <p:nvPr/>
        </p:nvSpPr>
        <p:spPr>
          <a:xfrm>
            <a:off x="9296705" y="1904695"/>
            <a:ext cx="335585" cy="198425"/>
          </a:xfrm>
          <a:prstGeom prst="rect">
            <a:avLst/>
          </a:prstGeom>
          <a:noFill/>
          <a:ln/>
        </p:spPr>
        <p:txBody>
          <a:bodyPr wrap="square" lIns="0" tIns="0" rIns="0" bIns="0" rtlCol="0" anchor="t"/>
          <a:lstStyle/>
          <a:p>
            <a:pPr algn="ctr" indent="0" marL="0">
              <a:buNone/>
            </a:pPr>
            <a:r>
              <a:rPr lang="en-US" sz="900" dirty="0">
                <a:solidFill>
                  <a:srgbClr val="6F6F6A"/>
                </a:solidFill>
                <a:latin typeface="Courier New" pitchFamily="34" charset="0"/>
                <a:ea typeface="Courier New" pitchFamily="34" charset="-122"/>
                <a:cs typeface="Courier New" pitchFamily="34" charset="-120"/>
              </a:rPr>
              <a:t>NL</a:t>
            </a:r>
            <a:endParaRPr lang="en-US" sz="900" dirty="0"/>
          </a:p>
        </p:txBody>
      </p:sp>
      <p:sp>
        <p:nvSpPr>
          <p:cNvPr id="17" name="Text 15"/>
          <p:cNvSpPr txBox="1"/>
          <p:nvPr/>
        </p:nvSpPr>
        <p:spPr>
          <a:xfrm>
            <a:off x="9738360" y="1904695"/>
            <a:ext cx="335585" cy="198425"/>
          </a:xfrm>
          <a:prstGeom prst="rect">
            <a:avLst/>
          </a:prstGeom>
          <a:noFill/>
          <a:ln/>
        </p:spPr>
        <p:txBody>
          <a:bodyPr wrap="square" lIns="0" tIns="0" rIns="0" bIns="0" rtlCol="0" anchor="t"/>
          <a:lstStyle/>
          <a:p>
            <a:pPr algn="ctr" indent="0" marL="0">
              <a:buNone/>
            </a:pPr>
            <a:r>
              <a:rPr lang="en-US" sz="900" dirty="0">
                <a:solidFill>
                  <a:srgbClr val="6F6F6A"/>
                </a:solidFill>
                <a:latin typeface="Courier New" pitchFamily="34" charset="0"/>
                <a:ea typeface="Courier New" pitchFamily="34" charset="-122"/>
                <a:cs typeface="Courier New" pitchFamily="34" charset="-120"/>
              </a:rPr>
              <a:t>PL</a:t>
            </a:r>
            <a:endParaRPr lang="en-US" sz="900" dirty="0"/>
          </a:p>
        </p:txBody>
      </p:sp>
      <p:sp>
        <p:nvSpPr>
          <p:cNvPr id="18" name="Text 16"/>
          <p:cNvSpPr txBox="1"/>
          <p:nvPr/>
        </p:nvSpPr>
        <p:spPr>
          <a:xfrm>
            <a:off x="10180015" y="1904695"/>
            <a:ext cx="335585" cy="198425"/>
          </a:xfrm>
          <a:prstGeom prst="rect">
            <a:avLst/>
          </a:prstGeom>
          <a:noFill/>
          <a:ln/>
        </p:spPr>
        <p:txBody>
          <a:bodyPr wrap="square" lIns="0" tIns="0" rIns="0" bIns="0" rtlCol="0" anchor="t"/>
          <a:lstStyle/>
          <a:p>
            <a:pPr algn="ctr" indent="0" marL="0">
              <a:buNone/>
            </a:pPr>
            <a:r>
              <a:rPr lang="en-US" sz="900" dirty="0">
                <a:solidFill>
                  <a:srgbClr val="6F6F6A"/>
                </a:solidFill>
                <a:latin typeface="Courier New" pitchFamily="34" charset="0"/>
                <a:ea typeface="Courier New" pitchFamily="34" charset="-122"/>
                <a:cs typeface="Courier New" pitchFamily="34" charset="-120"/>
              </a:rPr>
              <a:t>PT</a:t>
            </a:r>
            <a:endParaRPr lang="en-US" sz="900" dirty="0"/>
          </a:p>
        </p:txBody>
      </p:sp>
      <p:sp>
        <p:nvSpPr>
          <p:cNvPr id="19" name="Text 17"/>
          <p:cNvSpPr txBox="1"/>
          <p:nvPr/>
        </p:nvSpPr>
        <p:spPr>
          <a:xfrm>
            <a:off x="10622585" y="1904695"/>
            <a:ext cx="335585" cy="198425"/>
          </a:xfrm>
          <a:prstGeom prst="rect">
            <a:avLst/>
          </a:prstGeom>
          <a:noFill/>
          <a:ln/>
        </p:spPr>
        <p:txBody>
          <a:bodyPr wrap="square" lIns="0" tIns="0" rIns="0" bIns="0" rtlCol="0" anchor="t"/>
          <a:lstStyle/>
          <a:p>
            <a:pPr algn="ctr" indent="0" marL="0">
              <a:buNone/>
            </a:pPr>
            <a:r>
              <a:rPr lang="en-US" sz="900" dirty="0">
                <a:solidFill>
                  <a:srgbClr val="6F6F6A"/>
                </a:solidFill>
                <a:latin typeface="Courier New" pitchFamily="34" charset="0"/>
                <a:ea typeface="Courier New" pitchFamily="34" charset="-122"/>
                <a:cs typeface="Courier New" pitchFamily="34" charset="-120"/>
              </a:rPr>
              <a:t>RO</a:t>
            </a:r>
            <a:endParaRPr lang="en-US" sz="900" dirty="0"/>
          </a:p>
        </p:txBody>
      </p:sp>
      <p:sp>
        <p:nvSpPr>
          <p:cNvPr id="20" name="Text 18"/>
          <p:cNvSpPr txBox="1"/>
          <p:nvPr/>
        </p:nvSpPr>
        <p:spPr>
          <a:xfrm>
            <a:off x="11064240" y="1904695"/>
            <a:ext cx="335585" cy="198425"/>
          </a:xfrm>
          <a:prstGeom prst="rect">
            <a:avLst/>
          </a:prstGeom>
          <a:noFill/>
          <a:ln/>
        </p:spPr>
        <p:txBody>
          <a:bodyPr wrap="square" lIns="0" tIns="0" rIns="0" bIns="0" rtlCol="0" anchor="t"/>
          <a:lstStyle/>
          <a:p>
            <a:pPr algn="ctr" indent="0" marL="0">
              <a:buNone/>
            </a:pPr>
            <a:r>
              <a:rPr lang="en-US" sz="900" dirty="0">
                <a:solidFill>
                  <a:srgbClr val="6F6F6A"/>
                </a:solidFill>
                <a:latin typeface="Courier New" pitchFamily="34" charset="0"/>
                <a:ea typeface="Courier New" pitchFamily="34" charset="-122"/>
                <a:cs typeface="Courier New" pitchFamily="34" charset="-120"/>
              </a:rPr>
              <a:t>ES</a:t>
            </a:r>
            <a:endParaRPr lang="en-US" sz="900" dirty="0"/>
          </a:p>
        </p:txBody>
      </p:sp>
      <p:sp>
        <p:nvSpPr>
          <p:cNvPr id="21" name="Text 19"/>
          <p:cNvSpPr txBox="1"/>
          <p:nvPr/>
        </p:nvSpPr>
        <p:spPr>
          <a:xfrm>
            <a:off x="3733495" y="2286000"/>
            <a:ext cx="1067105" cy="198425"/>
          </a:xfrm>
          <a:prstGeom prst="rect">
            <a:avLst/>
          </a:prstGeom>
          <a:noFill/>
          <a:ln/>
        </p:spPr>
        <p:txBody>
          <a:bodyPr wrap="square" lIns="0" tIns="0" rIns="0" bIns="0" rtlCol="0" anchor="t"/>
          <a:lstStyle/>
          <a:p>
            <a:pPr indent="0" marL="0">
              <a:buNone/>
            </a:pPr>
            <a:r>
              <a:rPr lang="en-US" sz="1000" dirty="0">
                <a:solidFill>
                  <a:srgbClr val="6F6F6A"/>
                </a:solidFill>
                <a:latin typeface="Roobert" pitchFamily="34" charset="0"/>
                <a:ea typeface="Roobert" pitchFamily="34" charset="-122"/>
                <a:cs typeface="Roobert" pitchFamily="34" charset="-120"/>
              </a:rPr>
              <a:t>Parliament</a:t>
            </a:r>
            <a:endParaRPr lang="en-US" sz="1000" dirty="0"/>
          </a:p>
        </p:txBody>
      </p:sp>
      <p:sp>
        <p:nvSpPr>
          <p:cNvPr id="22" name="AT Parliament 132943"/>
          <p:cNvSpPr/>
          <p:nvPr/>
        </p:nvSpPr>
        <p:spPr>
          <a:xfrm>
            <a:off x="4876495" y="2210105"/>
            <a:ext cx="335585" cy="335585"/>
          </a:xfrm>
          <a:prstGeom prst="ellipse">
            <a:avLst/>
          </a:prstGeom>
          <a:solidFill>
            <a:srgbClr val="132943"/>
          </a:solidFill>
          <a:ln w="6350">
            <a:solidFill>
              <a:srgbClr val="E2E1DC"/>
            </a:solidFill>
            <a:prstDash val="solid"/>
          </a:ln>
        </p:spPr>
      </p:sp>
      <p:sp>
        <p:nvSpPr>
          <p:cNvPr id="23" name="BE Parliament F4F4F4"/>
          <p:cNvSpPr/>
          <p:nvPr/>
        </p:nvSpPr>
        <p:spPr>
          <a:xfrm>
            <a:off x="5319065" y="2210105"/>
            <a:ext cx="335585" cy="335585"/>
          </a:xfrm>
          <a:prstGeom prst="ellipse">
            <a:avLst/>
          </a:prstGeom>
          <a:solidFill>
            <a:srgbClr val="F4F4F4"/>
          </a:solidFill>
          <a:ln w="28575">
            <a:solidFill>
              <a:srgbClr val="0B0C0C"/>
            </a:solidFill>
            <a:prstDash val="solid"/>
          </a:ln>
        </p:spPr>
      </p:sp>
      <p:sp>
        <p:nvSpPr>
          <p:cNvPr id="24" name="BG Parliament 142954"/>
          <p:cNvSpPr/>
          <p:nvPr/>
        </p:nvSpPr>
        <p:spPr>
          <a:xfrm>
            <a:off x="5760720" y="2210105"/>
            <a:ext cx="335585" cy="335585"/>
          </a:xfrm>
          <a:prstGeom prst="ellipse">
            <a:avLst/>
          </a:prstGeom>
          <a:solidFill>
            <a:srgbClr val="142954"/>
          </a:solidFill>
          <a:ln w="6350">
            <a:solidFill>
              <a:srgbClr val="E2E1DC"/>
            </a:solidFill>
            <a:prstDash val="solid"/>
          </a:ln>
        </p:spPr>
      </p:sp>
      <p:sp>
        <p:nvSpPr>
          <p:cNvPr id="25" name="CZ Parliament 3C71AC"/>
          <p:cNvSpPr/>
          <p:nvPr/>
        </p:nvSpPr>
        <p:spPr>
          <a:xfrm>
            <a:off x="6202375" y="2210105"/>
            <a:ext cx="335585" cy="335585"/>
          </a:xfrm>
          <a:prstGeom prst="ellipse">
            <a:avLst/>
          </a:prstGeom>
          <a:solidFill>
            <a:srgbClr val="3C71AC"/>
          </a:solidFill>
          <a:ln w="6350">
            <a:solidFill>
              <a:srgbClr val="E2E1DC"/>
            </a:solidFill>
            <a:prstDash val="solid"/>
          </a:ln>
        </p:spPr>
      </p:sp>
      <p:sp>
        <p:nvSpPr>
          <p:cNvPr id="26" name="FR Parliament 206BA7"/>
          <p:cNvSpPr/>
          <p:nvPr/>
        </p:nvSpPr>
        <p:spPr>
          <a:xfrm>
            <a:off x="6644945" y="2210105"/>
            <a:ext cx="335585" cy="335585"/>
          </a:xfrm>
          <a:prstGeom prst="ellipse">
            <a:avLst/>
          </a:prstGeom>
          <a:solidFill>
            <a:srgbClr val="206BA7"/>
          </a:solidFill>
          <a:ln w="6350">
            <a:solidFill>
              <a:srgbClr val="E2E1DC"/>
            </a:solidFill>
            <a:prstDash val="solid"/>
          </a:ln>
        </p:spPr>
      </p:sp>
      <p:sp>
        <p:nvSpPr>
          <p:cNvPr id="27" name="DE Parliament FFE300"/>
          <p:cNvSpPr/>
          <p:nvPr/>
        </p:nvSpPr>
        <p:spPr>
          <a:xfrm>
            <a:off x="7086600" y="2210105"/>
            <a:ext cx="335585" cy="335585"/>
          </a:xfrm>
          <a:prstGeom prst="ellipse">
            <a:avLst/>
          </a:prstGeom>
          <a:solidFill>
            <a:srgbClr val="FFE300"/>
          </a:solidFill>
          <a:ln w="28575">
            <a:solidFill>
              <a:srgbClr val="0B0C0C"/>
            </a:solidFill>
            <a:prstDash val="solid"/>
          </a:ln>
        </p:spPr>
      </p:sp>
      <p:sp>
        <p:nvSpPr>
          <p:cNvPr id="28" name="GR Parliament 416890"/>
          <p:cNvSpPr/>
          <p:nvPr/>
        </p:nvSpPr>
        <p:spPr>
          <a:xfrm>
            <a:off x="7528255" y="2210105"/>
            <a:ext cx="335585" cy="335585"/>
          </a:xfrm>
          <a:prstGeom prst="ellipse">
            <a:avLst/>
          </a:prstGeom>
          <a:solidFill>
            <a:srgbClr val="416890"/>
          </a:solidFill>
          <a:ln w="6350">
            <a:solidFill>
              <a:srgbClr val="E2E1DC"/>
            </a:solidFill>
            <a:prstDash val="solid"/>
          </a:ln>
        </p:spPr>
      </p:sp>
      <p:sp>
        <p:nvSpPr>
          <p:cNvPr id="29" name="HU Parliament CDAC8B"/>
          <p:cNvSpPr/>
          <p:nvPr/>
        </p:nvSpPr>
        <p:spPr>
          <a:xfrm>
            <a:off x="7970825" y="2210105"/>
            <a:ext cx="335585" cy="335585"/>
          </a:xfrm>
          <a:prstGeom prst="ellipse">
            <a:avLst/>
          </a:prstGeom>
          <a:solidFill>
            <a:srgbClr val="CDAC8B"/>
          </a:solidFill>
          <a:ln w="28575">
            <a:solidFill>
              <a:srgbClr val="0B0C0C"/>
            </a:solidFill>
            <a:prstDash val="solid"/>
          </a:ln>
        </p:spPr>
      </p:sp>
      <p:sp>
        <p:nvSpPr>
          <p:cNvPr id="30" name="IT Parliament 285493"/>
          <p:cNvSpPr/>
          <p:nvPr/>
        </p:nvSpPr>
        <p:spPr>
          <a:xfrm>
            <a:off x="8412480" y="2210105"/>
            <a:ext cx="335585" cy="335585"/>
          </a:xfrm>
          <a:prstGeom prst="ellipse">
            <a:avLst/>
          </a:prstGeom>
          <a:solidFill>
            <a:srgbClr val="285493"/>
          </a:solidFill>
          <a:ln w="6350">
            <a:solidFill>
              <a:srgbClr val="E2E1DC"/>
            </a:solidFill>
            <a:prstDash val="solid"/>
          </a:ln>
        </p:spPr>
      </p:sp>
      <p:sp>
        <p:nvSpPr>
          <p:cNvPr id="31" name="MT Parliament 1B594A"/>
          <p:cNvSpPr/>
          <p:nvPr/>
        </p:nvSpPr>
        <p:spPr>
          <a:xfrm>
            <a:off x="8854135" y="2210105"/>
            <a:ext cx="335585" cy="335585"/>
          </a:xfrm>
          <a:prstGeom prst="ellipse">
            <a:avLst/>
          </a:prstGeom>
          <a:solidFill>
            <a:srgbClr val="1B594A"/>
          </a:solidFill>
          <a:ln w="28575">
            <a:solidFill>
              <a:srgbClr val="0B0C0C"/>
            </a:solidFill>
            <a:prstDash val="solid"/>
          </a:ln>
        </p:spPr>
      </p:sp>
      <p:sp>
        <p:nvSpPr>
          <p:cNvPr id="32" name="NL Parliament 121469"/>
          <p:cNvSpPr/>
          <p:nvPr/>
        </p:nvSpPr>
        <p:spPr>
          <a:xfrm>
            <a:off x="9296705" y="2210105"/>
            <a:ext cx="335585" cy="335585"/>
          </a:xfrm>
          <a:prstGeom prst="ellipse">
            <a:avLst/>
          </a:prstGeom>
          <a:solidFill>
            <a:srgbClr val="121469"/>
          </a:solidFill>
          <a:ln w="6350">
            <a:solidFill>
              <a:srgbClr val="E2E1DC"/>
            </a:solidFill>
            <a:prstDash val="solid"/>
          </a:ln>
        </p:spPr>
      </p:sp>
      <p:sp>
        <p:nvSpPr>
          <p:cNvPr id="33" name="PL Parliament 2E5785"/>
          <p:cNvSpPr/>
          <p:nvPr/>
        </p:nvSpPr>
        <p:spPr>
          <a:xfrm>
            <a:off x="9738360" y="2210105"/>
            <a:ext cx="335585" cy="335585"/>
          </a:xfrm>
          <a:prstGeom prst="ellipse">
            <a:avLst/>
          </a:prstGeom>
          <a:solidFill>
            <a:srgbClr val="2E5785"/>
          </a:solidFill>
          <a:ln w="6350">
            <a:solidFill>
              <a:srgbClr val="E2E1DC"/>
            </a:solidFill>
            <a:prstDash val="solid"/>
          </a:ln>
        </p:spPr>
      </p:sp>
      <p:sp>
        <p:nvSpPr>
          <p:cNvPr id="34" name="PT Parliament 00828A"/>
          <p:cNvSpPr/>
          <p:nvPr/>
        </p:nvSpPr>
        <p:spPr>
          <a:xfrm>
            <a:off x="10180015" y="2210105"/>
            <a:ext cx="335585" cy="335585"/>
          </a:xfrm>
          <a:prstGeom prst="ellipse">
            <a:avLst/>
          </a:prstGeom>
          <a:solidFill>
            <a:srgbClr val="00828A"/>
          </a:solidFill>
          <a:ln w="28575">
            <a:solidFill>
              <a:srgbClr val="0B0C0C"/>
            </a:solidFill>
            <a:prstDash val="solid"/>
          </a:ln>
        </p:spPr>
      </p:sp>
      <p:sp>
        <p:nvSpPr>
          <p:cNvPr id="35" name="RO Parliament 551043"/>
          <p:cNvSpPr/>
          <p:nvPr/>
        </p:nvSpPr>
        <p:spPr>
          <a:xfrm>
            <a:off x="10622585" y="2210105"/>
            <a:ext cx="335585" cy="335585"/>
          </a:xfrm>
          <a:prstGeom prst="ellipse">
            <a:avLst/>
          </a:prstGeom>
          <a:solidFill>
            <a:srgbClr val="551043"/>
          </a:solidFill>
          <a:ln w="28575">
            <a:solidFill>
              <a:srgbClr val="0B0C0C"/>
            </a:solidFill>
            <a:prstDash val="solid"/>
          </a:ln>
        </p:spPr>
      </p:sp>
      <p:sp>
        <p:nvSpPr>
          <p:cNvPr id="36" name="ES Parliament 0D357B"/>
          <p:cNvSpPr/>
          <p:nvPr/>
        </p:nvSpPr>
        <p:spPr>
          <a:xfrm>
            <a:off x="11064240" y="2210105"/>
            <a:ext cx="335585" cy="335585"/>
          </a:xfrm>
          <a:prstGeom prst="ellipse">
            <a:avLst/>
          </a:prstGeom>
          <a:solidFill>
            <a:srgbClr val="0D357B"/>
          </a:solidFill>
          <a:ln w="6350">
            <a:solidFill>
              <a:srgbClr val="E2E1DC"/>
            </a:solidFill>
            <a:prstDash val="solid"/>
          </a:ln>
        </p:spPr>
      </p:sp>
      <p:sp>
        <p:nvSpPr>
          <p:cNvPr id="37" name="Text 35"/>
          <p:cNvSpPr txBox="1"/>
          <p:nvPr/>
        </p:nvSpPr>
        <p:spPr>
          <a:xfrm>
            <a:off x="3733495" y="2727655"/>
            <a:ext cx="1067105" cy="198425"/>
          </a:xfrm>
          <a:prstGeom prst="rect">
            <a:avLst/>
          </a:prstGeom>
          <a:noFill/>
          <a:ln/>
        </p:spPr>
        <p:txBody>
          <a:bodyPr wrap="square" lIns="0" tIns="0" rIns="0" bIns="0" rtlCol="0" anchor="t"/>
          <a:lstStyle/>
          <a:p>
            <a:pPr indent="0" marL="0">
              <a:buNone/>
            </a:pPr>
            <a:r>
              <a:rPr lang="en-US" sz="1000" dirty="0">
                <a:solidFill>
                  <a:srgbClr val="6F6F6A"/>
                </a:solidFill>
                <a:latin typeface="Roobert" pitchFamily="34" charset="0"/>
                <a:ea typeface="Roobert" pitchFamily="34" charset="-122"/>
                <a:cs typeface="Roobert" pitchFamily="34" charset="-120"/>
              </a:rPr>
              <a:t>Government</a:t>
            </a:r>
            <a:endParaRPr lang="en-US" sz="1000" dirty="0"/>
          </a:p>
        </p:txBody>
      </p:sp>
      <p:sp>
        <p:nvSpPr>
          <p:cNvPr id="38" name="AT Government 104166"/>
          <p:cNvSpPr/>
          <p:nvPr/>
        </p:nvSpPr>
        <p:spPr>
          <a:xfrm>
            <a:off x="4876495" y="2651760"/>
            <a:ext cx="335585" cy="335585"/>
          </a:xfrm>
          <a:prstGeom prst="ellipse">
            <a:avLst/>
          </a:prstGeom>
          <a:solidFill>
            <a:srgbClr val="104166"/>
          </a:solidFill>
          <a:ln w="6350">
            <a:solidFill>
              <a:srgbClr val="E2E1DC"/>
            </a:solidFill>
            <a:prstDash val="solid"/>
          </a:ln>
        </p:spPr>
      </p:sp>
      <p:sp>
        <p:nvSpPr>
          <p:cNvPr id="39" name="BE Government 3D7E97"/>
          <p:cNvSpPr/>
          <p:nvPr/>
        </p:nvSpPr>
        <p:spPr>
          <a:xfrm>
            <a:off x="5319065" y="2651760"/>
            <a:ext cx="335585" cy="335585"/>
          </a:xfrm>
          <a:prstGeom prst="ellipse">
            <a:avLst/>
          </a:prstGeom>
          <a:solidFill>
            <a:srgbClr val="3D7E97"/>
          </a:solidFill>
          <a:ln w="6350">
            <a:solidFill>
              <a:srgbClr val="E2E1DC"/>
            </a:solidFill>
            <a:prstDash val="solid"/>
          </a:ln>
        </p:spPr>
      </p:sp>
      <p:sp>
        <p:nvSpPr>
          <p:cNvPr id="40" name="BG Government 2E345F"/>
          <p:cNvSpPr/>
          <p:nvPr/>
        </p:nvSpPr>
        <p:spPr>
          <a:xfrm>
            <a:off x="5760720" y="2651760"/>
            <a:ext cx="335585" cy="335585"/>
          </a:xfrm>
          <a:prstGeom prst="ellipse">
            <a:avLst/>
          </a:prstGeom>
          <a:solidFill>
            <a:srgbClr val="2E345F"/>
          </a:solidFill>
          <a:ln w="6350">
            <a:solidFill>
              <a:srgbClr val="E2E1DC"/>
            </a:solidFill>
            <a:prstDash val="solid"/>
          </a:ln>
        </p:spPr>
      </p:sp>
      <p:sp>
        <p:nvSpPr>
          <p:cNvPr id="41" name="CZ Government 1F2046"/>
          <p:cNvSpPr/>
          <p:nvPr/>
        </p:nvSpPr>
        <p:spPr>
          <a:xfrm>
            <a:off x="6202375" y="2651760"/>
            <a:ext cx="335585" cy="335585"/>
          </a:xfrm>
          <a:prstGeom prst="ellipse">
            <a:avLst/>
          </a:prstGeom>
          <a:solidFill>
            <a:srgbClr val="1F2046"/>
          </a:solidFill>
          <a:ln w="6350">
            <a:solidFill>
              <a:srgbClr val="E2E1DC"/>
            </a:solidFill>
            <a:prstDash val="solid"/>
          </a:ln>
        </p:spPr>
      </p:sp>
      <p:sp>
        <p:nvSpPr>
          <p:cNvPr id="42" name="FR Government 000091"/>
          <p:cNvSpPr/>
          <p:nvPr/>
        </p:nvSpPr>
        <p:spPr>
          <a:xfrm>
            <a:off x="6644945" y="2651760"/>
            <a:ext cx="335585" cy="335585"/>
          </a:xfrm>
          <a:prstGeom prst="ellipse">
            <a:avLst/>
          </a:prstGeom>
          <a:solidFill>
            <a:srgbClr val="000091"/>
          </a:solidFill>
          <a:ln w="6350">
            <a:solidFill>
              <a:srgbClr val="E2E1DC"/>
            </a:solidFill>
            <a:prstDash val="solid"/>
          </a:ln>
        </p:spPr>
      </p:sp>
      <p:sp>
        <p:nvSpPr>
          <p:cNvPr id="43" name="DE Government FFFFFF"/>
          <p:cNvSpPr/>
          <p:nvPr/>
        </p:nvSpPr>
        <p:spPr>
          <a:xfrm>
            <a:off x="7086600" y="2651760"/>
            <a:ext cx="335585" cy="335585"/>
          </a:xfrm>
          <a:prstGeom prst="ellipse">
            <a:avLst/>
          </a:prstGeom>
          <a:solidFill>
            <a:srgbClr val="FFFFFF"/>
          </a:solidFill>
          <a:ln w="28575">
            <a:solidFill>
              <a:srgbClr val="0B0C0C"/>
            </a:solidFill>
            <a:prstDash val="solid"/>
          </a:ln>
        </p:spPr>
      </p:sp>
      <p:sp>
        <p:nvSpPr>
          <p:cNvPr id="44" name="GR Government 004B8D"/>
          <p:cNvSpPr/>
          <p:nvPr/>
        </p:nvSpPr>
        <p:spPr>
          <a:xfrm>
            <a:off x="7528255" y="2651760"/>
            <a:ext cx="335585" cy="335585"/>
          </a:xfrm>
          <a:prstGeom prst="ellipse">
            <a:avLst/>
          </a:prstGeom>
          <a:solidFill>
            <a:srgbClr val="004B8D"/>
          </a:solidFill>
          <a:ln w="6350">
            <a:solidFill>
              <a:srgbClr val="E2E1DC"/>
            </a:solidFill>
            <a:prstDash val="solid"/>
          </a:ln>
        </p:spPr>
      </p:sp>
      <p:sp>
        <p:nvSpPr>
          <p:cNvPr id="45" name="HU Government 0050A0"/>
          <p:cNvSpPr/>
          <p:nvPr/>
        </p:nvSpPr>
        <p:spPr>
          <a:xfrm>
            <a:off x="7970825" y="2651760"/>
            <a:ext cx="335585" cy="335585"/>
          </a:xfrm>
          <a:prstGeom prst="ellipse">
            <a:avLst/>
          </a:prstGeom>
          <a:solidFill>
            <a:srgbClr val="0050A0"/>
          </a:solidFill>
          <a:ln w="6350">
            <a:solidFill>
              <a:srgbClr val="E2E1DC"/>
            </a:solidFill>
            <a:prstDash val="solid"/>
          </a:ln>
        </p:spPr>
      </p:sp>
      <p:sp>
        <p:nvSpPr>
          <p:cNvPr id="46" name="IT Government 0066CC"/>
          <p:cNvSpPr/>
          <p:nvPr/>
        </p:nvSpPr>
        <p:spPr>
          <a:xfrm>
            <a:off x="8412480" y="2651760"/>
            <a:ext cx="335585" cy="335585"/>
          </a:xfrm>
          <a:prstGeom prst="ellipse">
            <a:avLst/>
          </a:prstGeom>
          <a:solidFill>
            <a:srgbClr val="0066CC"/>
          </a:solidFill>
          <a:ln w="6350">
            <a:solidFill>
              <a:srgbClr val="E2E1DC"/>
            </a:solidFill>
            <a:prstDash val="solid"/>
          </a:ln>
        </p:spPr>
      </p:sp>
      <p:sp>
        <p:nvSpPr>
          <p:cNvPr id="47" name="MT Government 36445F"/>
          <p:cNvSpPr/>
          <p:nvPr/>
        </p:nvSpPr>
        <p:spPr>
          <a:xfrm>
            <a:off x="8854135" y="2651760"/>
            <a:ext cx="335585" cy="335585"/>
          </a:xfrm>
          <a:prstGeom prst="ellipse">
            <a:avLst/>
          </a:prstGeom>
          <a:solidFill>
            <a:srgbClr val="36445F"/>
          </a:solidFill>
          <a:ln w="6350">
            <a:solidFill>
              <a:srgbClr val="E2E1DC"/>
            </a:solidFill>
            <a:prstDash val="solid"/>
          </a:ln>
        </p:spPr>
      </p:sp>
      <p:sp>
        <p:nvSpPr>
          <p:cNvPr id="48" name="NL Government 154273"/>
          <p:cNvSpPr/>
          <p:nvPr/>
        </p:nvSpPr>
        <p:spPr>
          <a:xfrm>
            <a:off x="9296705" y="2651760"/>
            <a:ext cx="335585" cy="335585"/>
          </a:xfrm>
          <a:prstGeom prst="ellipse">
            <a:avLst/>
          </a:prstGeom>
          <a:solidFill>
            <a:srgbClr val="154273"/>
          </a:solidFill>
          <a:ln w="6350">
            <a:solidFill>
              <a:srgbClr val="E2E1DC"/>
            </a:solidFill>
            <a:prstDash val="solid"/>
          </a:ln>
        </p:spPr>
      </p:sp>
      <p:sp>
        <p:nvSpPr>
          <p:cNvPr id="49" name="PL Government 0052A5"/>
          <p:cNvSpPr/>
          <p:nvPr/>
        </p:nvSpPr>
        <p:spPr>
          <a:xfrm>
            <a:off x="9738360" y="2651760"/>
            <a:ext cx="335585" cy="335585"/>
          </a:xfrm>
          <a:prstGeom prst="ellipse">
            <a:avLst/>
          </a:prstGeom>
          <a:solidFill>
            <a:srgbClr val="0052A5"/>
          </a:solidFill>
          <a:ln w="6350">
            <a:solidFill>
              <a:srgbClr val="E2E1DC"/>
            </a:solidFill>
            <a:prstDash val="solid"/>
          </a:ln>
        </p:spPr>
      </p:sp>
      <p:sp>
        <p:nvSpPr>
          <p:cNvPr id="50" name="PT Government 0D447C"/>
          <p:cNvSpPr/>
          <p:nvPr/>
        </p:nvSpPr>
        <p:spPr>
          <a:xfrm>
            <a:off x="10180015" y="2651760"/>
            <a:ext cx="335585" cy="335585"/>
          </a:xfrm>
          <a:prstGeom prst="ellipse">
            <a:avLst/>
          </a:prstGeom>
          <a:solidFill>
            <a:srgbClr val="0D447C"/>
          </a:solidFill>
          <a:ln w="6350">
            <a:solidFill>
              <a:srgbClr val="E2E1DC"/>
            </a:solidFill>
            <a:prstDash val="solid"/>
          </a:ln>
        </p:spPr>
      </p:sp>
      <p:sp>
        <p:nvSpPr>
          <p:cNvPr id="51" name="RO Government 990000"/>
          <p:cNvSpPr/>
          <p:nvPr/>
        </p:nvSpPr>
        <p:spPr>
          <a:xfrm>
            <a:off x="10622585" y="2651760"/>
            <a:ext cx="335585" cy="335585"/>
          </a:xfrm>
          <a:prstGeom prst="ellipse">
            <a:avLst/>
          </a:prstGeom>
          <a:solidFill>
            <a:srgbClr val="990000"/>
          </a:solidFill>
          <a:ln w="28575">
            <a:solidFill>
              <a:srgbClr val="0B0C0C"/>
            </a:solidFill>
            <a:prstDash val="solid"/>
          </a:ln>
        </p:spPr>
      </p:sp>
      <p:sp>
        <p:nvSpPr>
          <p:cNvPr id="52" name="ES Government 1A3850"/>
          <p:cNvSpPr/>
          <p:nvPr/>
        </p:nvSpPr>
        <p:spPr>
          <a:xfrm>
            <a:off x="11064240" y="2651760"/>
            <a:ext cx="335585" cy="335585"/>
          </a:xfrm>
          <a:prstGeom prst="ellipse">
            <a:avLst/>
          </a:prstGeom>
          <a:solidFill>
            <a:srgbClr val="1A3850"/>
          </a:solidFill>
          <a:ln w="6350">
            <a:solidFill>
              <a:srgbClr val="E2E1DC"/>
            </a:solidFill>
            <a:prstDash val="solid"/>
          </a:ln>
        </p:spPr>
      </p:sp>
      <p:sp>
        <p:nvSpPr>
          <p:cNvPr id="53" name="Text 51"/>
          <p:cNvSpPr txBox="1"/>
          <p:nvPr/>
        </p:nvSpPr>
        <p:spPr>
          <a:xfrm>
            <a:off x="3733495" y="3170225"/>
            <a:ext cx="1067105" cy="198425"/>
          </a:xfrm>
          <a:prstGeom prst="rect">
            <a:avLst/>
          </a:prstGeom>
          <a:noFill/>
          <a:ln/>
        </p:spPr>
        <p:txBody>
          <a:bodyPr wrap="square" lIns="0" tIns="0" rIns="0" bIns="0" rtlCol="0" anchor="t"/>
          <a:lstStyle/>
          <a:p>
            <a:pPr indent="0" marL="0">
              <a:buNone/>
            </a:pPr>
            <a:r>
              <a:rPr lang="en-US" sz="1000" dirty="0">
                <a:solidFill>
                  <a:srgbClr val="6F6F6A"/>
                </a:solidFill>
                <a:latin typeface="Roobert" pitchFamily="34" charset="0"/>
                <a:ea typeface="Roobert" pitchFamily="34" charset="-122"/>
                <a:cs typeface="Roobert" pitchFamily="34" charset="-120"/>
              </a:rPr>
              <a:t>Enforcement</a:t>
            </a:r>
            <a:endParaRPr lang="en-US" sz="1000" dirty="0"/>
          </a:p>
        </p:txBody>
      </p:sp>
      <p:sp>
        <p:nvSpPr>
          <p:cNvPr id="54" name="AT Police A22C1C"/>
          <p:cNvSpPr/>
          <p:nvPr/>
        </p:nvSpPr>
        <p:spPr>
          <a:xfrm>
            <a:off x="4876495" y="3093415"/>
            <a:ext cx="335585" cy="335585"/>
          </a:xfrm>
          <a:prstGeom prst="ellipse">
            <a:avLst/>
          </a:prstGeom>
          <a:solidFill>
            <a:srgbClr val="A22C1C"/>
          </a:solidFill>
          <a:ln w="28575">
            <a:solidFill>
              <a:srgbClr val="0B0C0C"/>
            </a:solidFill>
            <a:prstDash val="solid"/>
          </a:ln>
        </p:spPr>
      </p:sp>
      <p:sp>
        <p:nvSpPr>
          <p:cNvPr id="55" name="BE Police 004D9F"/>
          <p:cNvSpPr/>
          <p:nvPr/>
        </p:nvSpPr>
        <p:spPr>
          <a:xfrm>
            <a:off x="5319065" y="3093415"/>
            <a:ext cx="335585" cy="335585"/>
          </a:xfrm>
          <a:prstGeom prst="ellipse">
            <a:avLst/>
          </a:prstGeom>
          <a:solidFill>
            <a:srgbClr val="004D9F"/>
          </a:solidFill>
          <a:ln w="6350">
            <a:solidFill>
              <a:srgbClr val="E2E1DC"/>
            </a:solidFill>
            <a:prstDash val="solid"/>
          </a:ln>
        </p:spPr>
      </p:sp>
      <p:sp>
        <p:nvSpPr>
          <p:cNvPr id="56" name="BG Police 04375E"/>
          <p:cNvSpPr/>
          <p:nvPr/>
        </p:nvSpPr>
        <p:spPr>
          <a:xfrm>
            <a:off x="5760720" y="3093415"/>
            <a:ext cx="335585" cy="335585"/>
          </a:xfrm>
          <a:prstGeom prst="ellipse">
            <a:avLst/>
          </a:prstGeom>
          <a:solidFill>
            <a:srgbClr val="04375E"/>
          </a:solidFill>
          <a:ln w="6350">
            <a:solidFill>
              <a:srgbClr val="E2E1DC"/>
            </a:solidFill>
            <a:prstDash val="solid"/>
          </a:ln>
        </p:spPr>
      </p:sp>
      <p:sp>
        <p:nvSpPr>
          <p:cNvPr id="57" name="CZ Police 015EBC"/>
          <p:cNvSpPr/>
          <p:nvPr/>
        </p:nvSpPr>
        <p:spPr>
          <a:xfrm>
            <a:off x="6202375" y="3093415"/>
            <a:ext cx="335585" cy="335585"/>
          </a:xfrm>
          <a:prstGeom prst="ellipse">
            <a:avLst/>
          </a:prstGeom>
          <a:solidFill>
            <a:srgbClr val="015EBC"/>
          </a:solidFill>
          <a:ln w="6350">
            <a:solidFill>
              <a:srgbClr val="E2E1DC"/>
            </a:solidFill>
            <a:prstDash val="solid"/>
          </a:ln>
        </p:spPr>
      </p:sp>
      <p:sp>
        <p:nvSpPr>
          <p:cNvPr id="58" name="FR Police 000091"/>
          <p:cNvSpPr/>
          <p:nvPr/>
        </p:nvSpPr>
        <p:spPr>
          <a:xfrm>
            <a:off x="6644945" y="3093415"/>
            <a:ext cx="335585" cy="335585"/>
          </a:xfrm>
          <a:prstGeom prst="ellipse">
            <a:avLst/>
          </a:prstGeom>
          <a:solidFill>
            <a:srgbClr val="000091"/>
          </a:solidFill>
          <a:ln w="6350">
            <a:solidFill>
              <a:srgbClr val="E2E1DC"/>
            </a:solidFill>
            <a:prstDash val="solid"/>
          </a:ln>
        </p:spPr>
      </p:sp>
      <p:sp>
        <p:nvSpPr>
          <p:cNvPr id="59" name="DE Police 0055A5"/>
          <p:cNvSpPr/>
          <p:nvPr/>
        </p:nvSpPr>
        <p:spPr>
          <a:xfrm>
            <a:off x="7086600" y="3093415"/>
            <a:ext cx="335585" cy="335585"/>
          </a:xfrm>
          <a:prstGeom prst="ellipse">
            <a:avLst/>
          </a:prstGeom>
          <a:solidFill>
            <a:srgbClr val="0055A5"/>
          </a:solidFill>
          <a:ln w="6350">
            <a:solidFill>
              <a:srgbClr val="E2E1DC"/>
            </a:solidFill>
            <a:prstDash val="solid"/>
          </a:ln>
        </p:spPr>
      </p:sp>
      <p:sp>
        <p:nvSpPr>
          <p:cNvPr id="60" name="GR Police 28449A"/>
          <p:cNvSpPr/>
          <p:nvPr/>
        </p:nvSpPr>
        <p:spPr>
          <a:xfrm>
            <a:off x="7528255" y="3093415"/>
            <a:ext cx="335585" cy="335585"/>
          </a:xfrm>
          <a:prstGeom prst="ellipse">
            <a:avLst/>
          </a:prstGeom>
          <a:solidFill>
            <a:srgbClr val="28449A"/>
          </a:solidFill>
          <a:ln w="6350">
            <a:solidFill>
              <a:srgbClr val="E2E1DC"/>
            </a:solidFill>
            <a:prstDash val="solid"/>
          </a:ln>
        </p:spPr>
      </p:sp>
      <p:sp>
        <p:nvSpPr>
          <p:cNvPr id="61" name="HU Police 0B2D6C"/>
          <p:cNvSpPr/>
          <p:nvPr/>
        </p:nvSpPr>
        <p:spPr>
          <a:xfrm>
            <a:off x="7970825" y="3093415"/>
            <a:ext cx="335585" cy="335585"/>
          </a:xfrm>
          <a:prstGeom prst="ellipse">
            <a:avLst/>
          </a:prstGeom>
          <a:solidFill>
            <a:srgbClr val="0B2D6C"/>
          </a:solidFill>
          <a:ln w="6350">
            <a:solidFill>
              <a:srgbClr val="E2E1DC"/>
            </a:solidFill>
            <a:prstDash val="solid"/>
          </a:ln>
        </p:spPr>
      </p:sp>
      <p:sp>
        <p:nvSpPr>
          <p:cNvPr id="62" name="IT Anti-corruption 0077BE"/>
          <p:cNvSpPr/>
          <p:nvPr/>
        </p:nvSpPr>
        <p:spPr>
          <a:xfrm>
            <a:off x="8412480" y="3093415"/>
            <a:ext cx="335585" cy="335585"/>
          </a:xfrm>
          <a:prstGeom prst="ellipse">
            <a:avLst/>
          </a:prstGeom>
          <a:solidFill>
            <a:srgbClr val="0077BE"/>
          </a:solidFill>
          <a:ln w="6350">
            <a:solidFill>
              <a:srgbClr val="E2E1DC"/>
            </a:solidFill>
            <a:prstDash val="solid"/>
          </a:ln>
        </p:spPr>
      </p:sp>
      <p:sp>
        <p:nvSpPr>
          <p:cNvPr id="63" name="MT Police 202020"/>
          <p:cNvSpPr/>
          <p:nvPr/>
        </p:nvSpPr>
        <p:spPr>
          <a:xfrm>
            <a:off x="8854135" y="3093415"/>
            <a:ext cx="335585" cy="335585"/>
          </a:xfrm>
          <a:prstGeom prst="ellipse">
            <a:avLst/>
          </a:prstGeom>
          <a:solidFill>
            <a:srgbClr val="202020"/>
          </a:solidFill>
          <a:ln w="28575">
            <a:solidFill>
              <a:srgbClr val="0B0C0C"/>
            </a:solidFill>
            <a:prstDash val="solid"/>
          </a:ln>
        </p:spPr>
      </p:sp>
      <p:sp>
        <p:nvSpPr>
          <p:cNvPr id="64" name="NL Police 004682"/>
          <p:cNvSpPr/>
          <p:nvPr/>
        </p:nvSpPr>
        <p:spPr>
          <a:xfrm>
            <a:off x="9296705" y="3093415"/>
            <a:ext cx="335585" cy="335585"/>
          </a:xfrm>
          <a:prstGeom prst="ellipse">
            <a:avLst/>
          </a:prstGeom>
          <a:solidFill>
            <a:srgbClr val="004682"/>
          </a:solidFill>
          <a:ln w="6350">
            <a:solidFill>
              <a:srgbClr val="E2E1DC"/>
            </a:solidFill>
            <a:prstDash val="solid"/>
          </a:ln>
        </p:spPr>
      </p:sp>
      <p:sp>
        <p:nvSpPr>
          <p:cNvPr id="65" name="PL Anti-corruption B90022"/>
          <p:cNvSpPr/>
          <p:nvPr/>
        </p:nvSpPr>
        <p:spPr>
          <a:xfrm>
            <a:off x="9738360" y="3093415"/>
            <a:ext cx="335585" cy="335585"/>
          </a:xfrm>
          <a:prstGeom prst="ellipse">
            <a:avLst/>
          </a:prstGeom>
          <a:solidFill>
            <a:srgbClr val="B90022"/>
          </a:solidFill>
          <a:ln w="28575">
            <a:solidFill>
              <a:srgbClr val="0B0C0C"/>
            </a:solidFill>
            <a:prstDash val="solid"/>
          </a:ln>
        </p:spPr>
      </p:sp>
      <p:sp>
        <p:nvSpPr>
          <p:cNvPr id="66" name="PT Prosecution C92123"/>
          <p:cNvSpPr/>
          <p:nvPr/>
        </p:nvSpPr>
        <p:spPr>
          <a:xfrm>
            <a:off x="10180015" y="3093415"/>
            <a:ext cx="335585" cy="335585"/>
          </a:xfrm>
          <a:prstGeom prst="ellipse">
            <a:avLst/>
          </a:prstGeom>
          <a:solidFill>
            <a:srgbClr val="C92123"/>
          </a:solidFill>
          <a:ln w="28575">
            <a:solidFill>
              <a:srgbClr val="0B0C0C"/>
            </a:solidFill>
            <a:prstDash val="solid"/>
          </a:ln>
        </p:spPr>
      </p:sp>
      <p:sp>
        <p:nvSpPr>
          <p:cNvPr id="67" name="RO Anti-corruption 002C53"/>
          <p:cNvSpPr/>
          <p:nvPr/>
        </p:nvSpPr>
        <p:spPr>
          <a:xfrm>
            <a:off x="10622585" y="3093415"/>
            <a:ext cx="335585" cy="335585"/>
          </a:xfrm>
          <a:prstGeom prst="ellipse">
            <a:avLst/>
          </a:prstGeom>
          <a:solidFill>
            <a:srgbClr val="002C53"/>
          </a:solidFill>
          <a:ln w="6350">
            <a:solidFill>
              <a:srgbClr val="E2E1DC"/>
            </a:solidFill>
            <a:prstDash val="solid"/>
          </a:ln>
        </p:spPr>
      </p:sp>
      <p:sp>
        <p:nvSpPr>
          <p:cNvPr id="68" name="ES Police 001538"/>
          <p:cNvSpPr/>
          <p:nvPr/>
        </p:nvSpPr>
        <p:spPr>
          <a:xfrm>
            <a:off x="11064240" y="3093415"/>
            <a:ext cx="335585" cy="335585"/>
          </a:xfrm>
          <a:prstGeom prst="ellipse">
            <a:avLst/>
          </a:prstGeom>
          <a:solidFill>
            <a:srgbClr val="001538"/>
          </a:solidFill>
          <a:ln w="6350">
            <a:solidFill>
              <a:srgbClr val="E2E1DC"/>
            </a:solidFill>
            <a:prstDash val="solid"/>
          </a:ln>
        </p:spPr>
      </p:sp>
      <p:sp>
        <p:nvSpPr>
          <p:cNvPr id="69" name="Text 67"/>
          <p:cNvSpPr txBox="1"/>
          <p:nvPr/>
        </p:nvSpPr>
        <p:spPr>
          <a:xfrm>
            <a:off x="4876495" y="5943600"/>
            <a:ext cx="4572000" cy="228600"/>
          </a:xfrm>
          <a:prstGeom prst="rect">
            <a:avLst/>
          </a:prstGeom>
          <a:noFill/>
          <a:ln/>
        </p:spPr>
        <p:txBody>
          <a:bodyPr wrap="square" lIns="0" tIns="0" rIns="0" bIns="0" rtlCol="0" anchor="t"/>
          <a:lstStyle/>
          <a:p>
            <a:pPr indent="0" marL="0">
              <a:buNone/>
            </a:pPr>
            <a:r>
              <a:rPr lang="en-US" sz="1200" dirty="0">
                <a:solidFill>
                  <a:srgbClr val="6F6F6A"/>
                </a:solidFill>
                <a:latin typeface="Roobert" pitchFamily="34" charset="0"/>
                <a:ea typeface="Roobert" pitchFamily="34" charset="-122"/>
                <a:cs typeface="Roobert" pitchFamily="34" charset="-120"/>
              </a:rPr>
              <a:t>Ringed: the ones that didn't.</a:t>
            </a:r>
            <a:endParaRPr lang="en-US" sz="12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61695"/>
          </a:xfrm>
          <a:prstGeom prst="rect">
            <a:avLst/>
          </a:prstGeom>
          <a:noFill/>
          <a:ln/>
        </p:spPr>
        <p:txBody>
          <a:bodyPr wrap="square" lIns="0" tIns="0" rIns="0" bIns="0" rtlCol="0" anchor="b"/>
          <a:lstStyle/>
          <a:p>
            <a:pPr algn="l" indent="0" marL="0">
              <a:buNone/>
            </a:pPr>
            <a:r>
              <a:rPr lang="en-US" sz="4100" dirty="0">
                <a:solidFill>
                  <a:schemeClr val="tx1"/>
                </a:solidFill>
              </a:rPr>
              <a:t>The state would rather look authorless</a:t>
            </a:r>
            <a:endParaRPr lang="en-US" sz="4100" dirty="0"/>
          </a:p>
        </p:txBody>
      </p:sp>
      <p:sp>
        <p:nvSpPr>
          <p:cNvPr id="3" name="Text 1"/>
          <p:cNvSpPr txBox="1"/>
          <p:nvPr/>
        </p:nvSpPr>
        <p:spPr>
          <a:xfrm>
            <a:off x="548640" y="1561795"/>
            <a:ext cx="9144000" cy="274320"/>
          </a:xfrm>
          <a:prstGeom prst="rect">
            <a:avLst/>
          </a:prstGeom>
          <a:noFill/>
          <a:ln/>
        </p:spPr>
        <p:txBody>
          <a:bodyPr wrap="square" lIns="0" tIns="0" rIns="0" bIns="0" rtlCol="0" anchor="t"/>
          <a:lstStyle/>
          <a:p>
            <a:pPr indent="0" marL="0">
              <a:buNone/>
            </a:pPr>
            <a:r>
              <a:rPr lang="en-US" sz="1400" dirty="0">
                <a:solidFill>
                  <a:srgbClr val="6F6F6A"/>
                </a:solidFill>
                <a:latin typeface="Roobert" pitchFamily="34" charset="0"/>
                <a:ea typeface="Roobert" pitchFamily="34" charset="-122"/>
                <a:cs typeface="Roobert" pitchFamily="34" charset="-120"/>
              </a:rPr>
              <a:t>Most common body typeface across the 45 sites.</a:t>
            </a:r>
            <a:endParaRPr lang="en-US" sz="1400" dirty="0"/>
          </a:p>
        </p:txBody>
      </p:sp>
      <p:sp>
        <p:nvSpPr>
          <p:cNvPr id="4" name="Top typeface"/>
          <p:cNvSpPr txBox="1"/>
          <p:nvPr/>
        </p:nvSpPr>
        <p:spPr>
          <a:xfrm>
            <a:off x="548640" y="2210105"/>
            <a:ext cx="5181905" cy="1524305"/>
          </a:xfrm>
          <a:prstGeom prst="rect">
            <a:avLst/>
          </a:prstGeom>
          <a:noFill/>
          <a:ln/>
        </p:spPr>
        <p:txBody>
          <a:bodyPr wrap="square" lIns="0" tIns="0" rIns="0" bIns="0" rtlCol="0" anchor="t"/>
          <a:lstStyle/>
          <a:p>
            <a:pPr indent="0" marL="0">
              <a:buNone/>
            </a:pPr>
            <a:r>
              <a:rPr lang="en-US" sz="10800" dirty="0">
                <a:solidFill>
                  <a:schemeClr val="tx1"/>
                </a:solidFill>
                <a:latin typeface="Roboto" pitchFamily="34" charset="0"/>
                <a:ea typeface="Roboto" pitchFamily="34" charset="-122"/>
                <a:cs typeface="Roboto" pitchFamily="34" charset="-120"/>
              </a:rPr>
              <a:t>Roboto</a:t>
            </a:r>
            <a:endParaRPr lang="en-US" sz="10800" dirty="0"/>
          </a:p>
        </p:txBody>
      </p:sp>
      <p:sp>
        <p:nvSpPr>
          <p:cNvPr id="5" name="Text 3"/>
          <p:cNvSpPr txBox="1"/>
          <p:nvPr/>
        </p:nvSpPr>
        <p:spPr>
          <a:xfrm>
            <a:off x="609905" y="3962095"/>
            <a:ext cx="4572000" cy="761695"/>
          </a:xfrm>
          <a:prstGeom prst="rect">
            <a:avLst/>
          </a:prstGeom>
          <a:noFill/>
          <a:ln/>
        </p:spPr>
        <p:txBody>
          <a:bodyPr wrap="square" lIns="0" tIns="0" rIns="0" bIns="0" rtlCol="0" anchor="t"/>
          <a:lstStyle/>
          <a:p>
            <a:pPr indent="0" marL="0">
              <a:buNone/>
            </a:pPr>
            <a:r>
              <a:rPr lang="en-US" sz="1700" dirty="0">
                <a:solidFill>
                  <a:schemeClr val="tx1"/>
                </a:solidFill>
                <a:latin typeface="Roobert" pitchFamily="34" charset="0"/>
                <a:ea typeface="Roobert" pitchFamily="34" charset="-122"/>
                <a:cs typeface="Roobert" pitchFamily="34" charset="-120"/>
              </a:rPr>
              <a:t>Google's house typeface. Body text on 7 of the 45 sites, ahead of Arial.</a:t>
            </a:r>
            <a:endParaRPr lang="en-US" sz="1700" dirty="0"/>
          </a:p>
        </p:txBody>
      </p:sp>
      <p:graphicFrame>
        <p:nvGraphicFramePr>
          <p:cNvPr id="6" name="Typeface count chart" descr=""/>
          <p:cNvGraphicFramePr/>
          <p:nvPr/>
        </p:nvGraphicFramePr>
        <p:xfrm>
          <a:off x="5790895" y="2057400"/>
          <a:ext cx="5943600" cy="3047695"/>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61695"/>
          </a:xfrm>
          <a:prstGeom prst="rect">
            <a:avLst/>
          </a:prstGeom>
          <a:noFill/>
          <a:ln/>
        </p:spPr>
        <p:txBody>
          <a:bodyPr wrap="square" lIns="0" tIns="0" rIns="0" bIns="0" rtlCol="0" anchor="b"/>
          <a:lstStyle/>
          <a:p>
            <a:pPr algn="l" indent="0" marL="0">
              <a:buNone/>
            </a:pPr>
            <a:r>
              <a:rPr lang="en-US" sz="4100" dirty="0">
                <a:solidFill>
                  <a:schemeClr val="tx1"/>
                </a:solidFill>
              </a:rPr>
              <a:t>Some states write their type into the rules</a:t>
            </a:r>
            <a:endParaRPr lang="en-US" sz="4100" dirty="0"/>
          </a:p>
        </p:txBody>
      </p:sp>
      <p:pic>
        <p:nvPicPr>
          <p:cNvPr id="3" name="Screenshot France" descr="France government site">    </p:cNvPr>
          <p:cNvPicPr>
            <a:picLocks noChangeAspect="1"/>
          </p:cNvPicPr>
          <p:nvPr/>
        </p:nvPicPr>
        <p:blipFill>
          <a:blip r:embed="rId1"/>
          <a:stretch>
            <a:fillRect/>
          </a:stretch>
        </p:blipFill>
        <p:spPr>
          <a:xfrm>
            <a:off x="548640" y="2057400"/>
            <a:ext cx="3047695" cy="2286000"/>
          </a:xfrm>
          <a:prstGeom prst="rect">
            <a:avLst/>
          </a:prstGeom>
        </p:spPr>
      </p:pic>
      <p:sp>
        <p:nvSpPr>
          <p:cNvPr id="4" name="Text 1"/>
          <p:cNvSpPr txBox="1"/>
          <p:nvPr/>
        </p:nvSpPr>
        <p:spPr>
          <a:xfrm>
            <a:off x="548640" y="4450385"/>
            <a:ext cx="3047695" cy="457200"/>
          </a:xfrm>
          <a:prstGeom prst="rect">
            <a:avLst/>
          </a:prstGeom>
          <a:noFill/>
          <a:ln/>
        </p:spPr>
        <p:txBody>
          <a:bodyPr wrap="square" lIns="0" tIns="0" rIns="0" bIns="0" rtlCol="0" anchor="t"/>
          <a:lstStyle/>
          <a:p>
            <a:pPr indent="0" marL="0">
              <a:buNone/>
            </a:pPr>
            <a:r>
              <a:rPr lang="en-US" sz="1400" dirty="0">
                <a:solidFill>
                  <a:schemeClr val="tx1"/>
                </a:solidFill>
                <a:latin typeface="Roobert" pitchFamily="34" charset="0"/>
                <a:ea typeface="Roobert" pitchFamily="34" charset="-122"/>
                <a:cs typeface="Roobert" pitchFamily="34" charset="-120"/>
              </a:rPr>
              <a:t>Système de Design de l'État</a:t>
            </a:r>
            <a:endParaRPr lang="en-US" sz="1400" dirty="0"/>
          </a:p>
        </p:txBody>
      </p:sp>
      <p:sp>
        <p:nvSpPr>
          <p:cNvPr id="5" name="Shape 2"/>
          <p:cNvSpPr/>
          <p:nvPr/>
        </p:nvSpPr>
        <p:spPr>
          <a:xfrm>
            <a:off x="548640" y="4967935"/>
            <a:ext cx="137160" cy="137160"/>
          </a:xfrm>
          <a:prstGeom prst="ellipse">
            <a:avLst/>
          </a:prstGeom>
          <a:solidFill>
            <a:srgbClr val="000091"/>
          </a:solidFill>
          <a:ln/>
        </p:spPr>
      </p:sp>
      <p:sp>
        <p:nvSpPr>
          <p:cNvPr id="6" name="Text 3"/>
          <p:cNvSpPr txBox="1"/>
          <p:nvPr/>
        </p:nvSpPr>
        <p:spPr>
          <a:xfrm>
            <a:off x="761695" y="4922215"/>
            <a:ext cx="2834640" cy="228600"/>
          </a:xfrm>
          <a:prstGeom prst="rect">
            <a:avLst/>
          </a:prstGeom>
          <a:noFill/>
          <a:ln/>
        </p:spPr>
        <p:txBody>
          <a:bodyPr wrap="square" lIns="0" tIns="0" rIns="0" bIns="0" rtlCol="0" anchor="t"/>
          <a:lstStyle/>
          <a:p>
            <a:pPr indent="0" marL="0">
              <a:buNone/>
            </a:pPr>
            <a:r>
              <a:rPr lang="en-US" sz="1100" dirty="0">
                <a:solidFill>
                  <a:srgbClr val="6F6F6A"/>
                </a:solidFill>
                <a:latin typeface="Roobert" pitchFamily="34" charset="0"/>
                <a:ea typeface="Roobert" pitchFamily="34" charset="-122"/>
                <a:cs typeface="Roobert" pitchFamily="34" charset="-120"/>
              </a:rPr>
              <a:t>France · Marianne</a:t>
            </a:r>
            <a:endParaRPr lang="en-US" sz="1100" dirty="0"/>
          </a:p>
        </p:txBody>
      </p:sp>
      <p:pic>
        <p:nvPicPr>
          <p:cNvPr id="7" name="Screenshot Italy" descr="Italy government site">    </p:cNvPr>
          <p:cNvPicPr>
            <a:picLocks noChangeAspect="1"/>
          </p:cNvPicPr>
          <p:nvPr/>
        </p:nvPicPr>
        <p:blipFill>
          <a:blip r:embed="rId2"/>
          <a:stretch>
            <a:fillRect/>
          </a:stretch>
        </p:blipFill>
        <p:spPr>
          <a:xfrm>
            <a:off x="3779215" y="2514600"/>
            <a:ext cx="2438705" cy="1828800"/>
          </a:xfrm>
          <a:prstGeom prst="rect">
            <a:avLst/>
          </a:prstGeom>
        </p:spPr>
      </p:pic>
      <p:sp>
        <p:nvSpPr>
          <p:cNvPr id="8" name="Text 4"/>
          <p:cNvSpPr txBox="1"/>
          <p:nvPr/>
        </p:nvSpPr>
        <p:spPr>
          <a:xfrm>
            <a:off x="3779215" y="4450385"/>
            <a:ext cx="2438705" cy="457200"/>
          </a:xfrm>
          <a:prstGeom prst="rect">
            <a:avLst/>
          </a:prstGeom>
          <a:noFill/>
          <a:ln/>
        </p:spPr>
        <p:txBody>
          <a:bodyPr wrap="square" lIns="0" tIns="0" rIns="0" bIns="0" rtlCol="0" anchor="t"/>
          <a:lstStyle/>
          <a:p>
            <a:pPr indent="0" marL="0">
              <a:buNone/>
            </a:pPr>
            <a:r>
              <a:rPr lang="en-US" sz="1400" dirty="0">
                <a:solidFill>
                  <a:schemeClr val="tx1"/>
                </a:solidFill>
                <a:latin typeface="Roobert" pitchFamily="34" charset="0"/>
                <a:ea typeface="Roobert" pitchFamily="34" charset="-122"/>
                <a:cs typeface="Roobert" pitchFamily="34" charset="-120"/>
              </a:rPr>
              <a:t>Bootstrap Italia</a:t>
            </a:r>
            <a:endParaRPr lang="en-US" sz="1400" dirty="0"/>
          </a:p>
        </p:txBody>
      </p:sp>
      <p:sp>
        <p:nvSpPr>
          <p:cNvPr id="9" name="Shape 5"/>
          <p:cNvSpPr/>
          <p:nvPr/>
        </p:nvSpPr>
        <p:spPr>
          <a:xfrm>
            <a:off x="3779215" y="4967935"/>
            <a:ext cx="137160" cy="137160"/>
          </a:xfrm>
          <a:prstGeom prst="ellipse">
            <a:avLst/>
          </a:prstGeom>
          <a:solidFill>
            <a:srgbClr val="0066CC"/>
          </a:solidFill>
          <a:ln/>
        </p:spPr>
      </p:sp>
      <p:sp>
        <p:nvSpPr>
          <p:cNvPr id="10" name="Text 6"/>
          <p:cNvSpPr txBox="1"/>
          <p:nvPr/>
        </p:nvSpPr>
        <p:spPr>
          <a:xfrm>
            <a:off x="3993185" y="4922215"/>
            <a:ext cx="2224735" cy="228600"/>
          </a:xfrm>
          <a:prstGeom prst="rect">
            <a:avLst/>
          </a:prstGeom>
          <a:noFill/>
          <a:ln/>
        </p:spPr>
        <p:txBody>
          <a:bodyPr wrap="square" lIns="0" tIns="0" rIns="0" bIns="0" rtlCol="0" anchor="t"/>
          <a:lstStyle/>
          <a:p>
            <a:pPr indent="0" marL="0">
              <a:buNone/>
            </a:pPr>
            <a:r>
              <a:rPr lang="en-US" sz="1100" dirty="0">
                <a:solidFill>
                  <a:srgbClr val="6F6F6A"/>
                </a:solidFill>
                <a:latin typeface="Roobert" pitchFamily="34" charset="0"/>
                <a:ea typeface="Roobert" pitchFamily="34" charset="-122"/>
                <a:cs typeface="Roobert" pitchFamily="34" charset="-120"/>
              </a:rPr>
              <a:t>Italy · Titillium Web</a:t>
            </a:r>
            <a:endParaRPr lang="en-US" sz="1100" dirty="0"/>
          </a:p>
        </p:txBody>
      </p:sp>
      <p:pic>
        <p:nvPicPr>
          <p:cNvPr id="11" name="Screenshot Germany" descr="Germany government site">    </p:cNvPr>
          <p:cNvPicPr>
            <a:picLocks noChangeAspect="1"/>
          </p:cNvPicPr>
          <p:nvPr/>
        </p:nvPicPr>
        <p:blipFill>
          <a:blip r:embed="rId3"/>
          <a:stretch>
            <a:fillRect/>
          </a:stretch>
        </p:blipFill>
        <p:spPr>
          <a:xfrm>
            <a:off x="6400800" y="2057400"/>
            <a:ext cx="2438705" cy="2286000"/>
          </a:xfrm>
          <a:prstGeom prst="rect">
            <a:avLst/>
          </a:prstGeom>
        </p:spPr>
      </p:pic>
      <p:sp>
        <p:nvSpPr>
          <p:cNvPr id="12" name="Text 7"/>
          <p:cNvSpPr txBox="1"/>
          <p:nvPr/>
        </p:nvSpPr>
        <p:spPr>
          <a:xfrm>
            <a:off x="6400800" y="4450385"/>
            <a:ext cx="2438705" cy="457200"/>
          </a:xfrm>
          <a:prstGeom prst="rect">
            <a:avLst/>
          </a:prstGeom>
          <a:noFill/>
          <a:ln/>
        </p:spPr>
        <p:txBody>
          <a:bodyPr wrap="square" lIns="0" tIns="0" rIns="0" bIns="0" rtlCol="0" anchor="t"/>
          <a:lstStyle/>
          <a:p>
            <a:pPr indent="0" marL="0">
              <a:buNone/>
            </a:pPr>
            <a:r>
              <a:rPr lang="en-US" sz="1400" dirty="0">
                <a:solidFill>
                  <a:schemeClr val="tx1"/>
                </a:solidFill>
                <a:latin typeface="Roobert" pitchFamily="34" charset="0"/>
                <a:ea typeface="Roobert" pitchFamily="34" charset="-122"/>
                <a:cs typeface="Roobert" pitchFamily="34" charset="-120"/>
              </a:rPr>
              <a:t>Corporate Design der Bundesregierung</a:t>
            </a:r>
            <a:endParaRPr lang="en-US" sz="1400" dirty="0"/>
          </a:p>
        </p:txBody>
      </p:sp>
      <p:sp>
        <p:nvSpPr>
          <p:cNvPr id="13" name="Shape 8"/>
          <p:cNvSpPr/>
          <p:nvPr/>
        </p:nvSpPr>
        <p:spPr>
          <a:xfrm>
            <a:off x="6400800" y="4967935"/>
            <a:ext cx="137160" cy="137160"/>
          </a:xfrm>
          <a:prstGeom prst="ellipse">
            <a:avLst/>
          </a:prstGeom>
          <a:solidFill>
            <a:srgbClr val="0055A5"/>
          </a:solidFill>
          <a:ln/>
        </p:spPr>
      </p:sp>
      <p:sp>
        <p:nvSpPr>
          <p:cNvPr id="14" name="Text 9"/>
          <p:cNvSpPr txBox="1"/>
          <p:nvPr/>
        </p:nvSpPr>
        <p:spPr>
          <a:xfrm>
            <a:off x="6613855" y="4922215"/>
            <a:ext cx="2224735" cy="228600"/>
          </a:xfrm>
          <a:prstGeom prst="rect">
            <a:avLst/>
          </a:prstGeom>
          <a:noFill/>
          <a:ln/>
        </p:spPr>
        <p:txBody>
          <a:bodyPr wrap="square" lIns="0" tIns="0" rIns="0" bIns="0" rtlCol="0" anchor="t"/>
          <a:lstStyle/>
          <a:p>
            <a:pPr indent="0" marL="0">
              <a:buNone/>
            </a:pPr>
            <a:r>
              <a:rPr lang="en-US" sz="1100" dirty="0">
                <a:solidFill>
                  <a:srgbClr val="6F6F6A"/>
                </a:solidFill>
                <a:latin typeface="Roobert" pitchFamily="34" charset="0"/>
                <a:ea typeface="Roobert" pitchFamily="34" charset="-122"/>
                <a:cs typeface="Roobert" pitchFamily="34" charset="-120"/>
              </a:rPr>
              <a:t>Germany · BundesSans</a:t>
            </a:r>
            <a:endParaRPr lang="en-US" sz="1100" dirty="0"/>
          </a:p>
        </p:txBody>
      </p:sp>
      <p:pic>
        <p:nvPicPr>
          <p:cNvPr id="15" name="Screenshot Netherlands" descr="Netherlands government site">    </p:cNvPr>
          <p:cNvPicPr>
            <a:picLocks noChangeAspect="1"/>
          </p:cNvPicPr>
          <p:nvPr/>
        </p:nvPicPr>
        <p:blipFill>
          <a:blip r:embed="rId4"/>
          <a:stretch>
            <a:fillRect/>
          </a:stretch>
        </p:blipFill>
        <p:spPr>
          <a:xfrm>
            <a:off x="9022385" y="2514600"/>
            <a:ext cx="3047695" cy="1828800"/>
          </a:xfrm>
          <a:prstGeom prst="rect">
            <a:avLst/>
          </a:prstGeom>
        </p:spPr>
      </p:pic>
      <p:sp>
        <p:nvSpPr>
          <p:cNvPr id="16" name="Text 10"/>
          <p:cNvSpPr txBox="1"/>
          <p:nvPr/>
        </p:nvSpPr>
        <p:spPr>
          <a:xfrm>
            <a:off x="9022385" y="4450385"/>
            <a:ext cx="3047695" cy="457200"/>
          </a:xfrm>
          <a:prstGeom prst="rect">
            <a:avLst/>
          </a:prstGeom>
          <a:noFill/>
          <a:ln/>
        </p:spPr>
        <p:txBody>
          <a:bodyPr wrap="square" lIns="0" tIns="0" rIns="0" bIns="0" rtlCol="0" anchor="t"/>
          <a:lstStyle/>
          <a:p>
            <a:pPr indent="0" marL="0">
              <a:buNone/>
            </a:pPr>
            <a:r>
              <a:rPr lang="en-US" sz="1400" dirty="0">
                <a:solidFill>
                  <a:schemeClr val="tx1"/>
                </a:solidFill>
                <a:latin typeface="Roobert" pitchFamily="34" charset="0"/>
                <a:ea typeface="Roobert" pitchFamily="34" charset="-122"/>
                <a:cs typeface="Roobert" pitchFamily="34" charset="-120"/>
              </a:rPr>
              <a:t>Rijkshuisstijl</a:t>
            </a:r>
            <a:endParaRPr lang="en-US" sz="1400" dirty="0"/>
          </a:p>
        </p:txBody>
      </p:sp>
      <p:sp>
        <p:nvSpPr>
          <p:cNvPr id="17" name="Shape 11"/>
          <p:cNvSpPr/>
          <p:nvPr/>
        </p:nvSpPr>
        <p:spPr>
          <a:xfrm>
            <a:off x="9022385" y="4967935"/>
            <a:ext cx="137160" cy="137160"/>
          </a:xfrm>
          <a:prstGeom prst="ellipse">
            <a:avLst/>
          </a:prstGeom>
          <a:solidFill>
            <a:srgbClr val="154273"/>
          </a:solidFill>
          <a:ln/>
        </p:spPr>
      </p:sp>
      <p:sp>
        <p:nvSpPr>
          <p:cNvPr id="18" name="Text 12"/>
          <p:cNvSpPr txBox="1"/>
          <p:nvPr/>
        </p:nvSpPr>
        <p:spPr>
          <a:xfrm>
            <a:off x="9235440" y="4922215"/>
            <a:ext cx="2834640" cy="228600"/>
          </a:xfrm>
          <a:prstGeom prst="rect">
            <a:avLst/>
          </a:prstGeom>
          <a:noFill/>
          <a:ln/>
        </p:spPr>
        <p:txBody>
          <a:bodyPr wrap="square" lIns="0" tIns="0" rIns="0" bIns="0" rtlCol="0" anchor="t"/>
          <a:lstStyle/>
          <a:p>
            <a:pPr indent="0" marL="0">
              <a:buNone/>
            </a:pPr>
            <a:r>
              <a:rPr lang="en-US" sz="1100" dirty="0">
                <a:solidFill>
                  <a:srgbClr val="6F6F6A"/>
                </a:solidFill>
                <a:latin typeface="Roobert" pitchFamily="34" charset="0"/>
                <a:ea typeface="Roobert" pitchFamily="34" charset="-122"/>
                <a:cs typeface="Roobert" pitchFamily="34" charset="-120"/>
              </a:rPr>
              <a:t>Netherlands · RijksSans</a:t>
            </a:r>
            <a:endParaRPr lang="en-US" sz="11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creenshot" descr="congreso.es — Congreso de los Diputados, Spain">    </p:cNvPr>
          <p:cNvPicPr>
            <a:picLocks noChangeAspect="1"/>
          </p:cNvPicPr>
          <p:nvPr/>
        </p:nvPicPr>
        <p:blipFill>
          <a:blip r:embed="rId1"/>
          <a:stretch>
            <a:fillRect/>
          </a:stretch>
        </p:blipFill>
        <p:spPr>
          <a:xfrm>
            <a:off x="0" y="0"/>
            <a:ext cx="6858000" cy="6858000"/>
          </a:xfrm>
          <a:prstGeom prst="rect">
            <a:avLst/>
          </a:prstGeom>
        </p:spPr>
      </p:pic>
      <p:sp>
        <p:nvSpPr>
          <p:cNvPr id="3" name="Title"/>
          <p:cNvSpPr txBox="1"/>
          <p:nvPr/>
        </p:nvSpPr>
        <p:spPr>
          <a:xfrm>
            <a:off x="7391095" y="685800"/>
            <a:ext cx="4267505" cy="1067105"/>
          </a:xfrm>
          <a:prstGeom prst="rect">
            <a:avLst/>
          </a:prstGeom>
          <a:noFill/>
          <a:ln/>
        </p:spPr>
        <p:txBody>
          <a:bodyPr wrap="square" lIns="0" tIns="0" rIns="0" bIns="0" rtlCol="0" anchor="t"/>
          <a:lstStyle/>
          <a:p>
            <a:pPr indent="0" marL="0">
              <a:buNone/>
            </a:pPr>
            <a:r>
              <a:rPr lang="en-US" sz="3400" dirty="0">
                <a:solidFill>
                  <a:schemeClr val="tx1"/>
                </a:solidFill>
                <a:latin typeface="Roobert" pitchFamily="34" charset="0"/>
                <a:ea typeface="Roobert" pitchFamily="34" charset="-122"/>
                <a:cs typeface="Roobert" pitchFamily="34" charset="-120"/>
              </a:rPr>
              <a:t>The furniture of legitimacy</a:t>
            </a:r>
            <a:endParaRPr lang="en-US" sz="3400" dirty="0"/>
          </a:p>
        </p:txBody>
      </p:sp>
      <p:sp>
        <p:nvSpPr>
          <p:cNvPr id="4" name="Shape 1"/>
          <p:cNvSpPr/>
          <p:nvPr/>
        </p:nvSpPr>
        <p:spPr>
          <a:xfrm>
            <a:off x="7391095" y="1904695"/>
            <a:ext cx="4267505" cy="0"/>
          </a:xfrm>
          <a:prstGeom prst="line">
            <a:avLst/>
          </a:prstGeom>
          <a:noFill/>
          <a:ln w="9525">
            <a:solidFill>
              <a:srgbClr val="C9C7BE"/>
            </a:solidFill>
            <a:prstDash val="solid"/>
          </a:ln>
        </p:spPr>
      </p:sp>
      <p:sp>
        <p:nvSpPr>
          <p:cNvPr id="5" name="Shape 2"/>
          <p:cNvSpPr/>
          <p:nvPr/>
        </p:nvSpPr>
        <p:spPr>
          <a:xfrm>
            <a:off x="7391095" y="2011680"/>
            <a:ext cx="228600" cy="228600"/>
          </a:xfrm>
          <a:prstGeom prst="ellipse">
            <a:avLst/>
          </a:prstGeom>
          <a:solidFill>
            <a:schemeClr val="accent1"/>
          </a:solidFill>
          <a:ln/>
        </p:spPr>
      </p:sp>
      <p:sp>
        <p:nvSpPr>
          <p:cNvPr id="6" name="Text 3"/>
          <p:cNvSpPr txBox="1"/>
          <p:nvPr/>
        </p:nvSpPr>
        <p:spPr>
          <a:xfrm>
            <a:off x="7391095" y="2011680"/>
            <a:ext cx="228600" cy="228600"/>
          </a:xfrm>
          <a:prstGeom prst="rect">
            <a:avLst/>
          </a:prstGeom>
          <a:noFill/>
          <a:ln/>
        </p:spPr>
        <p:txBody>
          <a:bodyPr wrap="square" lIns="0" tIns="0" rIns="0" bIns="0" rtlCol="0" anchor="ctr"/>
          <a:lstStyle/>
          <a:p>
            <a:pPr algn="ctr" indent="0" marL="0">
              <a:buNone/>
            </a:pPr>
            <a:r>
              <a:rPr lang="en-US" sz="1000" dirty="0">
                <a:solidFill>
                  <a:schemeClr val="tx1"/>
                </a:solidFill>
                <a:latin typeface="Roobert" pitchFamily="34" charset="0"/>
                <a:ea typeface="Roobert" pitchFamily="34" charset="-122"/>
                <a:cs typeface="Roobert" pitchFamily="34" charset="-120"/>
              </a:rPr>
              <a:t>1</a:t>
            </a:r>
            <a:endParaRPr lang="en-US" sz="1000" dirty="0"/>
          </a:p>
        </p:txBody>
      </p:sp>
      <p:sp>
        <p:nvSpPr>
          <p:cNvPr id="7" name="Text 4"/>
          <p:cNvSpPr txBox="1"/>
          <p:nvPr/>
        </p:nvSpPr>
        <p:spPr>
          <a:xfrm>
            <a:off x="7756855" y="1996135"/>
            <a:ext cx="3901745" cy="320040"/>
          </a:xfrm>
          <a:prstGeom prst="rect">
            <a:avLst/>
          </a:prstGeom>
          <a:noFill/>
          <a:ln/>
        </p:spPr>
        <p:txBody>
          <a:bodyPr wrap="square" lIns="0" tIns="0" rIns="0" bIns="0" rtlCol="0" anchor="t"/>
          <a:lstStyle/>
          <a:p>
            <a:pPr indent="0" marL="0">
              <a:buNone/>
            </a:pPr>
            <a:r>
              <a:rPr lang="en-US" sz="1300" dirty="0">
                <a:solidFill>
                  <a:schemeClr val="tx1"/>
                </a:solidFill>
                <a:latin typeface="Roobert" pitchFamily="34" charset="0"/>
                <a:ea typeface="Roobert" pitchFamily="34" charset="-122"/>
                <a:cs typeface="Roobert" pitchFamily="34" charset="-120"/>
              </a:rPr>
              <a:t>Crest, top left. Always.</a:t>
            </a:r>
            <a:endParaRPr lang="en-US" sz="1300" dirty="0"/>
          </a:p>
        </p:txBody>
      </p:sp>
      <p:sp>
        <p:nvSpPr>
          <p:cNvPr id="8" name="Shape 5"/>
          <p:cNvSpPr/>
          <p:nvPr/>
        </p:nvSpPr>
        <p:spPr>
          <a:xfrm>
            <a:off x="7391095" y="2347265"/>
            <a:ext cx="4267505" cy="0"/>
          </a:xfrm>
          <a:prstGeom prst="line">
            <a:avLst/>
          </a:prstGeom>
          <a:noFill/>
          <a:ln w="9525">
            <a:solidFill>
              <a:srgbClr val="C9C7BE"/>
            </a:solidFill>
            <a:prstDash val="solid"/>
          </a:ln>
        </p:spPr>
      </p:sp>
      <p:sp>
        <p:nvSpPr>
          <p:cNvPr id="9" name="Shape 6"/>
          <p:cNvSpPr/>
          <p:nvPr/>
        </p:nvSpPr>
        <p:spPr>
          <a:xfrm>
            <a:off x="7391095" y="2453335"/>
            <a:ext cx="228600" cy="228600"/>
          </a:xfrm>
          <a:prstGeom prst="ellipse">
            <a:avLst/>
          </a:prstGeom>
          <a:solidFill>
            <a:schemeClr val="accent1"/>
          </a:solidFill>
          <a:ln/>
        </p:spPr>
      </p:sp>
      <p:sp>
        <p:nvSpPr>
          <p:cNvPr id="10" name="Text 7"/>
          <p:cNvSpPr txBox="1"/>
          <p:nvPr/>
        </p:nvSpPr>
        <p:spPr>
          <a:xfrm>
            <a:off x="7391095" y="2453335"/>
            <a:ext cx="228600" cy="228600"/>
          </a:xfrm>
          <a:prstGeom prst="rect">
            <a:avLst/>
          </a:prstGeom>
          <a:noFill/>
          <a:ln/>
        </p:spPr>
        <p:txBody>
          <a:bodyPr wrap="square" lIns="0" tIns="0" rIns="0" bIns="0" rtlCol="0" anchor="ctr"/>
          <a:lstStyle/>
          <a:p>
            <a:pPr algn="ctr" indent="0" marL="0">
              <a:buNone/>
            </a:pPr>
            <a:r>
              <a:rPr lang="en-US" sz="1000" dirty="0">
                <a:solidFill>
                  <a:schemeClr val="tx1"/>
                </a:solidFill>
                <a:latin typeface="Roobert" pitchFamily="34" charset="0"/>
                <a:ea typeface="Roobert" pitchFamily="34" charset="-122"/>
                <a:cs typeface="Roobert" pitchFamily="34" charset="-120"/>
              </a:rPr>
              <a:t>2</a:t>
            </a:r>
            <a:endParaRPr lang="en-US" sz="1000" dirty="0"/>
          </a:p>
        </p:txBody>
      </p:sp>
      <p:sp>
        <p:nvSpPr>
          <p:cNvPr id="11" name="Text 8"/>
          <p:cNvSpPr txBox="1"/>
          <p:nvPr/>
        </p:nvSpPr>
        <p:spPr>
          <a:xfrm>
            <a:off x="7756855" y="2438705"/>
            <a:ext cx="3901745" cy="320040"/>
          </a:xfrm>
          <a:prstGeom prst="rect">
            <a:avLst/>
          </a:prstGeom>
          <a:noFill/>
          <a:ln/>
        </p:spPr>
        <p:txBody>
          <a:bodyPr wrap="square" lIns="0" tIns="0" rIns="0" bIns="0" rtlCol="0" anchor="t"/>
          <a:lstStyle/>
          <a:p>
            <a:pPr indent="0" marL="0">
              <a:buNone/>
            </a:pPr>
            <a:r>
              <a:rPr lang="en-US" sz="1300" dirty="0">
                <a:solidFill>
                  <a:schemeClr val="tx1"/>
                </a:solidFill>
                <a:latin typeface="Roobert" pitchFamily="34" charset="0"/>
                <a:ea typeface="Roobert" pitchFamily="34" charset="-122"/>
                <a:cs typeface="Roobert" pitchFamily="34" charset="-120"/>
              </a:rPr>
              <a:t>A welcome in five languages.</a:t>
            </a:r>
            <a:endParaRPr lang="en-US" sz="1300" dirty="0"/>
          </a:p>
        </p:txBody>
      </p:sp>
      <p:sp>
        <p:nvSpPr>
          <p:cNvPr id="12" name="Shape 9"/>
          <p:cNvSpPr/>
          <p:nvPr/>
        </p:nvSpPr>
        <p:spPr>
          <a:xfrm>
            <a:off x="7391095" y="2788920"/>
            <a:ext cx="4267505" cy="0"/>
          </a:xfrm>
          <a:prstGeom prst="line">
            <a:avLst/>
          </a:prstGeom>
          <a:noFill/>
          <a:ln w="9525">
            <a:solidFill>
              <a:srgbClr val="C9C7BE"/>
            </a:solidFill>
            <a:prstDash val="solid"/>
          </a:ln>
        </p:spPr>
      </p:sp>
      <p:sp>
        <p:nvSpPr>
          <p:cNvPr id="13" name="Shape 10"/>
          <p:cNvSpPr/>
          <p:nvPr/>
        </p:nvSpPr>
        <p:spPr>
          <a:xfrm>
            <a:off x="7391095" y="2895905"/>
            <a:ext cx="228600" cy="228600"/>
          </a:xfrm>
          <a:prstGeom prst="ellipse">
            <a:avLst/>
          </a:prstGeom>
          <a:solidFill>
            <a:schemeClr val="accent1"/>
          </a:solidFill>
          <a:ln/>
        </p:spPr>
      </p:sp>
      <p:sp>
        <p:nvSpPr>
          <p:cNvPr id="14" name="Text 11"/>
          <p:cNvSpPr txBox="1"/>
          <p:nvPr/>
        </p:nvSpPr>
        <p:spPr>
          <a:xfrm>
            <a:off x="7391095" y="2895905"/>
            <a:ext cx="228600" cy="228600"/>
          </a:xfrm>
          <a:prstGeom prst="rect">
            <a:avLst/>
          </a:prstGeom>
          <a:noFill/>
          <a:ln/>
        </p:spPr>
        <p:txBody>
          <a:bodyPr wrap="square" lIns="0" tIns="0" rIns="0" bIns="0" rtlCol="0" anchor="ctr"/>
          <a:lstStyle/>
          <a:p>
            <a:pPr algn="ctr" indent="0" marL="0">
              <a:buNone/>
            </a:pPr>
            <a:r>
              <a:rPr lang="en-US" sz="1000" dirty="0">
                <a:solidFill>
                  <a:schemeClr val="tx1"/>
                </a:solidFill>
                <a:latin typeface="Roobert" pitchFamily="34" charset="0"/>
                <a:ea typeface="Roobert" pitchFamily="34" charset="-122"/>
                <a:cs typeface="Roobert" pitchFamily="34" charset="-120"/>
              </a:rPr>
              <a:t>3</a:t>
            </a:r>
            <a:endParaRPr lang="en-US" sz="1000" dirty="0"/>
          </a:p>
        </p:txBody>
      </p:sp>
      <p:sp>
        <p:nvSpPr>
          <p:cNvPr id="15" name="Text 12"/>
          <p:cNvSpPr txBox="1"/>
          <p:nvPr/>
        </p:nvSpPr>
        <p:spPr>
          <a:xfrm>
            <a:off x="7756855" y="2880360"/>
            <a:ext cx="3901745" cy="320040"/>
          </a:xfrm>
          <a:prstGeom prst="rect">
            <a:avLst/>
          </a:prstGeom>
          <a:noFill/>
          <a:ln/>
        </p:spPr>
        <p:txBody>
          <a:bodyPr wrap="square" lIns="0" tIns="0" rIns="0" bIns="0" rtlCol="0" anchor="t"/>
          <a:lstStyle/>
          <a:p>
            <a:pPr indent="0" marL="0">
              <a:buNone/>
            </a:pPr>
            <a:r>
              <a:rPr lang="en-US" sz="1300" dirty="0">
                <a:solidFill>
                  <a:schemeClr val="tx1"/>
                </a:solidFill>
                <a:latin typeface="Roobert" pitchFamily="34" charset="0"/>
                <a:ea typeface="Roobert" pitchFamily="34" charset="-122"/>
                <a:cs typeface="Roobert" pitchFamily="34" charset="-120"/>
              </a:rPr>
              <a:t>Breadcrumb that starts at Home.</a:t>
            </a:r>
            <a:endParaRPr lang="en-US" sz="1300" dirty="0"/>
          </a:p>
        </p:txBody>
      </p:sp>
      <p:sp>
        <p:nvSpPr>
          <p:cNvPr id="16" name="Shape 13"/>
          <p:cNvSpPr/>
          <p:nvPr/>
        </p:nvSpPr>
        <p:spPr>
          <a:xfrm>
            <a:off x="7391095" y="3230575"/>
            <a:ext cx="4267505" cy="0"/>
          </a:xfrm>
          <a:prstGeom prst="line">
            <a:avLst/>
          </a:prstGeom>
          <a:noFill/>
          <a:ln w="9525">
            <a:solidFill>
              <a:srgbClr val="C9C7BE"/>
            </a:solidFill>
            <a:prstDash val="solid"/>
          </a:ln>
        </p:spPr>
      </p:sp>
      <p:sp>
        <p:nvSpPr>
          <p:cNvPr id="17" name="Shape 14"/>
          <p:cNvSpPr/>
          <p:nvPr/>
        </p:nvSpPr>
        <p:spPr>
          <a:xfrm>
            <a:off x="7391095" y="3337560"/>
            <a:ext cx="228600" cy="228600"/>
          </a:xfrm>
          <a:prstGeom prst="ellipse">
            <a:avLst/>
          </a:prstGeom>
          <a:solidFill>
            <a:schemeClr val="accent1"/>
          </a:solidFill>
          <a:ln/>
        </p:spPr>
      </p:sp>
      <p:sp>
        <p:nvSpPr>
          <p:cNvPr id="18" name="Text 15"/>
          <p:cNvSpPr txBox="1"/>
          <p:nvPr/>
        </p:nvSpPr>
        <p:spPr>
          <a:xfrm>
            <a:off x="7391095" y="3337560"/>
            <a:ext cx="228600" cy="228600"/>
          </a:xfrm>
          <a:prstGeom prst="rect">
            <a:avLst/>
          </a:prstGeom>
          <a:noFill/>
          <a:ln/>
        </p:spPr>
        <p:txBody>
          <a:bodyPr wrap="square" lIns="0" tIns="0" rIns="0" bIns="0" rtlCol="0" anchor="ctr"/>
          <a:lstStyle/>
          <a:p>
            <a:pPr algn="ctr" indent="0" marL="0">
              <a:buNone/>
            </a:pPr>
            <a:r>
              <a:rPr lang="en-US" sz="1000" dirty="0">
                <a:solidFill>
                  <a:schemeClr val="tx1"/>
                </a:solidFill>
                <a:latin typeface="Roobert" pitchFamily="34" charset="0"/>
                <a:ea typeface="Roobert" pitchFamily="34" charset="-122"/>
                <a:cs typeface="Roobert" pitchFamily="34" charset="-120"/>
              </a:rPr>
              <a:t>4</a:t>
            </a:r>
            <a:endParaRPr lang="en-US" sz="1000" dirty="0"/>
          </a:p>
        </p:txBody>
      </p:sp>
      <p:sp>
        <p:nvSpPr>
          <p:cNvPr id="19" name="Text 16"/>
          <p:cNvSpPr txBox="1"/>
          <p:nvPr/>
        </p:nvSpPr>
        <p:spPr>
          <a:xfrm>
            <a:off x="7756855" y="3322015"/>
            <a:ext cx="3901745" cy="320040"/>
          </a:xfrm>
          <a:prstGeom prst="rect">
            <a:avLst/>
          </a:prstGeom>
          <a:noFill/>
          <a:ln/>
        </p:spPr>
        <p:txBody>
          <a:bodyPr wrap="square" lIns="0" tIns="0" rIns="0" bIns="0" rtlCol="0" anchor="t"/>
          <a:lstStyle/>
          <a:p>
            <a:pPr indent="0" marL="0">
              <a:buNone/>
            </a:pPr>
            <a:r>
              <a:rPr lang="en-US" sz="1300" dirty="0">
                <a:solidFill>
                  <a:schemeClr val="tx1"/>
                </a:solidFill>
                <a:latin typeface="Roobert" pitchFamily="34" charset="0"/>
                <a:ea typeface="Roobert" pitchFamily="34" charset="-122"/>
                <a:cs typeface="Roobert" pitchFamily="34" charset="-120"/>
              </a:rPr>
              <a:t>Accessibility link in the footer.</a:t>
            </a:r>
            <a:endParaRPr lang="en-US" sz="1300" dirty="0"/>
          </a:p>
        </p:txBody>
      </p:sp>
      <p:sp>
        <p:nvSpPr>
          <p:cNvPr id="20" name="Shape 17"/>
          <p:cNvSpPr/>
          <p:nvPr/>
        </p:nvSpPr>
        <p:spPr>
          <a:xfrm>
            <a:off x="7391095" y="3673145"/>
            <a:ext cx="4267505" cy="0"/>
          </a:xfrm>
          <a:prstGeom prst="line">
            <a:avLst/>
          </a:prstGeom>
          <a:noFill/>
          <a:ln w="9525">
            <a:solidFill>
              <a:srgbClr val="C9C7BE"/>
            </a:solidFill>
            <a:prstDash val="solid"/>
          </a:ln>
        </p:spPr>
      </p:sp>
      <p:sp>
        <p:nvSpPr>
          <p:cNvPr id="21" name="Shape 18"/>
          <p:cNvSpPr/>
          <p:nvPr/>
        </p:nvSpPr>
        <p:spPr>
          <a:xfrm>
            <a:off x="7391095" y="3779215"/>
            <a:ext cx="228600" cy="228600"/>
          </a:xfrm>
          <a:prstGeom prst="ellipse">
            <a:avLst/>
          </a:prstGeom>
          <a:solidFill>
            <a:schemeClr val="accent1"/>
          </a:solidFill>
          <a:ln/>
        </p:spPr>
      </p:sp>
      <p:sp>
        <p:nvSpPr>
          <p:cNvPr id="22" name="Text 19"/>
          <p:cNvSpPr txBox="1"/>
          <p:nvPr/>
        </p:nvSpPr>
        <p:spPr>
          <a:xfrm>
            <a:off x="7391095" y="3779215"/>
            <a:ext cx="228600" cy="228600"/>
          </a:xfrm>
          <a:prstGeom prst="rect">
            <a:avLst/>
          </a:prstGeom>
          <a:noFill/>
          <a:ln/>
        </p:spPr>
        <p:txBody>
          <a:bodyPr wrap="square" lIns="0" tIns="0" rIns="0" bIns="0" rtlCol="0" anchor="ctr"/>
          <a:lstStyle/>
          <a:p>
            <a:pPr algn="ctr" indent="0" marL="0">
              <a:buNone/>
            </a:pPr>
            <a:r>
              <a:rPr lang="en-US" sz="1000" dirty="0">
                <a:solidFill>
                  <a:schemeClr val="tx1"/>
                </a:solidFill>
                <a:latin typeface="Roobert" pitchFamily="34" charset="0"/>
                <a:ea typeface="Roobert" pitchFamily="34" charset="-122"/>
                <a:cs typeface="Roobert" pitchFamily="34" charset="-120"/>
              </a:rPr>
              <a:t>5</a:t>
            </a:r>
            <a:endParaRPr lang="en-US" sz="1000" dirty="0"/>
          </a:p>
        </p:txBody>
      </p:sp>
      <p:sp>
        <p:nvSpPr>
          <p:cNvPr id="23" name="Text 20"/>
          <p:cNvSpPr txBox="1"/>
          <p:nvPr/>
        </p:nvSpPr>
        <p:spPr>
          <a:xfrm>
            <a:off x="7756855" y="3764585"/>
            <a:ext cx="3901745" cy="548640"/>
          </a:xfrm>
          <a:prstGeom prst="rect">
            <a:avLst/>
          </a:prstGeom>
          <a:noFill/>
          <a:ln/>
        </p:spPr>
        <p:txBody>
          <a:bodyPr wrap="square" lIns="0" tIns="0" rIns="0" bIns="0" rtlCol="0" anchor="t"/>
          <a:lstStyle/>
          <a:p>
            <a:pPr indent="0" marL="0">
              <a:buNone/>
            </a:pPr>
            <a:r>
              <a:rPr lang="en-US" sz="1300" dirty="0">
                <a:solidFill>
                  <a:schemeClr val="tx1"/>
                </a:solidFill>
                <a:latin typeface="Roobert" pitchFamily="34" charset="0"/>
                <a:ea typeface="Roobert" pitchFamily="34" charset="-122"/>
                <a:cs typeface="Roobert" pitchFamily="34" charset="-120"/>
              </a:rPr>
              <a:t>A cookie banner that cites a law by article number: Ley 34/2002, artículo 22.2.</a:t>
            </a:r>
            <a:endParaRPr lang="en-US" sz="1300" dirty="0"/>
          </a:p>
        </p:txBody>
      </p:sp>
      <p:sp>
        <p:nvSpPr>
          <p:cNvPr id="24" name="Shape 21"/>
          <p:cNvSpPr/>
          <p:nvPr/>
        </p:nvSpPr>
        <p:spPr>
          <a:xfrm>
            <a:off x="7391095" y="4343400"/>
            <a:ext cx="4267505" cy="0"/>
          </a:xfrm>
          <a:prstGeom prst="line">
            <a:avLst/>
          </a:prstGeom>
          <a:noFill/>
          <a:ln w="9525">
            <a:solidFill>
              <a:srgbClr val="C9C7BE"/>
            </a:solidFill>
            <a:prstDash val="solid"/>
          </a:ln>
        </p:spPr>
      </p:sp>
      <p:sp>
        <p:nvSpPr>
          <p:cNvPr id="25" name="Shape 22"/>
          <p:cNvSpPr/>
          <p:nvPr/>
        </p:nvSpPr>
        <p:spPr>
          <a:xfrm>
            <a:off x="7391095" y="4450385"/>
            <a:ext cx="228600" cy="228600"/>
          </a:xfrm>
          <a:prstGeom prst="ellipse">
            <a:avLst/>
          </a:prstGeom>
          <a:solidFill>
            <a:schemeClr val="accent1"/>
          </a:solidFill>
          <a:ln/>
        </p:spPr>
      </p:sp>
      <p:sp>
        <p:nvSpPr>
          <p:cNvPr id="26" name="Text 23"/>
          <p:cNvSpPr txBox="1"/>
          <p:nvPr/>
        </p:nvSpPr>
        <p:spPr>
          <a:xfrm>
            <a:off x="7391095" y="4450385"/>
            <a:ext cx="228600" cy="228600"/>
          </a:xfrm>
          <a:prstGeom prst="rect">
            <a:avLst/>
          </a:prstGeom>
          <a:noFill/>
          <a:ln/>
        </p:spPr>
        <p:txBody>
          <a:bodyPr wrap="square" lIns="0" tIns="0" rIns="0" bIns="0" rtlCol="0" anchor="ctr"/>
          <a:lstStyle/>
          <a:p>
            <a:pPr algn="ctr" indent="0" marL="0">
              <a:buNone/>
            </a:pPr>
            <a:r>
              <a:rPr lang="en-US" sz="1000" dirty="0">
                <a:solidFill>
                  <a:schemeClr val="tx1"/>
                </a:solidFill>
                <a:latin typeface="Roobert" pitchFamily="34" charset="0"/>
                <a:ea typeface="Roobert" pitchFamily="34" charset="-122"/>
                <a:cs typeface="Roobert" pitchFamily="34" charset="-120"/>
              </a:rPr>
              <a:t>6</a:t>
            </a:r>
            <a:endParaRPr lang="en-US" sz="1000" dirty="0"/>
          </a:p>
        </p:txBody>
      </p:sp>
      <p:sp>
        <p:nvSpPr>
          <p:cNvPr id="27" name="Text 24"/>
          <p:cNvSpPr txBox="1"/>
          <p:nvPr/>
        </p:nvSpPr>
        <p:spPr>
          <a:xfrm>
            <a:off x="7756855" y="4434840"/>
            <a:ext cx="3901745" cy="320040"/>
          </a:xfrm>
          <a:prstGeom prst="rect">
            <a:avLst/>
          </a:prstGeom>
          <a:noFill/>
          <a:ln/>
        </p:spPr>
        <p:txBody>
          <a:bodyPr wrap="square" lIns="0" tIns="0" rIns="0" bIns="0" rtlCol="0" anchor="t"/>
          <a:lstStyle/>
          <a:p>
            <a:pPr indent="0" marL="0">
              <a:buNone/>
            </a:pPr>
            <a:r>
              <a:rPr lang="en-US" sz="1300" dirty="0">
                <a:solidFill>
                  <a:schemeClr val="tx1"/>
                </a:solidFill>
                <a:latin typeface="Roobert" pitchFamily="34" charset="0"/>
                <a:ea typeface="Roobert" pitchFamily="34" charset="-122"/>
                <a:cs typeface="Roobert" pitchFamily="34" charset="-120"/>
              </a:rPr>
              <a:t>Document lists full of reference codes.</a:t>
            </a:r>
            <a:endParaRPr lang="en-US" sz="1300" dirty="0"/>
          </a:p>
        </p:txBody>
      </p:sp>
      <p:sp>
        <p:nvSpPr>
          <p:cNvPr id="28" name="Shape 25"/>
          <p:cNvSpPr/>
          <p:nvPr/>
        </p:nvSpPr>
        <p:spPr>
          <a:xfrm>
            <a:off x="7391095" y="4785055"/>
            <a:ext cx="4267505" cy="0"/>
          </a:xfrm>
          <a:prstGeom prst="line">
            <a:avLst/>
          </a:prstGeom>
          <a:noFill/>
          <a:ln w="9525">
            <a:solidFill>
              <a:srgbClr val="C9C7BE"/>
            </a:solidFill>
            <a:prstDash val="solid"/>
          </a:ln>
        </p:spPr>
      </p:sp>
      <p:sp>
        <p:nvSpPr>
          <p:cNvPr id="29" name="Text 26"/>
          <p:cNvSpPr txBox="1"/>
          <p:nvPr/>
        </p:nvSpPr>
        <p:spPr>
          <a:xfrm>
            <a:off x="7391095" y="6096305"/>
            <a:ext cx="4267505" cy="228600"/>
          </a:xfrm>
          <a:prstGeom prst="rect">
            <a:avLst/>
          </a:prstGeom>
          <a:noFill/>
          <a:ln/>
        </p:spPr>
        <p:txBody>
          <a:bodyPr wrap="square" lIns="0" tIns="0" rIns="0" bIns="0" rtlCol="0" anchor="t"/>
          <a:lstStyle/>
          <a:p>
            <a:pPr indent="0" marL="0">
              <a:buNone/>
            </a:pPr>
            <a:r>
              <a:rPr lang="en-US" sz="1000" dirty="0">
                <a:solidFill>
                  <a:srgbClr val="6F6F6A"/>
                </a:solidFill>
                <a:latin typeface="Roobert" pitchFamily="34" charset="0"/>
                <a:ea typeface="Roobert" pitchFamily="34" charset="-122"/>
                <a:cs typeface="Roobert" pitchFamily="34" charset="-120"/>
              </a:rPr>
              <a:t>congreso.es — Congreso de los Diputados, Spain</a:t>
            </a:r>
            <a:endParaRPr lang="en-US" sz="10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61695"/>
          </a:xfrm>
          <a:prstGeom prst="rect">
            <a:avLst/>
          </a:prstGeom>
          <a:noFill/>
          <a:ln/>
        </p:spPr>
        <p:txBody>
          <a:bodyPr wrap="square" lIns="0" tIns="0" rIns="0" bIns="0" rtlCol="0" anchor="b"/>
          <a:lstStyle/>
          <a:p>
            <a:pPr algn="l" indent="0" marL="0">
              <a:buNone/>
            </a:pPr>
            <a:r>
              <a:rPr lang="en-US" sz="4100" dirty="0">
                <a:solidFill>
                  <a:schemeClr val="tx1"/>
                </a:solidFill>
              </a:rPr>
              <a:t>The voice</a:t>
            </a:r>
            <a:endParaRPr lang="en-US" sz="4100" dirty="0"/>
          </a:p>
        </p:txBody>
      </p:sp>
      <p:sp>
        <p:nvSpPr>
          <p:cNvPr id="3" name="Text 1"/>
          <p:cNvSpPr txBox="1"/>
          <p:nvPr/>
        </p:nvSpPr>
        <p:spPr>
          <a:xfrm>
            <a:off x="548640" y="1561795"/>
            <a:ext cx="9144000" cy="274320"/>
          </a:xfrm>
          <a:prstGeom prst="rect">
            <a:avLst/>
          </a:prstGeom>
          <a:noFill/>
          <a:ln/>
        </p:spPr>
        <p:txBody>
          <a:bodyPr wrap="square" lIns="0" tIns="0" rIns="0" bIns="0" rtlCol="0" anchor="t"/>
          <a:lstStyle/>
          <a:p>
            <a:pPr indent="0" marL="0">
              <a:buNone/>
            </a:pPr>
            <a:r>
              <a:rPr lang="en-US" sz="1400" dirty="0">
                <a:solidFill>
                  <a:srgbClr val="6F6F6A"/>
                </a:solidFill>
                <a:latin typeface="Roobert" pitchFamily="34" charset="0"/>
                <a:ea typeface="Roobert" pitchFamily="34" charset="-122"/>
                <a:cs typeface="Roobert" pitchFamily="34" charset="-120"/>
              </a:rPr>
              <a:t>Real wording, taken from the sites in the Style Bureau.</a:t>
            </a:r>
            <a:endParaRPr lang="en-US" sz="1400" dirty="0"/>
          </a:p>
        </p:txBody>
      </p:sp>
      <p:sp>
        <p:nvSpPr>
          <p:cNvPr id="4" name="Shape 2"/>
          <p:cNvSpPr/>
          <p:nvPr/>
        </p:nvSpPr>
        <p:spPr>
          <a:xfrm>
            <a:off x="548640" y="1904695"/>
            <a:ext cx="11094415" cy="0"/>
          </a:xfrm>
          <a:prstGeom prst="line">
            <a:avLst/>
          </a:prstGeom>
          <a:noFill/>
          <a:ln w="9525">
            <a:solidFill>
              <a:srgbClr val="C9C7BE"/>
            </a:solidFill>
            <a:prstDash val="solid"/>
          </a:ln>
        </p:spPr>
      </p:sp>
      <p:sp>
        <p:nvSpPr>
          <p:cNvPr id="5" name="Text 3"/>
          <p:cNvSpPr txBox="1"/>
          <p:nvPr/>
        </p:nvSpPr>
        <p:spPr>
          <a:xfrm>
            <a:off x="548640" y="2011680"/>
            <a:ext cx="8229600" cy="747065"/>
          </a:xfrm>
          <a:prstGeom prst="rect">
            <a:avLst/>
          </a:prstGeom>
          <a:noFill/>
          <a:ln/>
        </p:spPr>
        <p:txBody>
          <a:bodyPr wrap="square" lIns="0" tIns="0" rIns="0" bIns="0" rtlCol="0" anchor="t"/>
          <a:lstStyle/>
          <a:p>
            <a:pPr indent="0" marL="0">
              <a:spcAft>
                <a:spcPts val="400"/>
              </a:spcAft>
              <a:buNone/>
            </a:pPr>
            <a:r>
              <a:rPr lang="en-US" sz="1500" dirty="0">
                <a:solidFill>
                  <a:schemeClr val="tx1"/>
                </a:solidFill>
                <a:latin typeface="Roobert" pitchFamily="34" charset="0"/>
                <a:ea typeface="Roobert" pitchFamily="34" charset="-122"/>
                <a:cs typeface="Roobert" pitchFamily="34" charset="-120"/>
              </a:rPr>
              <a:t>“Accessibilité : partiellement conforme”</a:t>
            </a:r>
            <a:endParaRPr lang="en-US" sz="1500" dirty="0"/>
          </a:p>
          <a:p>
            <a:pPr indent="0" marL="0">
              <a:spcAft>
                <a:spcPts val="400"/>
              </a:spcAft>
              <a:buNone/>
            </a:pPr>
            <a:r>
              <a:rPr lang="en-US" sz="1000" dirty="0">
                <a:solidFill>
                  <a:srgbClr val="6F6F6A"/>
                </a:solidFill>
                <a:latin typeface="Roobert" pitchFamily="34" charset="0"/>
                <a:ea typeface="Roobert" pitchFamily="34" charset="-122"/>
                <a:cs typeface="Roobert" pitchFamily="34" charset="-120"/>
              </a:rPr>
              <a:t>Accessibility: partially compliant</a:t>
            </a:r>
            <a:endParaRPr lang="en-US" sz="1500" dirty="0"/>
          </a:p>
        </p:txBody>
      </p:sp>
      <p:sp>
        <p:nvSpPr>
          <p:cNvPr id="6" name="Text 4"/>
          <p:cNvSpPr txBox="1"/>
          <p:nvPr/>
        </p:nvSpPr>
        <p:spPr>
          <a:xfrm>
            <a:off x="9068105" y="2011680"/>
            <a:ext cx="2575865" cy="747065"/>
          </a:xfrm>
          <a:prstGeom prst="rect">
            <a:avLst/>
          </a:prstGeom>
          <a:noFill/>
          <a:ln/>
        </p:spPr>
        <p:txBody>
          <a:bodyPr wrap="square" lIns="0" tIns="0" rIns="0" bIns="0" rtlCol="0" anchor="t"/>
          <a:lstStyle/>
          <a:p>
            <a:pPr algn="r" indent="0" marL="0">
              <a:buNone/>
            </a:pPr>
            <a:r>
              <a:rPr lang="en-US" sz="1000" dirty="0">
                <a:solidFill>
                  <a:schemeClr val="tx1"/>
                </a:solidFill>
                <a:latin typeface="Roobert" pitchFamily="34" charset="0"/>
                <a:ea typeface="Roobert" pitchFamily="34" charset="-122"/>
                <a:cs typeface="Roobert" pitchFamily="34" charset="-120"/>
              </a:rPr>
              <a:t>Police nationale — Ministère de l'Intérieur</a:t>
            </a:r>
            <a:endParaRPr lang="en-US" sz="1000" dirty="0"/>
          </a:p>
          <a:p>
            <a:pPr algn="r" indent="0" marL="0">
              <a:buNone/>
            </a:pPr>
            <a:r>
              <a:rPr lang="en-US" sz="1000" dirty="0">
                <a:solidFill>
                  <a:srgbClr val="6F6F6A"/>
                </a:solidFill>
                <a:latin typeface="Roobert" pitchFamily="34" charset="0"/>
                <a:ea typeface="Roobert" pitchFamily="34" charset="-122"/>
                <a:cs typeface="Roobert" pitchFamily="34" charset="-120"/>
              </a:rPr>
              <a:t>France · footer accessibility statement link</a:t>
            </a:r>
            <a:endParaRPr lang="en-US" sz="1000" dirty="0"/>
          </a:p>
        </p:txBody>
      </p:sp>
      <p:sp>
        <p:nvSpPr>
          <p:cNvPr id="7" name="Shape 5"/>
          <p:cNvSpPr/>
          <p:nvPr/>
        </p:nvSpPr>
        <p:spPr>
          <a:xfrm>
            <a:off x="548640" y="2804465"/>
            <a:ext cx="11094415" cy="0"/>
          </a:xfrm>
          <a:prstGeom prst="line">
            <a:avLst/>
          </a:prstGeom>
          <a:noFill/>
          <a:ln w="9525">
            <a:solidFill>
              <a:srgbClr val="C9C7BE"/>
            </a:solidFill>
            <a:prstDash val="solid"/>
          </a:ln>
        </p:spPr>
      </p:sp>
      <p:sp>
        <p:nvSpPr>
          <p:cNvPr id="8" name="Text 6"/>
          <p:cNvSpPr txBox="1"/>
          <p:nvPr/>
        </p:nvSpPr>
        <p:spPr>
          <a:xfrm>
            <a:off x="548640" y="2910535"/>
            <a:ext cx="8229600" cy="747065"/>
          </a:xfrm>
          <a:prstGeom prst="rect">
            <a:avLst/>
          </a:prstGeom>
          <a:noFill/>
          <a:ln/>
        </p:spPr>
        <p:txBody>
          <a:bodyPr wrap="square" lIns="0" tIns="0" rIns="0" bIns="0" rtlCol="0" anchor="t"/>
          <a:lstStyle/>
          <a:p>
            <a:pPr indent="0" marL="0">
              <a:spcAft>
                <a:spcPts val="400"/>
              </a:spcAft>
              <a:buNone/>
            </a:pPr>
            <a:r>
              <a:rPr lang="en-US" sz="1500" dirty="0">
                <a:solidFill>
                  <a:schemeClr val="tx1"/>
                </a:solidFill>
                <a:latin typeface="Roobert" pitchFamily="34" charset="0"/>
                <a:ea typeface="Roobert" pitchFamily="34" charset="-122"/>
                <a:cs typeface="Roobert" pitchFamily="34" charset="-120"/>
              </a:rPr>
              <a:t>“Η μετάφραση τελείται με μηχανικό τρόπο και δεν αποτελεί επίσημη εκδοχή”</a:t>
            </a:r>
            <a:endParaRPr lang="en-US" sz="1500" dirty="0"/>
          </a:p>
          <a:p>
            <a:pPr indent="0" marL="0">
              <a:spcAft>
                <a:spcPts val="400"/>
              </a:spcAft>
              <a:buNone/>
            </a:pPr>
            <a:r>
              <a:rPr lang="en-US" sz="1000" dirty="0">
                <a:solidFill>
                  <a:srgbClr val="6F6F6A"/>
                </a:solidFill>
                <a:latin typeface="Roobert" pitchFamily="34" charset="0"/>
                <a:ea typeface="Roobert" pitchFamily="34" charset="-122"/>
                <a:cs typeface="Roobert" pitchFamily="34" charset="-120"/>
              </a:rPr>
              <a:t>The translation is performed automatically and does not constitute an official version</a:t>
            </a:r>
            <a:endParaRPr lang="en-US" sz="1500" dirty="0"/>
          </a:p>
        </p:txBody>
      </p:sp>
      <p:sp>
        <p:nvSpPr>
          <p:cNvPr id="9" name="Text 7"/>
          <p:cNvSpPr txBox="1"/>
          <p:nvPr/>
        </p:nvSpPr>
        <p:spPr>
          <a:xfrm>
            <a:off x="9068105" y="2910535"/>
            <a:ext cx="2575865" cy="747065"/>
          </a:xfrm>
          <a:prstGeom prst="rect">
            <a:avLst/>
          </a:prstGeom>
          <a:noFill/>
          <a:ln/>
        </p:spPr>
        <p:txBody>
          <a:bodyPr wrap="square" lIns="0" tIns="0" rIns="0" bIns="0" rtlCol="0" anchor="t"/>
          <a:lstStyle/>
          <a:p>
            <a:pPr algn="r" indent="0" marL="0">
              <a:buNone/>
            </a:pPr>
            <a:r>
              <a:rPr lang="en-US" sz="1000" dirty="0">
                <a:solidFill>
                  <a:schemeClr val="tx1"/>
                </a:solidFill>
                <a:latin typeface="Roobert" pitchFamily="34" charset="0"/>
                <a:ea typeface="Roobert" pitchFamily="34" charset="-122"/>
                <a:cs typeface="Roobert" pitchFamily="34" charset="-120"/>
              </a:rPr>
              <a:t>Ελληνική Κυβέρνηση</a:t>
            </a:r>
            <a:endParaRPr lang="en-US" sz="1000" dirty="0"/>
          </a:p>
          <a:p>
            <a:pPr algn="r" indent="0" marL="0">
              <a:buNone/>
            </a:pPr>
            <a:r>
              <a:rPr lang="en-US" sz="1000" dirty="0">
                <a:solidFill>
                  <a:srgbClr val="6F6F6A"/>
                </a:solidFill>
                <a:latin typeface="Roobert" pitchFamily="34" charset="0"/>
                <a:ea typeface="Roobert" pitchFamily="34" charset="-122"/>
                <a:cs typeface="Roobert" pitchFamily="34" charset="-120"/>
              </a:rPr>
              <a:t>Greece · footer disclaimer above the language-switcher archive area</a:t>
            </a:r>
            <a:endParaRPr lang="en-US" sz="1000" dirty="0"/>
          </a:p>
        </p:txBody>
      </p:sp>
      <p:sp>
        <p:nvSpPr>
          <p:cNvPr id="10" name="Shape 8"/>
          <p:cNvSpPr/>
          <p:nvPr/>
        </p:nvSpPr>
        <p:spPr>
          <a:xfrm>
            <a:off x="548640" y="3703320"/>
            <a:ext cx="11094415" cy="0"/>
          </a:xfrm>
          <a:prstGeom prst="line">
            <a:avLst/>
          </a:prstGeom>
          <a:noFill/>
          <a:ln w="9525">
            <a:solidFill>
              <a:srgbClr val="C9C7BE"/>
            </a:solidFill>
            <a:prstDash val="solid"/>
          </a:ln>
        </p:spPr>
      </p:sp>
      <p:sp>
        <p:nvSpPr>
          <p:cNvPr id="11" name="Text 9"/>
          <p:cNvSpPr txBox="1"/>
          <p:nvPr/>
        </p:nvSpPr>
        <p:spPr>
          <a:xfrm>
            <a:off x="548640" y="3810305"/>
            <a:ext cx="8229600" cy="747065"/>
          </a:xfrm>
          <a:prstGeom prst="rect">
            <a:avLst/>
          </a:prstGeom>
          <a:noFill/>
          <a:ln/>
        </p:spPr>
        <p:txBody>
          <a:bodyPr wrap="square" lIns="0" tIns="0" rIns="0" bIns="0" rtlCol="0" anchor="t"/>
          <a:lstStyle/>
          <a:p>
            <a:pPr indent="0" marL="0">
              <a:spcAft>
                <a:spcPts val="400"/>
              </a:spcAft>
              <a:buNone/>
            </a:pPr>
            <a:r>
              <a:rPr lang="en-US" sz="1500" dirty="0">
                <a:solidFill>
                  <a:schemeClr val="tx1"/>
                </a:solidFill>
                <a:latin typeface="Roobert" pitchFamily="34" charset="0"/>
                <a:ea typeface="Roobert" pitchFamily="34" charset="-122"/>
                <a:cs typeface="Roobert" pitchFamily="34" charset="-120"/>
              </a:rPr>
              <a:t>“Condamnare primar comună pentru luare de mită și abuz în serviciu – cu suspendare”</a:t>
            </a:r>
            <a:endParaRPr lang="en-US" sz="1500" dirty="0"/>
          </a:p>
          <a:p>
            <a:pPr indent="0" marL="0">
              <a:spcAft>
                <a:spcPts val="400"/>
              </a:spcAft>
              <a:buNone/>
            </a:pPr>
            <a:r>
              <a:rPr lang="en-US" sz="1000" dirty="0">
                <a:solidFill>
                  <a:srgbClr val="6F6F6A"/>
                </a:solidFill>
                <a:latin typeface="Roobert" pitchFamily="34" charset="0"/>
                <a:ea typeface="Roobert" pitchFamily="34" charset="-122"/>
                <a:cs typeface="Roobert" pitchFamily="34" charset="-120"/>
              </a:rPr>
              <a:t>Conviction of a commune mayor for bribery and abuse of office – suspended sentence</a:t>
            </a:r>
            <a:endParaRPr lang="en-US" sz="1500" dirty="0"/>
          </a:p>
        </p:txBody>
      </p:sp>
      <p:sp>
        <p:nvSpPr>
          <p:cNvPr id="12" name="Text 10"/>
          <p:cNvSpPr txBox="1"/>
          <p:nvPr/>
        </p:nvSpPr>
        <p:spPr>
          <a:xfrm>
            <a:off x="9068105" y="3810305"/>
            <a:ext cx="2575865" cy="747065"/>
          </a:xfrm>
          <a:prstGeom prst="rect">
            <a:avLst/>
          </a:prstGeom>
          <a:noFill/>
          <a:ln/>
        </p:spPr>
        <p:txBody>
          <a:bodyPr wrap="square" lIns="0" tIns="0" rIns="0" bIns="0" rtlCol="0" anchor="t"/>
          <a:lstStyle/>
          <a:p>
            <a:pPr algn="r" indent="0" marL="0">
              <a:buNone/>
            </a:pPr>
            <a:r>
              <a:rPr lang="en-US" sz="1000" dirty="0">
                <a:solidFill>
                  <a:schemeClr val="tx1"/>
                </a:solidFill>
                <a:latin typeface="Roobert" pitchFamily="34" charset="0"/>
                <a:ea typeface="Roobert" pitchFamily="34" charset="-122"/>
                <a:cs typeface="Roobert" pitchFamily="34" charset="-120"/>
              </a:rPr>
              <a:t>Direcția Națională Anticorupție</a:t>
            </a:r>
            <a:endParaRPr lang="en-US" sz="1000" dirty="0"/>
          </a:p>
          <a:p>
            <a:pPr algn="r" indent="0" marL="0">
              <a:buNone/>
            </a:pPr>
            <a:r>
              <a:rPr lang="en-US" sz="1000" dirty="0">
                <a:solidFill>
                  <a:srgbClr val="6F6F6A"/>
                </a:solidFill>
                <a:latin typeface="Roobert" pitchFamily="34" charset="0"/>
                <a:ea typeface="Roobert" pitchFamily="34" charset="-122"/>
                <a:cs typeface="Roobert" pitchFamily="34" charset="-120"/>
              </a:rPr>
              <a:t>Romania · case-outcome headline in the 'condamnări definitive' </a:t>
            </a:r>
            <a:endParaRPr lang="en-US" sz="1000" dirty="0"/>
          </a:p>
        </p:txBody>
      </p:sp>
      <p:sp>
        <p:nvSpPr>
          <p:cNvPr id="13" name="Shape 11"/>
          <p:cNvSpPr/>
          <p:nvPr/>
        </p:nvSpPr>
        <p:spPr>
          <a:xfrm>
            <a:off x="548640" y="4602175"/>
            <a:ext cx="11094415" cy="0"/>
          </a:xfrm>
          <a:prstGeom prst="line">
            <a:avLst/>
          </a:prstGeom>
          <a:noFill/>
          <a:ln w="9525">
            <a:solidFill>
              <a:srgbClr val="C9C7BE"/>
            </a:solidFill>
            <a:prstDash val="solid"/>
          </a:ln>
        </p:spPr>
      </p:sp>
      <p:sp>
        <p:nvSpPr>
          <p:cNvPr id="14" name="Text 12"/>
          <p:cNvSpPr txBox="1"/>
          <p:nvPr/>
        </p:nvSpPr>
        <p:spPr>
          <a:xfrm>
            <a:off x="548640" y="4709160"/>
            <a:ext cx="8229600" cy="990295"/>
          </a:xfrm>
          <a:prstGeom prst="rect">
            <a:avLst/>
          </a:prstGeom>
          <a:noFill/>
          <a:ln/>
        </p:spPr>
        <p:txBody>
          <a:bodyPr wrap="square" lIns="0" tIns="0" rIns="0" bIns="0" rtlCol="0" anchor="t"/>
          <a:lstStyle/>
          <a:p>
            <a:pPr indent="0" marL="0">
              <a:spcAft>
                <a:spcPts val="400"/>
              </a:spcAft>
              <a:buNone/>
            </a:pPr>
            <a:r>
              <a:rPr lang="en-US" sz="1500" dirty="0">
                <a:solidFill>
                  <a:schemeClr val="tx1"/>
                </a:solidFill>
                <a:latin typeface="Roobert" pitchFamily="34" charset="0"/>
                <a:ea typeface="Roobert" pitchFamily="34" charset="-122"/>
                <a:cs typeface="Roobert" pitchFamily="34" charset="-120"/>
              </a:rPr>
              <a:t>“Używamy plików cookies, aby ułatwić Ci korzystanie z naszego serwisu oraz do celów statystycznych. Jeśli nie blokujesz tych plików, to zgadzasz się na ich użycie.”</a:t>
            </a:r>
            <a:endParaRPr lang="en-US" sz="1500" dirty="0"/>
          </a:p>
          <a:p>
            <a:pPr indent="0" marL="0">
              <a:spcAft>
                <a:spcPts val="400"/>
              </a:spcAft>
              <a:buNone/>
            </a:pPr>
            <a:r>
              <a:rPr lang="en-US" sz="1000" dirty="0">
                <a:solidFill>
                  <a:srgbClr val="6F6F6A"/>
                </a:solidFill>
                <a:latin typeface="Roobert" pitchFamily="34" charset="0"/>
                <a:ea typeface="Roobert" pitchFamily="34" charset="-122"/>
                <a:cs typeface="Roobert" pitchFamily="34" charset="-120"/>
              </a:rPr>
              <a:t>We use cookies to make the site easier for you to use and for statistical purposes. If you do not block these files, you agree to their use.</a:t>
            </a:r>
            <a:endParaRPr lang="en-US" sz="1500" dirty="0"/>
          </a:p>
        </p:txBody>
      </p:sp>
      <p:sp>
        <p:nvSpPr>
          <p:cNvPr id="15" name="Text 13"/>
          <p:cNvSpPr txBox="1"/>
          <p:nvPr/>
        </p:nvSpPr>
        <p:spPr>
          <a:xfrm>
            <a:off x="9068105" y="4709160"/>
            <a:ext cx="2575865" cy="990295"/>
          </a:xfrm>
          <a:prstGeom prst="rect">
            <a:avLst/>
          </a:prstGeom>
          <a:noFill/>
          <a:ln/>
        </p:spPr>
        <p:txBody>
          <a:bodyPr wrap="square" lIns="0" tIns="0" rIns="0" bIns="0" rtlCol="0" anchor="t"/>
          <a:lstStyle/>
          <a:p>
            <a:pPr algn="r" indent="0" marL="0">
              <a:buNone/>
            </a:pPr>
            <a:r>
              <a:rPr lang="en-US" sz="1000" dirty="0">
                <a:solidFill>
                  <a:schemeClr val="tx1"/>
                </a:solidFill>
                <a:latin typeface="Roobert" pitchFamily="34" charset="0"/>
                <a:ea typeface="Roobert" pitchFamily="34" charset="-122"/>
                <a:cs typeface="Roobert" pitchFamily="34" charset="-120"/>
              </a:rPr>
              <a:t>Sejm Rzeczypospolitej Polskiej</a:t>
            </a:r>
            <a:endParaRPr lang="en-US" sz="1000" dirty="0"/>
          </a:p>
          <a:p>
            <a:pPr algn="r" indent="0" marL="0">
              <a:buNone/>
            </a:pPr>
            <a:r>
              <a:rPr lang="en-US" sz="1000" dirty="0">
                <a:solidFill>
                  <a:srgbClr val="6F6F6A"/>
                </a:solidFill>
                <a:latin typeface="Roobert" pitchFamily="34" charset="0"/>
                <a:ea typeface="Roobert" pitchFamily="34" charset="-122"/>
                <a:cs typeface="Roobert" pitchFamily="34" charset="-120"/>
              </a:rPr>
              <a:t>Poland · cookie notice: consent by not objecting</a:t>
            </a:r>
            <a:endParaRPr lang="en-US" sz="1000" dirty="0"/>
          </a:p>
        </p:txBody>
      </p:sp>
      <p:sp>
        <p:nvSpPr>
          <p:cNvPr id="16" name="Shape 14"/>
          <p:cNvSpPr/>
          <p:nvPr/>
        </p:nvSpPr>
        <p:spPr>
          <a:xfrm>
            <a:off x="548640" y="5745175"/>
            <a:ext cx="11094415" cy="0"/>
          </a:xfrm>
          <a:prstGeom prst="line">
            <a:avLst/>
          </a:prstGeom>
          <a:noFill/>
          <a:ln w="9525">
            <a:solidFill>
              <a:srgbClr val="C9C7BE"/>
            </a:solidFill>
            <a:prstDash val="solid"/>
          </a:ln>
        </p:spPr>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tatement"/>
          <p:cNvSpPr txBox="1"/>
          <p:nvPr/>
        </p:nvSpPr>
        <p:spPr>
          <a:xfrm>
            <a:off x="548640" y="990295"/>
            <a:ext cx="10668305" cy="3200400"/>
          </a:xfrm>
          <a:prstGeom prst="rect">
            <a:avLst/>
          </a:prstGeom>
          <a:noFill/>
          <a:ln/>
        </p:spPr>
        <p:txBody>
          <a:bodyPr wrap="square" lIns="0" tIns="0" rIns="0" bIns="0" rtlCol="0" anchor="t"/>
          <a:lstStyle/>
          <a:p>
            <a:pPr indent="0" marL="0">
              <a:buNone/>
            </a:pPr>
            <a:r>
              <a:rPr lang="en-US" sz="6000" dirty="0">
                <a:solidFill>
                  <a:schemeClr val="bg2"/>
                </a:solidFill>
                <a:latin typeface="Roobert" pitchFamily="34" charset="0"/>
                <a:ea typeface="Roobert" pitchFamily="34" charset="-122"/>
                <a:cs typeface="Roobert" pitchFamily="34" charset="-120"/>
              </a:rPr>
              <a:t>The more neutral a design looks, the more work it's doing.</a:t>
            </a:r>
            <a:endParaRPr lang="en-US" sz="6000" dirty="0"/>
          </a:p>
        </p:txBody>
      </p:sp>
      <p:sp>
        <p:nvSpPr>
          <p:cNvPr id="4" name="Text 0"/>
          <p:cNvSpPr/>
          <p:nvPr>
            <p:ph idx="100" type="title" hasCustomPrompt="1"/>
          </p:nvPr>
        </p:nvSpPr>
        <p:spPr>
          <a:xfrm>
            <a:off x="548640" y="990295"/>
            <a:ext cx="5790895" cy="3047695"/>
          </a:xfrm>
          <a:prstGeom prst="rect">
            <a:avLst/>
          </a:prstGeom>
          <a:noFill/>
          <a:ln/>
        </p:spPr>
        <p:txBody>
          <a:bodyPr wrap="square" lIns="0" tIns="0" rIns="0" bIns="0" rtlCol="0" anchor="t"/>
          <a:lstStyle/>
          <a:p>
            <a:pPr algn="l" indent="0" marL="0">
              <a:buNone/>
            </a:pPr>
            <a:endParaRPr lang="en-US" sz="58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9A8A2"/>
                </a:solidFill>
                <a:latin typeface="Courier New"/>
                <a:ea typeface="Courier New"/>
                <a:cs typeface="Courier New"/>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ag Exercise E1"/>
          <p:cNvSpPr/>
          <p:nvPr/>
        </p:nvSpPr>
        <p:spPr>
          <a:xfrm>
            <a:off x="822960" y="792785"/>
            <a:ext cx="990295" cy="244145"/>
          </a:xfrm>
          <a:prstGeom prst="roundRect">
            <a:avLst>
              <a:gd name="adj" fmla="val 187266"/>
            </a:avLst>
          </a:prstGeom>
          <a:solidFill>
            <a:srgbClr val="0B0C0C"/>
          </a:solidFill>
          <a:ln w="9525">
            <a:solidFill>
              <a:srgbClr val="0B0C0C"/>
            </a:solidFill>
            <a:prstDash val="solid"/>
          </a:ln>
        </p:spPr>
      </p:sp>
      <p:sp>
        <p:nvSpPr>
          <p:cNvPr id="3" name="Text 1"/>
          <p:cNvSpPr txBox="1"/>
          <p:nvPr/>
        </p:nvSpPr>
        <p:spPr>
          <a:xfrm>
            <a:off x="822960" y="792785"/>
            <a:ext cx="990295" cy="244145"/>
          </a:xfrm>
          <a:prstGeom prst="rect">
            <a:avLst/>
          </a:prstGeom>
          <a:noFill/>
          <a:ln/>
        </p:spPr>
        <p:txBody>
          <a:bodyPr wrap="square" lIns="0" tIns="0" rIns="0" bIns="0" rtlCol="0" anchor="ctr"/>
          <a:lstStyle/>
          <a:p>
            <a:pPr algn="ctr" indent="0" marL="0">
              <a:buNone/>
            </a:pPr>
            <a:r>
              <a:rPr lang="en-US" sz="1000" dirty="0">
                <a:solidFill>
                  <a:srgbClr val="FFFFFF"/>
                </a:solidFill>
                <a:latin typeface="Roobert" pitchFamily="34" charset="0"/>
                <a:ea typeface="Roobert" pitchFamily="34" charset="-122"/>
                <a:cs typeface="Roobert" pitchFamily="34" charset="-120"/>
              </a:rPr>
              <a:t>Exercise E1</a:t>
            </a:r>
            <a:endParaRPr lang="en-US" sz="1000" dirty="0"/>
          </a:p>
        </p:txBody>
      </p:sp>
      <p:sp>
        <p:nvSpPr>
          <p:cNvPr id="4" name="Shape 2"/>
          <p:cNvSpPr/>
          <p:nvPr/>
        </p:nvSpPr>
        <p:spPr>
          <a:xfrm>
            <a:off x="1920240" y="845820"/>
            <a:ext cx="137160" cy="137160"/>
          </a:xfrm>
          <a:prstGeom prst="ellipse">
            <a:avLst/>
          </a:prstGeom>
          <a:solidFill>
            <a:schemeClr val="accent4"/>
          </a:solidFill>
          <a:ln/>
        </p:spPr>
      </p:sp>
      <p:sp>
        <p:nvSpPr>
          <p:cNvPr id="5" name="Text 3"/>
          <p:cNvSpPr txBox="1"/>
          <p:nvPr/>
        </p:nvSpPr>
        <p:spPr>
          <a:xfrm>
            <a:off x="2133295" y="792785"/>
            <a:ext cx="1524305" cy="244145"/>
          </a:xfrm>
          <a:prstGeom prst="rect">
            <a:avLst/>
          </a:prstGeom>
          <a:noFill/>
          <a:ln/>
        </p:spPr>
        <p:txBody>
          <a:bodyPr wrap="square" lIns="0" tIns="0" rIns="0" bIns="0" rtlCol="0" anchor="ctr"/>
          <a:lstStyle/>
          <a:p>
            <a:pPr indent="0" marL="0">
              <a:buNone/>
            </a:pPr>
            <a:r>
              <a:rPr lang="en-US" sz="1000" dirty="0">
                <a:solidFill>
                  <a:srgbClr val="6F6F6A"/>
                </a:solidFill>
                <a:latin typeface="Roobert" pitchFamily="34" charset="0"/>
                <a:ea typeface="Roobert" pitchFamily="34" charset="-122"/>
                <a:cs typeface="Roobert" pitchFamily="34" charset="-120"/>
              </a:rPr>
              <a:t>Phase 01</a:t>
            </a:r>
            <a:endParaRPr lang="en-US" sz="1000" dirty="0"/>
          </a:p>
        </p:txBody>
      </p:sp>
      <p:sp>
        <p:nvSpPr>
          <p:cNvPr id="6" name="Text 1"/>
          <p:cNvSpPr/>
          <p:nvPr>
            <p:ph idx="101" type="title" hasCustomPrompt="1"/>
          </p:nvPr>
        </p:nvSpPr>
        <p:spPr>
          <a:xfrm>
            <a:off x="822960" y="1218895"/>
            <a:ext cx="4343400" cy="1828800"/>
          </a:xfrm>
          <a:prstGeom prst="rect">
            <a:avLst/>
          </a:prstGeom>
          <a:noFill/>
          <a:ln/>
        </p:spPr>
        <p:txBody>
          <a:bodyPr wrap="square" lIns="0" tIns="0" rIns="0" bIns="0" rtlCol="0" anchor="t"/>
          <a:lstStyle/>
          <a:p>
            <a:pPr algn="l" indent="0" marL="0">
              <a:buNone/>
            </a:pPr>
            <a:r>
              <a:rPr lang="en-US" sz="4300" dirty="0">
                <a:solidFill>
                  <a:schemeClr val="tx1"/>
                </a:solidFill>
              </a:rPr>
              <a:t>Authority inventory</a:t>
            </a:r>
            <a:endParaRPr lang="en-US" sz="4300" dirty="0"/>
          </a:p>
        </p:txBody>
      </p:sp>
      <p:sp>
        <p:nvSpPr>
          <p:cNvPr id="7" name="Shape 5"/>
          <p:cNvSpPr/>
          <p:nvPr/>
        </p:nvSpPr>
        <p:spPr>
          <a:xfrm>
            <a:off x="822960" y="3200400"/>
            <a:ext cx="4267505" cy="0"/>
          </a:xfrm>
          <a:prstGeom prst="line">
            <a:avLst/>
          </a:prstGeom>
          <a:noFill/>
          <a:ln w="9525">
            <a:solidFill>
              <a:srgbClr val="C9C7BE"/>
            </a:solidFill>
            <a:prstDash val="solid"/>
          </a:ln>
        </p:spPr>
      </p:sp>
      <p:sp>
        <p:nvSpPr>
          <p:cNvPr id="8" name="Text 6"/>
          <p:cNvSpPr txBox="1"/>
          <p:nvPr/>
        </p:nvSpPr>
        <p:spPr>
          <a:xfrm>
            <a:off x="822960" y="3353105"/>
            <a:ext cx="4267505" cy="1143000"/>
          </a:xfrm>
          <a:prstGeom prst="rect">
            <a:avLst/>
          </a:prstGeom>
          <a:noFill/>
          <a:ln/>
        </p:spPr>
        <p:txBody>
          <a:bodyPr wrap="square" lIns="0" tIns="0" rIns="0" bIns="0" rtlCol="0" anchor="t"/>
          <a:lstStyle/>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Time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15 min</a:t>
            </a:r>
            <a:endParaRPr lang="en-US" sz="1300" dirty="0"/>
          </a:p>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Who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Pairs</a:t>
            </a:r>
            <a:endParaRPr lang="en-US" sz="1300" dirty="0"/>
          </a:p>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Hand in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Six devices, scored</a:t>
            </a:r>
            <a:endParaRPr lang="en-US" sz="1300" dirty="0"/>
          </a:p>
        </p:txBody>
      </p:sp>
      <p:sp>
        <p:nvSpPr>
          <p:cNvPr id="9" name="Text 7"/>
          <p:cNvSpPr txBox="1"/>
          <p:nvPr/>
        </p:nvSpPr>
        <p:spPr>
          <a:xfrm>
            <a:off x="822960" y="5790895"/>
            <a:ext cx="4572000"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Sheet: pauerrr.github.io/redecorating-power/exercises/#e1</a:t>
            </a:r>
            <a:endParaRPr lang="en-US" sz="900" dirty="0"/>
          </a:p>
        </p:txBody>
      </p:sp>
      <p:sp>
        <p:nvSpPr>
          <p:cNvPr id="10" name="Shape 8"/>
          <p:cNvSpPr/>
          <p:nvPr/>
        </p:nvSpPr>
        <p:spPr>
          <a:xfrm>
            <a:off x="5639105" y="792785"/>
            <a:ext cx="5790895" cy="0"/>
          </a:xfrm>
          <a:prstGeom prst="line">
            <a:avLst/>
          </a:prstGeom>
          <a:noFill/>
          <a:ln w="9525">
            <a:solidFill>
              <a:srgbClr val="C9C7BE"/>
            </a:solidFill>
            <a:prstDash val="solid"/>
          </a:ln>
        </p:spPr>
      </p:sp>
      <p:sp>
        <p:nvSpPr>
          <p:cNvPr id="11" name="Text 9"/>
          <p:cNvSpPr txBox="1"/>
          <p:nvPr/>
        </p:nvSpPr>
        <p:spPr>
          <a:xfrm>
            <a:off x="5639105" y="94457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01</a:t>
            </a:r>
            <a:endParaRPr lang="en-US" sz="900" dirty="0"/>
          </a:p>
        </p:txBody>
      </p:sp>
      <p:sp>
        <p:nvSpPr>
          <p:cNvPr id="12" name="Text 10"/>
          <p:cNvSpPr txBox="1"/>
          <p:nvPr/>
        </p:nvSpPr>
        <p:spPr>
          <a:xfrm>
            <a:off x="6096305" y="89885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Open any body in the Style Bureau. Look at the screenshot, then the original.</a:t>
            </a:r>
            <a:endParaRPr lang="en-US" sz="1600" dirty="0"/>
          </a:p>
        </p:txBody>
      </p:sp>
      <p:sp>
        <p:nvSpPr>
          <p:cNvPr id="13" name="Shape 11"/>
          <p:cNvSpPr/>
          <p:nvPr/>
        </p:nvSpPr>
        <p:spPr>
          <a:xfrm>
            <a:off x="5639105" y="1554480"/>
            <a:ext cx="5790895" cy="0"/>
          </a:xfrm>
          <a:prstGeom prst="line">
            <a:avLst/>
          </a:prstGeom>
          <a:noFill/>
          <a:ln w="9525">
            <a:solidFill>
              <a:srgbClr val="C9C7BE"/>
            </a:solidFill>
            <a:prstDash val="solid"/>
          </a:ln>
        </p:spPr>
      </p:sp>
      <p:sp>
        <p:nvSpPr>
          <p:cNvPr id="14" name="Text 12"/>
          <p:cNvSpPr txBox="1"/>
          <p:nvPr/>
        </p:nvSpPr>
        <p:spPr>
          <a:xfrm>
            <a:off x="5639105" y="170718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02</a:t>
            </a:r>
            <a:endParaRPr lang="en-US" sz="900" dirty="0"/>
          </a:p>
        </p:txBody>
      </p:sp>
      <p:sp>
        <p:nvSpPr>
          <p:cNvPr id="15" name="Text 13"/>
          <p:cNvSpPr txBox="1"/>
          <p:nvPr/>
        </p:nvSpPr>
        <p:spPr>
          <a:xfrm>
            <a:off x="6096305" y="166146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List six things that make it look official. Sort each: colour, type, furniture or voice.</a:t>
            </a:r>
            <a:endParaRPr lang="en-US" sz="1600" dirty="0"/>
          </a:p>
        </p:txBody>
      </p:sp>
      <p:sp>
        <p:nvSpPr>
          <p:cNvPr id="16" name="Shape 14"/>
          <p:cNvSpPr/>
          <p:nvPr/>
        </p:nvSpPr>
        <p:spPr>
          <a:xfrm>
            <a:off x="5639105" y="2316175"/>
            <a:ext cx="5790895" cy="0"/>
          </a:xfrm>
          <a:prstGeom prst="line">
            <a:avLst/>
          </a:prstGeom>
          <a:noFill/>
          <a:ln w="9525">
            <a:solidFill>
              <a:srgbClr val="C9C7BE"/>
            </a:solidFill>
            <a:prstDash val="solid"/>
          </a:ln>
        </p:spPr>
      </p:sp>
      <p:sp>
        <p:nvSpPr>
          <p:cNvPr id="17" name="Text 15"/>
          <p:cNvSpPr txBox="1"/>
          <p:nvPr/>
        </p:nvSpPr>
        <p:spPr>
          <a:xfrm>
            <a:off x="5639105" y="2468880"/>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03</a:t>
            </a:r>
            <a:endParaRPr lang="en-US" sz="900" dirty="0"/>
          </a:p>
        </p:txBody>
      </p:sp>
      <p:sp>
        <p:nvSpPr>
          <p:cNvPr id="18" name="Text 16"/>
          <p:cNvSpPr txBox="1"/>
          <p:nvPr/>
        </p:nvSpPr>
        <p:spPr>
          <a:xfrm>
            <a:off x="6096305" y="2423160"/>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Score each from 1 to 5 for how much authority it adds.</a:t>
            </a:r>
            <a:endParaRPr lang="en-US" sz="1600" dirty="0"/>
          </a:p>
        </p:txBody>
      </p:sp>
      <p:sp>
        <p:nvSpPr>
          <p:cNvPr id="19" name="Shape 17"/>
          <p:cNvSpPr/>
          <p:nvPr/>
        </p:nvSpPr>
        <p:spPr>
          <a:xfrm>
            <a:off x="5639105" y="3078785"/>
            <a:ext cx="5790895" cy="0"/>
          </a:xfrm>
          <a:prstGeom prst="line">
            <a:avLst/>
          </a:prstGeom>
          <a:noFill/>
          <a:ln w="9525">
            <a:solidFill>
              <a:srgbClr val="C9C7BE"/>
            </a:solidFill>
            <a:prstDash val="solid"/>
          </a:ln>
        </p:spPr>
      </p:sp>
      <p:sp>
        <p:nvSpPr>
          <p:cNvPr id="20" name="Text 18"/>
          <p:cNvSpPr txBox="1"/>
          <p:nvPr/>
        </p:nvSpPr>
        <p:spPr>
          <a:xfrm>
            <a:off x="5639105" y="323057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04</a:t>
            </a:r>
            <a:endParaRPr lang="en-US" sz="900" dirty="0"/>
          </a:p>
        </p:txBody>
      </p:sp>
      <p:sp>
        <p:nvSpPr>
          <p:cNvPr id="21" name="Text 19"/>
          <p:cNvSpPr txBox="1"/>
          <p:nvPr/>
        </p:nvSpPr>
        <p:spPr>
          <a:xfrm>
            <a:off x="6096305" y="318485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Report the strongest one to the room in one sentence.</a:t>
            </a:r>
            <a:endParaRPr lang="en-US" sz="1600" dirty="0"/>
          </a:p>
        </p:txBody>
      </p:sp>
      <p:sp>
        <p:nvSpPr>
          <p:cNvPr id="22" name="Shape 20"/>
          <p:cNvSpPr/>
          <p:nvPr/>
        </p:nvSpPr>
        <p:spPr>
          <a:xfrm>
            <a:off x="5639105" y="3840480"/>
            <a:ext cx="5790895" cy="0"/>
          </a:xfrm>
          <a:prstGeom prst="line">
            <a:avLst/>
          </a:prstGeom>
          <a:noFill/>
          <a:ln w="9525">
            <a:solidFill>
              <a:srgbClr val="C9C7BE"/>
            </a:solidFill>
            <a:prstDash val="solid"/>
          </a:ln>
        </p:spPr>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chemeClr val="accent6"/>
        </a:solidFill>
      </p:bgPr>
    </p:bg>
    <p:spTree>
      <p:nvGrpSpPr>
        <p:cNvPr id="1" name=""/>
        <p:cNvGrpSpPr/>
        <p:nvPr/>
      </p:nvGrpSpPr>
      <p:grpSpPr>
        <a:xfrm>
          <a:off x="0" y="0"/>
          <a:ext cx="0" cy="0"/>
          <a:chOff x="0" y="0"/>
          <a:chExt cx="0" cy="0"/>
        </a:xfrm>
      </p:grpSpPr>
      <p:sp>
        <p:nvSpPr>
          <p:cNvPr id="2" name="Phase number"/>
          <p:cNvSpPr txBox="1"/>
          <p:nvPr/>
        </p:nvSpPr>
        <p:spPr>
          <a:xfrm>
            <a:off x="441655" y="152705"/>
            <a:ext cx="7619695" cy="3200400"/>
          </a:xfrm>
          <a:prstGeom prst="rect">
            <a:avLst/>
          </a:prstGeom>
          <a:noFill/>
          <a:ln/>
        </p:spPr>
        <p:txBody>
          <a:bodyPr wrap="square" lIns="0" tIns="0" rIns="0" bIns="0" rtlCol="0" anchor="t"/>
          <a:lstStyle/>
          <a:p>
            <a:pPr indent="0" marL="0">
              <a:buNone/>
            </a:pPr>
            <a:r>
              <a:rPr lang="en-US" sz="25200" dirty="0">
                <a:solidFill>
                  <a:schemeClr val="tx1"/>
                </a:solidFill>
                <a:latin typeface="Roobert" pitchFamily="34" charset="0"/>
                <a:ea typeface="Roobert" pitchFamily="34" charset="-122"/>
                <a:cs typeface="Roobert" pitchFamily="34" charset="-120"/>
              </a:rPr>
              <a:t>02</a:t>
            </a:r>
            <a:endParaRPr lang="en-US" sz="25200" dirty="0"/>
          </a:p>
        </p:txBody>
      </p:sp>
      <p:sp>
        <p:nvSpPr>
          <p:cNvPr id="3" name="Text 0"/>
          <p:cNvSpPr/>
          <p:nvPr>
            <p:ph idx="100" type="title" hasCustomPrompt="1"/>
          </p:nvPr>
        </p:nvSpPr>
        <p:spPr>
          <a:xfrm>
            <a:off x="548640" y="4267505"/>
            <a:ext cx="10668305" cy="1524305"/>
          </a:xfrm>
          <a:prstGeom prst="rect">
            <a:avLst/>
          </a:prstGeom>
          <a:noFill/>
          <a:ln/>
        </p:spPr>
        <p:txBody>
          <a:bodyPr wrap="square" lIns="0" tIns="0" rIns="0" bIns="0" rtlCol="0" anchor="b"/>
          <a:lstStyle/>
          <a:p>
            <a:pPr algn="l" indent="0" marL="0">
              <a:buNone/>
            </a:pPr>
            <a:r>
              <a:rPr lang="en-US" sz="6200" dirty="0">
                <a:solidFill>
                  <a:schemeClr val="tx1"/>
                </a:solidFill>
              </a:rPr>
              <a:t>Pick a target, read your file</a:t>
            </a:r>
            <a:endParaRPr lang="en-US" sz="6200" dirty="0"/>
          </a:p>
        </p:txBody>
      </p:sp>
      <p:sp>
        <p:nvSpPr>
          <p:cNvPr id="4" name="Text 2"/>
          <p:cNvSpPr txBox="1"/>
          <p:nvPr/>
        </p:nvSpPr>
        <p:spPr>
          <a:xfrm>
            <a:off x="548640" y="5943600"/>
            <a:ext cx="9905695" cy="381305"/>
          </a:xfrm>
          <a:prstGeom prst="rect">
            <a:avLst/>
          </a:prstGeom>
          <a:noFill/>
          <a:ln/>
        </p:spPr>
        <p:txBody>
          <a:bodyPr wrap="square" lIns="0" tIns="0" rIns="0" bIns="0" rtlCol="0" anchor="t"/>
          <a:lstStyle/>
          <a:p>
            <a:pPr indent="0" marL="0">
              <a:buNone/>
            </a:pPr>
            <a:r>
              <a:rPr lang="en-US" sz="1800" dirty="0">
                <a:solidFill>
                  <a:schemeClr val="tx1"/>
                </a:solidFill>
                <a:latin typeface="Roobert" pitchFamily="34" charset="0"/>
                <a:ea typeface="Roobert" pitchFamily="34" charset="-122"/>
                <a:cs typeface="Roobert" pitchFamily="34" charset="-120"/>
              </a:rPr>
              <a:t>One body. One dossier. One case. One angle.</a:t>
            </a:r>
            <a:endParaRPr lang="en-US" sz="1800" dirty="0"/>
          </a:p>
        </p:txBody>
      </p:sp>
      <p:sp>
        <p:nvSpPr>
          <p:cNvPr id="5" name="Duration"/>
          <p:cNvSpPr/>
          <p:nvPr/>
        </p:nvSpPr>
        <p:spPr>
          <a:xfrm>
            <a:off x="10591495" y="457200"/>
            <a:ext cx="1067105" cy="395935"/>
          </a:xfrm>
          <a:prstGeom prst="roundRect">
            <a:avLst>
              <a:gd name="adj" fmla="val 115473"/>
            </a:avLst>
          </a:prstGeom>
          <a:ln w="12700">
            <a:solidFill>
              <a:schemeClr val="tx1"/>
            </a:solidFill>
            <a:prstDash val="solid"/>
          </a:ln>
        </p:spPr>
      </p:sp>
      <p:sp>
        <p:nvSpPr>
          <p:cNvPr id="6" name="Text 4"/>
          <p:cNvSpPr txBox="1"/>
          <p:nvPr/>
        </p:nvSpPr>
        <p:spPr>
          <a:xfrm>
            <a:off x="10591495" y="457200"/>
            <a:ext cx="1067105" cy="395935"/>
          </a:xfrm>
          <a:prstGeom prst="rect">
            <a:avLst/>
          </a:prstGeom>
          <a:noFill/>
          <a:ln/>
        </p:spPr>
        <p:txBody>
          <a:bodyPr wrap="square" lIns="0" tIns="0" rIns="0" bIns="0" rtlCol="0" anchor="ctr"/>
          <a:lstStyle/>
          <a:p>
            <a:pPr algn="ctr" indent="0" marL="0">
              <a:buNone/>
            </a:pPr>
            <a:r>
              <a:rPr lang="en-US" sz="1400" dirty="0">
                <a:solidFill>
                  <a:schemeClr val="tx1"/>
                </a:solidFill>
                <a:latin typeface="Roobert" pitchFamily="34" charset="0"/>
                <a:ea typeface="Roobert" pitchFamily="34" charset="-122"/>
                <a:cs typeface="Roobert" pitchFamily="34" charset="-120"/>
              </a:rPr>
              <a:t>25 min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ag Choosing"/>
          <p:cNvSpPr/>
          <p:nvPr/>
        </p:nvSpPr>
        <p:spPr>
          <a:xfrm>
            <a:off x="548640" y="838505"/>
            <a:ext cx="807415" cy="244145"/>
          </a:xfrm>
          <a:prstGeom prst="roundRect">
            <a:avLst>
              <a:gd name="adj" fmla="val 187266"/>
            </a:avLst>
          </a:prstGeom>
          <a:ln w="9525">
            <a:solidFill>
              <a:schemeClr val="tx1"/>
            </a:solidFill>
            <a:prstDash val="solid"/>
          </a:ln>
        </p:spPr>
      </p:sp>
      <p:sp>
        <p:nvSpPr>
          <p:cNvPr id="3" name="Text 1"/>
          <p:cNvSpPr txBox="1"/>
          <p:nvPr/>
        </p:nvSpPr>
        <p:spPr>
          <a:xfrm>
            <a:off x="548640" y="838505"/>
            <a:ext cx="807415" cy="244145"/>
          </a:xfrm>
          <a:prstGeom prst="rect">
            <a:avLst/>
          </a:prstGeom>
          <a:noFill/>
          <a:ln/>
        </p:spPr>
        <p:txBody>
          <a:bodyPr wrap="square" lIns="0" tIns="0" rIns="0" bIns="0" rtlCol="0" anchor="ctr"/>
          <a:lstStyle/>
          <a:p>
            <a:pPr algn="ctr" indent="0" marL="0">
              <a:buNone/>
            </a:pPr>
            <a:r>
              <a:rPr lang="en-US" sz="1000" dirty="0">
                <a:solidFill>
                  <a:schemeClr val="tx1"/>
                </a:solidFill>
                <a:latin typeface="Roobert" pitchFamily="34" charset="0"/>
                <a:ea typeface="Roobert" pitchFamily="34" charset="-122"/>
                <a:cs typeface="Roobert" pitchFamily="34" charset="-120"/>
              </a:rPr>
              <a:t>Choosing</a:t>
            </a:r>
            <a:endParaRPr lang="en-US" sz="1000" dirty="0"/>
          </a:p>
        </p:txBody>
      </p:sp>
      <p:sp>
        <p:nvSpPr>
          <p:cNvPr id="4" name="Title"/>
          <p:cNvSpPr txBox="1"/>
          <p:nvPr/>
        </p:nvSpPr>
        <p:spPr>
          <a:xfrm>
            <a:off x="548640" y="1218895"/>
            <a:ext cx="4114800" cy="3200400"/>
          </a:xfrm>
          <a:prstGeom prst="rect">
            <a:avLst/>
          </a:prstGeom>
          <a:noFill/>
          <a:ln/>
        </p:spPr>
        <p:txBody>
          <a:bodyPr wrap="square" lIns="0" tIns="0" rIns="0" bIns="0" rtlCol="0" anchor="t"/>
          <a:lstStyle/>
          <a:p>
            <a:pPr indent="0" marL="0">
              <a:buNone/>
            </a:pPr>
            <a:r>
              <a:rPr lang="en-US" sz="3800" dirty="0">
                <a:solidFill>
                  <a:schemeClr val="tx1"/>
                </a:solidFill>
                <a:latin typeface="Roobert" pitchFamily="34" charset="0"/>
                <a:ea typeface="Roobert" pitchFamily="34" charset="-122"/>
                <a:cs typeface="Roobert" pitchFamily="34" charset="-120"/>
              </a:rPr>
              <a:t>How to pick</a:t>
            </a:r>
            <a:endParaRPr lang="en-US" sz="3800" dirty="0"/>
          </a:p>
        </p:txBody>
      </p:sp>
      <p:sp>
        <p:nvSpPr>
          <p:cNvPr id="5" name="Shape 3"/>
          <p:cNvSpPr/>
          <p:nvPr/>
        </p:nvSpPr>
        <p:spPr>
          <a:xfrm>
            <a:off x="5181905" y="1143000"/>
            <a:ext cx="6462065" cy="0"/>
          </a:xfrm>
          <a:prstGeom prst="line">
            <a:avLst/>
          </a:prstGeom>
          <a:noFill/>
          <a:ln w="9525">
            <a:solidFill>
              <a:srgbClr val="C9C7BE"/>
            </a:solidFill>
            <a:prstDash val="solid"/>
          </a:ln>
        </p:spPr>
      </p:sp>
      <p:sp>
        <p:nvSpPr>
          <p:cNvPr id="6" name="Text 4"/>
          <p:cNvSpPr txBox="1"/>
          <p:nvPr/>
        </p:nvSpPr>
        <p:spPr>
          <a:xfrm>
            <a:off x="5181905" y="134142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01</a:t>
            </a:r>
            <a:endParaRPr lang="en-US" sz="900" dirty="0"/>
          </a:p>
        </p:txBody>
      </p:sp>
      <p:sp>
        <p:nvSpPr>
          <p:cNvPr id="7" name="Text 5"/>
          <p:cNvSpPr txBox="1"/>
          <p:nvPr/>
        </p:nvSpPr>
        <p:spPr>
          <a:xfrm>
            <a:off x="5639105" y="1264615"/>
            <a:ext cx="6004865" cy="96012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Pick the body first</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Use the Style Bureau filters. Anti-corruption agencies are the crowd favourite. Draw your own conclusions.</a:t>
            </a:r>
            <a:endParaRPr lang="en-US" sz="1700" dirty="0"/>
          </a:p>
        </p:txBody>
      </p:sp>
      <p:sp>
        <p:nvSpPr>
          <p:cNvPr id="8" name="Shape 6"/>
          <p:cNvSpPr/>
          <p:nvPr/>
        </p:nvSpPr>
        <p:spPr>
          <a:xfrm>
            <a:off x="5181905" y="2286000"/>
            <a:ext cx="6462065" cy="0"/>
          </a:xfrm>
          <a:prstGeom prst="line">
            <a:avLst/>
          </a:prstGeom>
          <a:noFill/>
          <a:ln w="9525">
            <a:solidFill>
              <a:srgbClr val="C9C7BE"/>
            </a:solidFill>
            <a:prstDash val="solid"/>
          </a:ln>
        </p:spPr>
      </p:sp>
      <p:sp>
        <p:nvSpPr>
          <p:cNvPr id="9" name="Text 7"/>
          <p:cNvSpPr txBox="1"/>
          <p:nvPr/>
        </p:nvSpPr>
        <p:spPr>
          <a:xfrm>
            <a:off x="5181905" y="248442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02</a:t>
            </a:r>
            <a:endParaRPr lang="en-US" sz="900" dirty="0"/>
          </a:p>
        </p:txBody>
      </p:sp>
      <p:sp>
        <p:nvSpPr>
          <p:cNvPr id="10" name="Text 8"/>
          <p:cNvSpPr txBox="1"/>
          <p:nvPr/>
        </p:nvSpPr>
        <p:spPr>
          <a:xfrm>
            <a:off x="5639105" y="2407615"/>
            <a:ext cx="6004865" cy="96012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Then open its country's dossier</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Every Style Bureau file links to it. Read it properly — twenty minutes will feel long, and that's the point.</a:t>
            </a:r>
            <a:endParaRPr lang="en-US" sz="1700" dirty="0"/>
          </a:p>
        </p:txBody>
      </p:sp>
      <p:sp>
        <p:nvSpPr>
          <p:cNvPr id="11" name="Shape 9"/>
          <p:cNvSpPr/>
          <p:nvPr/>
        </p:nvSpPr>
        <p:spPr>
          <a:xfrm>
            <a:off x="5181905" y="3429000"/>
            <a:ext cx="6462065" cy="0"/>
          </a:xfrm>
          <a:prstGeom prst="line">
            <a:avLst/>
          </a:prstGeom>
          <a:noFill/>
          <a:ln w="9525">
            <a:solidFill>
              <a:srgbClr val="C9C7BE"/>
            </a:solidFill>
            <a:prstDash val="solid"/>
          </a:ln>
        </p:spPr>
      </p:sp>
      <p:sp>
        <p:nvSpPr>
          <p:cNvPr id="12" name="Text 10"/>
          <p:cNvSpPr txBox="1"/>
          <p:nvPr/>
        </p:nvSpPr>
        <p:spPr>
          <a:xfrm>
            <a:off x="5181905" y="362742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03</a:t>
            </a:r>
            <a:endParaRPr lang="en-US" sz="900" dirty="0"/>
          </a:p>
        </p:txBody>
      </p:sp>
      <p:sp>
        <p:nvSpPr>
          <p:cNvPr id="13" name="Text 11"/>
          <p:cNvSpPr txBox="1"/>
          <p:nvPr/>
        </p:nvSpPr>
        <p:spPr>
          <a:xfrm>
            <a:off x="5639105" y="3550615"/>
            <a:ext cx="6004865" cy="96012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Stay away from home, at least once</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If the whole room picks its own country, push one team abroad. The debrief needs contrast.</a:t>
            </a:r>
            <a:endParaRPr lang="en-US" sz="1700" dirty="0"/>
          </a:p>
        </p:txBody>
      </p:sp>
      <p:sp>
        <p:nvSpPr>
          <p:cNvPr id="14" name="Shape 12"/>
          <p:cNvSpPr/>
          <p:nvPr/>
        </p:nvSpPr>
        <p:spPr>
          <a:xfrm>
            <a:off x="5181905" y="4572000"/>
            <a:ext cx="6462065" cy="0"/>
          </a:xfrm>
          <a:prstGeom prst="line">
            <a:avLst/>
          </a:prstGeom>
          <a:noFill/>
          <a:ln w="9525">
            <a:solidFill>
              <a:srgbClr val="C9C7BE"/>
            </a:solidFill>
            <a:prstDash val="solid"/>
          </a:ln>
        </p:spPr>
      </p:sp>
      <p:sp>
        <p:nvSpPr>
          <p:cNvPr id="15" name="Text 13"/>
          <p:cNvSpPr txBox="1"/>
          <p:nvPr/>
        </p:nvSpPr>
        <p:spPr>
          <a:xfrm>
            <a:off x="5181905" y="477042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04</a:t>
            </a:r>
            <a:endParaRPr lang="en-US" sz="900" dirty="0"/>
          </a:p>
        </p:txBody>
      </p:sp>
      <p:sp>
        <p:nvSpPr>
          <p:cNvPr id="16" name="Text 14"/>
          <p:cNvSpPr txBox="1"/>
          <p:nvPr/>
        </p:nvSpPr>
        <p:spPr>
          <a:xfrm>
            <a:off x="5639105" y="4693615"/>
            <a:ext cx="6004865" cy="96012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Pick one case, not three</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A focused site beats a survey. You can always make a second one at home.</a:t>
            </a:r>
            <a:endParaRPr lang="en-US" sz="1700" dirty="0"/>
          </a:p>
        </p:txBody>
      </p:sp>
      <p:sp>
        <p:nvSpPr>
          <p:cNvPr id="17" name="Shape 15"/>
          <p:cNvSpPr/>
          <p:nvPr/>
        </p:nvSpPr>
        <p:spPr>
          <a:xfrm>
            <a:off x="5181905" y="5715000"/>
            <a:ext cx="6462065" cy="0"/>
          </a:xfrm>
          <a:prstGeom prst="line">
            <a:avLst/>
          </a:prstGeom>
          <a:noFill/>
          <a:ln w="9525">
            <a:solidFill>
              <a:srgbClr val="C9C7BE"/>
            </a:solidFill>
            <a:prstDash val="solid"/>
          </a:ln>
        </p:spPr>
      </p:sp>
      <p:sp>
        <p:nvSpPr>
          <p:cNvPr id="19" name="Text 0"/>
          <p:cNvSpPr/>
          <p:nvPr>
            <p:ph idx="100" type="title" hasCustomPrompt="1"/>
          </p:nvPr>
        </p:nvSpPr>
        <p:spPr>
          <a:xfrm>
            <a:off x="548640" y="731520"/>
            <a:ext cx="11094415" cy="761695"/>
          </a:xfrm>
          <a:prstGeom prst="rect">
            <a:avLst/>
          </a:prstGeom>
          <a:noFill/>
          <a:ln/>
        </p:spPr>
        <p:txBody>
          <a:bodyPr wrap="square" lIns="0" tIns="0" rIns="0" bIns="0" rtlCol="0" anchor="b"/>
          <a:lstStyle/>
          <a:p>
            <a:pPr algn="l" indent="0" marL="0">
              <a:buNone/>
            </a:pPr>
            <a:endParaRPr lang="en-US" sz="41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ag Five angles"/>
          <p:cNvSpPr/>
          <p:nvPr/>
        </p:nvSpPr>
        <p:spPr>
          <a:xfrm>
            <a:off x="548640" y="838505"/>
            <a:ext cx="1013155" cy="244145"/>
          </a:xfrm>
          <a:prstGeom prst="roundRect">
            <a:avLst>
              <a:gd name="adj" fmla="val 187266"/>
            </a:avLst>
          </a:prstGeom>
          <a:ln w="9525">
            <a:solidFill>
              <a:schemeClr val="tx1"/>
            </a:solidFill>
            <a:prstDash val="solid"/>
          </a:ln>
        </p:spPr>
      </p:sp>
      <p:sp>
        <p:nvSpPr>
          <p:cNvPr id="3" name="Text 1"/>
          <p:cNvSpPr txBox="1"/>
          <p:nvPr/>
        </p:nvSpPr>
        <p:spPr>
          <a:xfrm>
            <a:off x="548640" y="838505"/>
            <a:ext cx="1013155" cy="244145"/>
          </a:xfrm>
          <a:prstGeom prst="rect">
            <a:avLst/>
          </a:prstGeom>
          <a:noFill/>
          <a:ln/>
        </p:spPr>
        <p:txBody>
          <a:bodyPr wrap="square" lIns="0" tIns="0" rIns="0" bIns="0" rtlCol="0" anchor="ctr"/>
          <a:lstStyle/>
          <a:p>
            <a:pPr algn="ctr" indent="0" marL="0">
              <a:buNone/>
            </a:pPr>
            <a:r>
              <a:rPr lang="en-US" sz="1000" dirty="0">
                <a:solidFill>
                  <a:schemeClr val="tx1"/>
                </a:solidFill>
                <a:latin typeface="Roobert" pitchFamily="34" charset="0"/>
                <a:ea typeface="Roobert" pitchFamily="34" charset="-122"/>
                <a:cs typeface="Roobert" pitchFamily="34" charset="-120"/>
              </a:rPr>
              <a:t>Five angles</a:t>
            </a:r>
            <a:endParaRPr lang="en-US" sz="1000" dirty="0"/>
          </a:p>
        </p:txBody>
      </p:sp>
      <p:sp>
        <p:nvSpPr>
          <p:cNvPr id="4" name="Title"/>
          <p:cNvSpPr txBox="1"/>
          <p:nvPr/>
        </p:nvSpPr>
        <p:spPr>
          <a:xfrm>
            <a:off x="548640" y="1218895"/>
            <a:ext cx="4114800" cy="3200400"/>
          </a:xfrm>
          <a:prstGeom prst="rect">
            <a:avLst/>
          </a:prstGeom>
          <a:noFill/>
          <a:ln/>
        </p:spPr>
        <p:txBody>
          <a:bodyPr wrap="square" lIns="0" tIns="0" rIns="0" bIns="0" rtlCol="0" anchor="t"/>
          <a:lstStyle/>
          <a:p>
            <a:pPr indent="0" marL="0">
              <a:buNone/>
            </a:pPr>
            <a:r>
              <a:rPr lang="en-US" sz="3800" dirty="0">
                <a:solidFill>
                  <a:schemeClr val="tx1"/>
                </a:solidFill>
                <a:latin typeface="Roobert" pitchFamily="34" charset="0"/>
                <a:ea typeface="Roobert" pitchFamily="34" charset="-122"/>
                <a:cs typeface="Roobert" pitchFamily="34" charset="-120"/>
              </a:rPr>
              <a:t>Pick one</a:t>
            </a:r>
            <a:endParaRPr lang="en-US" sz="3800" dirty="0"/>
          </a:p>
        </p:txBody>
      </p:sp>
      <p:sp>
        <p:nvSpPr>
          <p:cNvPr id="5" name="Shape 3"/>
          <p:cNvSpPr/>
          <p:nvPr/>
        </p:nvSpPr>
        <p:spPr>
          <a:xfrm>
            <a:off x="5181905" y="1143000"/>
            <a:ext cx="6462065" cy="0"/>
          </a:xfrm>
          <a:prstGeom prst="line">
            <a:avLst/>
          </a:prstGeom>
          <a:noFill/>
          <a:ln w="9525">
            <a:solidFill>
              <a:srgbClr val="C9C7BE"/>
            </a:solidFill>
            <a:prstDash val="solid"/>
          </a:ln>
        </p:spPr>
      </p:sp>
      <p:sp>
        <p:nvSpPr>
          <p:cNvPr id="6" name="Text 4"/>
          <p:cNvSpPr txBox="1"/>
          <p:nvPr/>
        </p:nvSpPr>
        <p:spPr>
          <a:xfrm>
            <a:off x="5181905" y="134142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01</a:t>
            </a:r>
            <a:endParaRPr lang="en-US" sz="900" dirty="0"/>
          </a:p>
        </p:txBody>
      </p:sp>
      <p:sp>
        <p:nvSpPr>
          <p:cNvPr id="7" name="Text 5"/>
          <p:cNvSpPr txBox="1"/>
          <p:nvPr/>
        </p:nvSpPr>
        <p:spPr>
          <a:xfrm>
            <a:off x="5639105" y="1264615"/>
            <a:ext cx="6004865" cy="82296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The receipt</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One transaction, fully sourced, given the full institutional treatment.</a:t>
            </a:r>
            <a:endParaRPr lang="en-US" sz="1700" dirty="0"/>
          </a:p>
        </p:txBody>
      </p:sp>
      <p:sp>
        <p:nvSpPr>
          <p:cNvPr id="8" name="Shape 6"/>
          <p:cNvSpPr/>
          <p:nvPr/>
        </p:nvSpPr>
        <p:spPr>
          <a:xfrm>
            <a:off x="5181905" y="2148840"/>
            <a:ext cx="6462065" cy="0"/>
          </a:xfrm>
          <a:prstGeom prst="line">
            <a:avLst/>
          </a:prstGeom>
          <a:noFill/>
          <a:ln w="9525">
            <a:solidFill>
              <a:srgbClr val="C9C7BE"/>
            </a:solidFill>
            <a:prstDash val="solid"/>
          </a:ln>
        </p:spPr>
      </p:sp>
      <p:sp>
        <p:nvSpPr>
          <p:cNvPr id="9" name="Text 7"/>
          <p:cNvSpPr txBox="1"/>
          <p:nvPr/>
        </p:nvSpPr>
        <p:spPr>
          <a:xfrm>
            <a:off x="5181905" y="234726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02</a:t>
            </a:r>
            <a:endParaRPr lang="en-US" sz="900" dirty="0"/>
          </a:p>
        </p:txBody>
      </p:sp>
      <p:sp>
        <p:nvSpPr>
          <p:cNvPr id="10" name="Text 8"/>
          <p:cNvSpPr txBox="1"/>
          <p:nvPr/>
        </p:nvSpPr>
        <p:spPr>
          <a:xfrm>
            <a:off x="5639105" y="2270455"/>
            <a:ext cx="6004865" cy="82296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The org chart</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The connection map, rendered as the 'Our structure' page every ministry has.</a:t>
            </a:r>
            <a:endParaRPr lang="en-US" sz="1700" dirty="0"/>
          </a:p>
        </p:txBody>
      </p:sp>
      <p:sp>
        <p:nvSpPr>
          <p:cNvPr id="11" name="Shape 9"/>
          <p:cNvSpPr/>
          <p:nvPr/>
        </p:nvSpPr>
        <p:spPr>
          <a:xfrm>
            <a:off x="5181905" y="3154680"/>
            <a:ext cx="6462065" cy="0"/>
          </a:xfrm>
          <a:prstGeom prst="line">
            <a:avLst/>
          </a:prstGeom>
          <a:noFill/>
          <a:ln w="9525">
            <a:solidFill>
              <a:srgbClr val="C9C7BE"/>
            </a:solidFill>
            <a:prstDash val="solid"/>
          </a:ln>
        </p:spPr>
      </p:sp>
      <p:sp>
        <p:nvSpPr>
          <p:cNvPr id="12" name="Text 10"/>
          <p:cNvSpPr txBox="1"/>
          <p:nvPr/>
        </p:nvSpPr>
        <p:spPr>
          <a:xfrm>
            <a:off x="5181905" y="335310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03</a:t>
            </a:r>
            <a:endParaRPr lang="en-US" sz="900" dirty="0"/>
          </a:p>
        </p:txBody>
      </p:sp>
      <p:sp>
        <p:nvSpPr>
          <p:cNvPr id="13" name="Text 11"/>
          <p:cNvSpPr txBox="1"/>
          <p:nvPr/>
        </p:nvSpPr>
        <p:spPr>
          <a:xfrm>
            <a:off x="5639105" y="3276295"/>
            <a:ext cx="6004865" cy="82296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The timeline</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The scandal as a 'Milestones' or 'Our history' page.</a:t>
            </a:r>
            <a:endParaRPr lang="en-US" sz="1700" dirty="0"/>
          </a:p>
        </p:txBody>
      </p:sp>
      <p:sp>
        <p:nvSpPr>
          <p:cNvPr id="14" name="Shape 12"/>
          <p:cNvSpPr/>
          <p:nvPr/>
        </p:nvSpPr>
        <p:spPr>
          <a:xfrm>
            <a:off x="5181905" y="4160520"/>
            <a:ext cx="6462065" cy="0"/>
          </a:xfrm>
          <a:prstGeom prst="line">
            <a:avLst/>
          </a:prstGeom>
          <a:noFill/>
          <a:ln w="9525">
            <a:solidFill>
              <a:srgbClr val="C9C7BE"/>
            </a:solidFill>
            <a:prstDash val="solid"/>
          </a:ln>
        </p:spPr>
      </p:sp>
      <p:sp>
        <p:nvSpPr>
          <p:cNvPr id="15" name="Text 13"/>
          <p:cNvSpPr txBox="1"/>
          <p:nvPr/>
        </p:nvSpPr>
        <p:spPr>
          <a:xfrm>
            <a:off x="5181905" y="435894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04</a:t>
            </a:r>
            <a:endParaRPr lang="en-US" sz="900" dirty="0"/>
          </a:p>
        </p:txBody>
      </p:sp>
      <p:sp>
        <p:nvSpPr>
          <p:cNvPr id="16" name="Text 14"/>
          <p:cNvSpPr txBox="1"/>
          <p:nvPr/>
        </p:nvSpPr>
        <p:spPr>
          <a:xfrm>
            <a:off x="5639105" y="4282135"/>
            <a:ext cx="6004865" cy="82296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The press release that should have existed</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The announcement, in the institution's own voice, admitting it.</a:t>
            </a:r>
            <a:endParaRPr lang="en-US" sz="1700" dirty="0"/>
          </a:p>
        </p:txBody>
      </p:sp>
      <p:sp>
        <p:nvSpPr>
          <p:cNvPr id="17" name="Shape 15"/>
          <p:cNvSpPr/>
          <p:nvPr/>
        </p:nvSpPr>
        <p:spPr>
          <a:xfrm>
            <a:off x="5181905" y="5166360"/>
            <a:ext cx="6462065" cy="0"/>
          </a:xfrm>
          <a:prstGeom prst="line">
            <a:avLst/>
          </a:prstGeom>
          <a:noFill/>
          <a:ln w="9525">
            <a:solidFill>
              <a:srgbClr val="C9C7BE"/>
            </a:solidFill>
            <a:prstDash val="solid"/>
          </a:ln>
        </p:spPr>
      </p:sp>
      <p:sp>
        <p:nvSpPr>
          <p:cNvPr id="18" name="Text 16"/>
          <p:cNvSpPr txBox="1"/>
          <p:nvPr/>
        </p:nvSpPr>
        <p:spPr>
          <a:xfrm>
            <a:off x="5181905" y="536478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05</a:t>
            </a:r>
            <a:endParaRPr lang="en-US" sz="900" dirty="0"/>
          </a:p>
        </p:txBody>
      </p:sp>
      <p:sp>
        <p:nvSpPr>
          <p:cNvPr id="19" name="Text 17"/>
          <p:cNvSpPr txBox="1"/>
          <p:nvPr/>
        </p:nvSpPr>
        <p:spPr>
          <a:xfrm>
            <a:off x="5639105" y="5287975"/>
            <a:ext cx="6004865" cy="82296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The monument</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A convicted figure honoured like a founder.</a:t>
            </a:r>
            <a:endParaRPr lang="en-US" sz="1700" dirty="0"/>
          </a:p>
        </p:txBody>
      </p:sp>
      <p:sp>
        <p:nvSpPr>
          <p:cNvPr id="20" name="Shape 18"/>
          <p:cNvSpPr/>
          <p:nvPr/>
        </p:nvSpPr>
        <p:spPr>
          <a:xfrm>
            <a:off x="5181905" y="6172200"/>
            <a:ext cx="6462065" cy="0"/>
          </a:xfrm>
          <a:prstGeom prst="line">
            <a:avLst/>
          </a:prstGeom>
          <a:noFill/>
          <a:ln w="9525">
            <a:solidFill>
              <a:srgbClr val="C9C7BE"/>
            </a:solidFill>
            <a:prstDash val="solid"/>
          </a:ln>
        </p:spPr>
      </p:sp>
      <p:sp>
        <p:nvSpPr>
          <p:cNvPr id="22" name="Text 0"/>
          <p:cNvSpPr/>
          <p:nvPr>
            <p:ph idx="100" type="title" hasCustomPrompt="1"/>
          </p:nvPr>
        </p:nvSpPr>
        <p:spPr>
          <a:xfrm>
            <a:off x="548640" y="731520"/>
            <a:ext cx="11094415" cy="761695"/>
          </a:xfrm>
          <a:prstGeom prst="rect">
            <a:avLst/>
          </a:prstGeom>
          <a:noFill/>
          <a:ln/>
        </p:spPr>
        <p:txBody>
          <a:bodyPr wrap="square" lIns="0" tIns="0" rIns="0" bIns="0" rtlCol="0" anchor="b"/>
          <a:lstStyle/>
          <a:p>
            <a:pPr algn="l" indent="0" marL="0">
              <a:buNone/>
            </a:pPr>
            <a:endParaRPr lang="en-US" sz="41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61695"/>
          </a:xfrm>
          <a:prstGeom prst="rect">
            <a:avLst/>
          </a:prstGeom>
          <a:noFill/>
          <a:ln/>
        </p:spPr>
        <p:txBody>
          <a:bodyPr wrap="square" lIns="0" tIns="0" rIns="0" bIns="0" rtlCol="0" anchor="b"/>
          <a:lstStyle/>
          <a:p>
            <a:pPr algn="l" indent="0" marL="0">
              <a:buNone/>
            </a:pPr>
            <a:r>
              <a:rPr lang="en-US" sz="4100" dirty="0">
                <a:solidFill>
                  <a:schemeClr val="tx1"/>
                </a:solidFill>
              </a:rPr>
              <a:t>Specific beats loud</a:t>
            </a:r>
            <a:endParaRPr lang="en-US" sz="4100" dirty="0"/>
          </a:p>
        </p:txBody>
      </p:sp>
      <p:sp>
        <p:nvSpPr>
          <p:cNvPr id="3" name="Text 1"/>
          <p:cNvSpPr txBox="1"/>
          <p:nvPr/>
        </p:nvSpPr>
        <p:spPr>
          <a:xfrm>
            <a:off x="548640" y="1981505"/>
            <a:ext cx="457200" cy="228600"/>
          </a:xfrm>
          <a:prstGeom prst="rect">
            <a:avLst/>
          </a:prstGeom>
          <a:noFill/>
          <a:ln/>
        </p:spPr>
        <p:txBody>
          <a:bodyPr wrap="square" lIns="0" tIns="0" rIns="0" bIns="0" rtlCol="0" anchor="t"/>
          <a:lstStyle/>
          <a:p>
            <a:pPr indent="0" marL="0">
              <a:buNone/>
            </a:pPr>
            <a:r>
              <a:rPr lang="en-US" sz="1000" dirty="0">
                <a:solidFill>
                  <a:srgbClr val="6F6F6A"/>
                </a:solidFill>
                <a:latin typeface="Courier New" pitchFamily="34" charset="0"/>
                <a:ea typeface="Courier New" pitchFamily="34" charset="-122"/>
                <a:cs typeface="Courier New" pitchFamily="34" charset="-120"/>
              </a:rPr>
              <a:t>01</a:t>
            </a:r>
            <a:endParaRPr lang="en-US" sz="1000" dirty="0"/>
          </a:p>
        </p:txBody>
      </p:sp>
      <p:sp>
        <p:nvSpPr>
          <p:cNvPr id="4" name="Text 2"/>
          <p:cNvSpPr txBox="1"/>
          <p:nvPr/>
        </p:nvSpPr>
        <p:spPr>
          <a:xfrm>
            <a:off x="1234440" y="1904695"/>
            <a:ext cx="10439705" cy="457200"/>
          </a:xfrm>
          <a:prstGeom prst="rect">
            <a:avLst/>
          </a:prstGeom>
          <a:noFill/>
          <a:ln/>
        </p:spPr>
        <p:txBody>
          <a:bodyPr wrap="square" lIns="0" tIns="0" rIns="0" bIns="0" rtlCol="0" anchor="t"/>
          <a:lstStyle/>
          <a:p>
            <a:pPr indent="0" marL="0">
              <a:buNone/>
            </a:pPr>
            <a:r>
              <a:rPr lang="en-US" sz="1800" dirty="0">
                <a:solidFill>
                  <a:srgbClr val="A9A8A2"/>
                </a:solidFill>
                <a:latin typeface="Roobert" pitchFamily="34" charset="0"/>
                <a:ea typeface="Roobert" pitchFamily="34" charset="-122"/>
                <a:cs typeface="Roobert" pitchFamily="34" charset="-120"/>
              </a:rPr>
              <a:t>Corruption happened in Spain.</a:t>
            </a:r>
            <a:endParaRPr lang="en-US" sz="1800" dirty="0"/>
          </a:p>
        </p:txBody>
      </p:sp>
      <p:sp>
        <p:nvSpPr>
          <p:cNvPr id="5" name="Text 3"/>
          <p:cNvSpPr txBox="1"/>
          <p:nvPr/>
        </p:nvSpPr>
        <p:spPr>
          <a:xfrm>
            <a:off x="548640" y="2590495"/>
            <a:ext cx="457200" cy="228600"/>
          </a:xfrm>
          <a:prstGeom prst="rect">
            <a:avLst/>
          </a:prstGeom>
          <a:noFill/>
          <a:ln/>
        </p:spPr>
        <p:txBody>
          <a:bodyPr wrap="square" lIns="0" tIns="0" rIns="0" bIns="0" rtlCol="0" anchor="t"/>
          <a:lstStyle/>
          <a:p>
            <a:pPr indent="0" marL="0">
              <a:buNone/>
            </a:pPr>
            <a:r>
              <a:rPr lang="en-US" sz="1000" dirty="0">
                <a:solidFill>
                  <a:srgbClr val="6F6F6A"/>
                </a:solidFill>
                <a:latin typeface="Courier New" pitchFamily="34" charset="0"/>
                <a:ea typeface="Courier New" pitchFamily="34" charset="-122"/>
                <a:cs typeface="Courier New" pitchFamily="34" charset="-120"/>
              </a:rPr>
              <a:t>02</a:t>
            </a:r>
            <a:endParaRPr lang="en-US" sz="1000" dirty="0"/>
          </a:p>
        </p:txBody>
      </p:sp>
      <p:sp>
        <p:nvSpPr>
          <p:cNvPr id="6" name="Text 4"/>
          <p:cNvSpPr txBox="1"/>
          <p:nvPr/>
        </p:nvSpPr>
        <p:spPr>
          <a:xfrm>
            <a:off x="1234440" y="2514600"/>
            <a:ext cx="10439705" cy="533095"/>
          </a:xfrm>
          <a:prstGeom prst="rect">
            <a:avLst/>
          </a:prstGeom>
          <a:noFill/>
          <a:ln/>
        </p:spPr>
        <p:txBody>
          <a:bodyPr wrap="square" lIns="0" tIns="0" rIns="0" bIns="0" rtlCol="0" anchor="t"/>
          <a:lstStyle/>
          <a:p>
            <a:pPr indent="0" marL="0">
              <a:buNone/>
            </a:pPr>
            <a:r>
              <a:rPr lang="en-US" sz="2300" dirty="0">
                <a:solidFill>
                  <a:srgbClr val="6F6F6A"/>
                </a:solidFill>
                <a:latin typeface="Roobert" pitchFamily="34" charset="0"/>
                <a:ea typeface="Roobert" pitchFamily="34" charset="-122"/>
                <a:cs typeface="Roobert" pitchFamily="34" charset="-120"/>
              </a:rPr>
              <a:t>A governing party kept a secret slush fund.</a:t>
            </a:r>
            <a:endParaRPr lang="en-US" sz="2300" dirty="0"/>
          </a:p>
        </p:txBody>
      </p:sp>
      <p:sp>
        <p:nvSpPr>
          <p:cNvPr id="7" name="Text 5"/>
          <p:cNvSpPr txBox="1"/>
          <p:nvPr/>
        </p:nvSpPr>
        <p:spPr>
          <a:xfrm>
            <a:off x="548640" y="3504895"/>
            <a:ext cx="457200" cy="228600"/>
          </a:xfrm>
          <a:prstGeom prst="rect">
            <a:avLst/>
          </a:prstGeom>
          <a:noFill/>
          <a:ln/>
        </p:spPr>
        <p:txBody>
          <a:bodyPr wrap="square" lIns="0" tIns="0" rIns="0" bIns="0" rtlCol="0" anchor="t"/>
          <a:lstStyle/>
          <a:p>
            <a:pPr indent="0" marL="0">
              <a:buNone/>
            </a:pPr>
            <a:r>
              <a:rPr lang="en-US" sz="1000" dirty="0">
                <a:solidFill>
                  <a:srgbClr val="6F6F6A"/>
                </a:solidFill>
                <a:latin typeface="Courier New" pitchFamily="34" charset="0"/>
                <a:ea typeface="Courier New" pitchFamily="34" charset="-122"/>
                <a:cs typeface="Courier New" pitchFamily="34" charset="-120"/>
              </a:rPr>
              <a:t>03</a:t>
            </a:r>
            <a:endParaRPr lang="en-US" sz="1000" dirty="0"/>
          </a:p>
        </p:txBody>
      </p:sp>
      <p:sp>
        <p:nvSpPr>
          <p:cNvPr id="8" name="Text 6"/>
          <p:cNvSpPr txBox="1"/>
          <p:nvPr/>
        </p:nvSpPr>
        <p:spPr>
          <a:xfrm>
            <a:off x="1234440" y="3429000"/>
            <a:ext cx="10439705" cy="2286000"/>
          </a:xfrm>
          <a:prstGeom prst="rect">
            <a:avLst/>
          </a:prstGeom>
          <a:noFill/>
          <a:ln/>
        </p:spPr>
        <p:txBody>
          <a:bodyPr wrap="square" lIns="0" tIns="0" rIns="0" bIns="0" rtlCol="0" anchor="t"/>
          <a:lstStyle/>
          <a:p>
            <a:pPr indent="0" marL="0">
              <a:buNone/>
            </a:pPr>
            <a:r>
              <a:rPr lang="en-US" sz="2500" dirty="0">
                <a:solidFill>
                  <a:schemeClr val="tx1"/>
                </a:solidFill>
                <a:latin typeface="Roobert" pitchFamily="34" charset="0"/>
                <a:ea typeface="Roobert" pitchFamily="34" charset="-122"/>
                <a:cs typeface="Roobert" pitchFamily="34" charset="-120"/>
              </a:rPr>
              <a:t>In May 2018 the Audiencia Nacional found the governing party had run a parallel financing structure since at least 1989–90. The network's ringleader got 51 years and 11 months; the Tribunal Supremo confirmed it in October 2020.</a:t>
            </a:r>
            <a:endParaRPr lang="en-US" sz="2500" dirty="0"/>
          </a:p>
        </p:txBody>
      </p:sp>
      <p:sp>
        <p:nvSpPr>
          <p:cNvPr id="9" name="Text 7"/>
          <p:cNvSpPr txBox="1"/>
          <p:nvPr/>
        </p:nvSpPr>
        <p:spPr>
          <a:xfrm>
            <a:off x="1234440" y="6019495"/>
            <a:ext cx="6096305" cy="228600"/>
          </a:xfrm>
          <a:prstGeom prst="rect">
            <a:avLst/>
          </a:prstGeom>
          <a:noFill/>
          <a:ln/>
        </p:spPr>
        <p:txBody>
          <a:bodyPr wrap="square" lIns="0" tIns="0" rIns="0" bIns="0" rtlCol="0" anchor="t"/>
          <a:lstStyle/>
          <a:p>
            <a:pPr indent="0" marL="0">
              <a:buNone/>
            </a:pPr>
            <a:r>
              <a:rPr lang="en-US" sz="1100" dirty="0">
                <a:solidFill>
                  <a:srgbClr val="6F6F6A"/>
                </a:solidFill>
                <a:latin typeface="Roobert" pitchFamily="34" charset="0"/>
                <a:ea typeface="Roobert" pitchFamily="34" charset="-122"/>
                <a:cs typeface="Roobert" pitchFamily="34" charset="-120"/>
              </a:rPr>
              <a:t>Spain dossier, case 2.1 (Gürtel)</a:t>
            </a:r>
            <a:endParaRPr lang="en-US" sz="11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ag Exercise E2"/>
          <p:cNvSpPr/>
          <p:nvPr/>
        </p:nvSpPr>
        <p:spPr>
          <a:xfrm>
            <a:off x="822960" y="792785"/>
            <a:ext cx="990295" cy="244145"/>
          </a:xfrm>
          <a:prstGeom prst="roundRect">
            <a:avLst>
              <a:gd name="adj" fmla="val 187266"/>
            </a:avLst>
          </a:prstGeom>
          <a:solidFill>
            <a:srgbClr val="0B0C0C"/>
          </a:solidFill>
          <a:ln w="9525">
            <a:solidFill>
              <a:srgbClr val="0B0C0C"/>
            </a:solidFill>
            <a:prstDash val="solid"/>
          </a:ln>
        </p:spPr>
      </p:sp>
      <p:sp>
        <p:nvSpPr>
          <p:cNvPr id="3" name="Text 1"/>
          <p:cNvSpPr txBox="1"/>
          <p:nvPr/>
        </p:nvSpPr>
        <p:spPr>
          <a:xfrm>
            <a:off x="822960" y="792785"/>
            <a:ext cx="990295" cy="244145"/>
          </a:xfrm>
          <a:prstGeom prst="rect">
            <a:avLst/>
          </a:prstGeom>
          <a:noFill/>
          <a:ln/>
        </p:spPr>
        <p:txBody>
          <a:bodyPr wrap="square" lIns="0" tIns="0" rIns="0" bIns="0" rtlCol="0" anchor="ctr"/>
          <a:lstStyle/>
          <a:p>
            <a:pPr algn="ctr" indent="0" marL="0">
              <a:buNone/>
            </a:pPr>
            <a:r>
              <a:rPr lang="en-US" sz="1000" dirty="0">
                <a:solidFill>
                  <a:srgbClr val="FFFFFF"/>
                </a:solidFill>
                <a:latin typeface="Roobert" pitchFamily="34" charset="0"/>
                <a:ea typeface="Roobert" pitchFamily="34" charset="-122"/>
                <a:cs typeface="Roobert" pitchFamily="34" charset="-120"/>
              </a:rPr>
              <a:t>Exercise E2</a:t>
            </a:r>
            <a:endParaRPr lang="en-US" sz="1000" dirty="0"/>
          </a:p>
        </p:txBody>
      </p:sp>
      <p:sp>
        <p:nvSpPr>
          <p:cNvPr id="4" name="Shape 2"/>
          <p:cNvSpPr/>
          <p:nvPr/>
        </p:nvSpPr>
        <p:spPr>
          <a:xfrm>
            <a:off x="1920240" y="845820"/>
            <a:ext cx="137160" cy="137160"/>
          </a:xfrm>
          <a:prstGeom prst="ellipse">
            <a:avLst/>
          </a:prstGeom>
          <a:solidFill>
            <a:schemeClr val="accent6"/>
          </a:solidFill>
          <a:ln/>
        </p:spPr>
      </p:sp>
      <p:sp>
        <p:nvSpPr>
          <p:cNvPr id="5" name="Text 3"/>
          <p:cNvSpPr txBox="1"/>
          <p:nvPr/>
        </p:nvSpPr>
        <p:spPr>
          <a:xfrm>
            <a:off x="2133295" y="792785"/>
            <a:ext cx="1524305" cy="244145"/>
          </a:xfrm>
          <a:prstGeom prst="rect">
            <a:avLst/>
          </a:prstGeom>
          <a:noFill/>
          <a:ln/>
        </p:spPr>
        <p:txBody>
          <a:bodyPr wrap="square" lIns="0" tIns="0" rIns="0" bIns="0" rtlCol="0" anchor="ctr"/>
          <a:lstStyle/>
          <a:p>
            <a:pPr indent="0" marL="0">
              <a:buNone/>
            </a:pPr>
            <a:r>
              <a:rPr lang="en-US" sz="1000" dirty="0">
                <a:solidFill>
                  <a:srgbClr val="6F6F6A"/>
                </a:solidFill>
                <a:latin typeface="Roobert" pitchFamily="34" charset="0"/>
                <a:ea typeface="Roobert" pitchFamily="34" charset="-122"/>
                <a:cs typeface="Roobert" pitchFamily="34" charset="-120"/>
              </a:rPr>
              <a:t>Phase 02</a:t>
            </a:r>
            <a:endParaRPr lang="en-US" sz="1000" dirty="0"/>
          </a:p>
        </p:txBody>
      </p:sp>
      <p:sp>
        <p:nvSpPr>
          <p:cNvPr id="6" name="Text 1"/>
          <p:cNvSpPr/>
          <p:nvPr>
            <p:ph idx="101" type="title" hasCustomPrompt="1"/>
          </p:nvPr>
        </p:nvSpPr>
        <p:spPr>
          <a:xfrm>
            <a:off x="822960" y="1218895"/>
            <a:ext cx="4343400" cy="1828800"/>
          </a:xfrm>
          <a:prstGeom prst="rect">
            <a:avLst/>
          </a:prstGeom>
          <a:noFill/>
          <a:ln/>
        </p:spPr>
        <p:txBody>
          <a:bodyPr wrap="square" lIns="0" tIns="0" rIns="0" bIns="0" rtlCol="0" anchor="t"/>
          <a:lstStyle/>
          <a:p>
            <a:pPr algn="l" indent="0" marL="0">
              <a:buNone/>
            </a:pPr>
            <a:r>
              <a:rPr lang="en-US" sz="4300" dirty="0">
                <a:solidFill>
                  <a:schemeClr val="tx1"/>
                </a:solidFill>
              </a:rPr>
              <a:t>Case card</a:t>
            </a:r>
            <a:endParaRPr lang="en-US" sz="4300" dirty="0"/>
          </a:p>
        </p:txBody>
      </p:sp>
      <p:sp>
        <p:nvSpPr>
          <p:cNvPr id="7" name="Shape 5"/>
          <p:cNvSpPr/>
          <p:nvPr/>
        </p:nvSpPr>
        <p:spPr>
          <a:xfrm>
            <a:off x="822960" y="3200400"/>
            <a:ext cx="4267505" cy="0"/>
          </a:xfrm>
          <a:prstGeom prst="line">
            <a:avLst/>
          </a:prstGeom>
          <a:noFill/>
          <a:ln w="9525">
            <a:solidFill>
              <a:srgbClr val="C9C7BE"/>
            </a:solidFill>
            <a:prstDash val="solid"/>
          </a:ln>
        </p:spPr>
      </p:sp>
      <p:sp>
        <p:nvSpPr>
          <p:cNvPr id="8" name="Text 6"/>
          <p:cNvSpPr txBox="1"/>
          <p:nvPr/>
        </p:nvSpPr>
        <p:spPr>
          <a:xfrm>
            <a:off x="822960" y="3353105"/>
            <a:ext cx="4267505" cy="1143000"/>
          </a:xfrm>
          <a:prstGeom prst="rect">
            <a:avLst/>
          </a:prstGeom>
          <a:noFill/>
          <a:ln/>
        </p:spPr>
        <p:txBody>
          <a:bodyPr wrap="square" lIns="0" tIns="0" rIns="0" bIns="0" rtlCol="0" anchor="t"/>
          <a:lstStyle/>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Time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25 min</a:t>
            </a:r>
            <a:endParaRPr lang="en-US" sz="1300" dirty="0"/>
          </a:p>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Who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Team</a:t>
            </a:r>
            <a:endParaRPr lang="en-US" sz="1300" dirty="0"/>
          </a:p>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Hand in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One case, one angle, every name checked</a:t>
            </a:r>
            <a:endParaRPr lang="en-US" sz="1300" dirty="0"/>
          </a:p>
        </p:txBody>
      </p:sp>
      <p:sp>
        <p:nvSpPr>
          <p:cNvPr id="9" name="Text 7"/>
          <p:cNvSpPr txBox="1"/>
          <p:nvPr/>
        </p:nvSpPr>
        <p:spPr>
          <a:xfrm>
            <a:off x="822960" y="5790895"/>
            <a:ext cx="4572000"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Sheet: pauerrr.github.io/redecorating-power/exercises/#e2</a:t>
            </a:r>
            <a:endParaRPr lang="en-US" sz="900" dirty="0"/>
          </a:p>
        </p:txBody>
      </p:sp>
      <p:sp>
        <p:nvSpPr>
          <p:cNvPr id="10" name="Shape 8"/>
          <p:cNvSpPr/>
          <p:nvPr/>
        </p:nvSpPr>
        <p:spPr>
          <a:xfrm>
            <a:off x="5639105" y="792785"/>
            <a:ext cx="5790895" cy="0"/>
          </a:xfrm>
          <a:prstGeom prst="line">
            <a:avLst/>
          </a:prstGeom>
          <a:noFill/>
          <a:ln w="9525">
            <a:solidFill>
              <a:srgbClr val="C9C7BE"/>
            </a:solidFill>
            <a:prstDash val="solid"/>
          </a:ln>
        </p:spPr>
      </p:sp>
      <p:sp>
        <p:nvSpPr>
          <p:cNvPr id="11" name="Text 9"/>
          <p:cNvSpPr txBox="1"/>
          <p:nvPr/>
        </p:nvSpPr>
        <p:spPr>
          <a:xfrm>
            <a:off x="5639105" y="94457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01</a:t>
            </a:r>
            <a:endParaRPr lang="en-US" sz="900" dirty="0"/>
          </a:p>
        </p:txBody>
      </p:sp>
      <p:sp>
        <p:nvSpPr>
          <p:cNvPr id="12" name="Text 10"/>
          <p:cNvSpPr txBox="1"/>
          <p:nvPr/>
        </p:nvSpPr>
        <p:spPr>
          <a:xfrm>
            <a:off x="6096305" y="89885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Pick a country and one body from the Style Bureau.</a:t>
            </a:r>
            <a:endParaRPr lang="en-US" sz="1600" dirty="0"/>
          </a:p>
        </p:txBody>
      </p:sp>
      <p:sp>
        <p:nvSpPr>
          <p:cNvPr id="13" name="Shape 11"/>
          <p:cNvSpPr/>
          <p:nvPr/>
        </p:nvSpPr>
        <p:spPr>
          <a:xfrm>
            <a:off x="5639105" y="1554480"/>
            <a:ext cx="5790895" cy="0"/>
          </a:xfrm>
          <a:prstGeom prst="line">
            <a:avLst/>
          </a:prstGeom>
          <a:noFill/>
          <a:ln w="9525">
            <a:solidFill>
              <a:srgbClr val="C9C7BE"/>
            </a:solidFill>
            <a:prstDash val="solid"/>
          </a:ln>
        </p:spPr>
      </p:sp>
      <p:sp>
        <p:nvSpPr>
          <p:cNvPr id="14" name="Text 12"/>
          <p:cNvSpPr txBox="1"/>
          <p:nvPr/>
        </p:nvSpPr>
        <p:spPr>
          <a:xfrm>
            <a:off x="5639105" y="170718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02</a:t>
            </a:r>
            <a:endParaRPr lang="en-US" sz="900" dirty="0"/>
          </a:p>
        </p:txBody>
      </p:sp>
      <p:sp>
        <p:nvSpPr>
          <p:cNvPr id="15" name="Text 13"/>
          <p:cNvSpPr txBox="1"/>
          <p:nvPr/>
        </p:nvSpPr>
        <p:spPr>
          <a:xfrm>
            <a:off x="6096305" y="166146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Read that country's dossier. Choose one case and one angle.</a:t>
            </a:r>
            <a:endParaRPr lang="en-US" sz="1600" dirty="0"/>
          </a:p>
        </p:txBody>
      </p:sp>
      <p:sp>
        <p:nvSpPr>
          <p:cNvPr id="16" name="Shape 14"/>
          <p:cNvSpPr/>
          <p:nvPr/>
        </p:nvSpPr>
        <p:spPr>
          <a:xfrm>
            <a:off x="5639105" y="2316175"/>
            <a:ext cx="5790895" cy="0"/>
          </a:xfrm>
          <a:prstGeom prst="line">
            <a:avLst/>
          </a:prstGeom>
          <a:noFill/>
          <a:ln w="9525">
            <a:solidFill>
              <a:srgbClr val="C9C7BE"/>
            </a:solidFill>
            <a:prstDash val="solid"/>
          </a:ln>
        </p:spPr>
      </p:sp>
      <p:sp>
        <p:nvSpPr>
          <p:cNvPr id="17" name="Text 15"/>
          <p:cNvSpPr txBox="1"/>
          <p:nvPr/>
        </p:nvSpPr>
        <p:spPr>
          <a:xfrm>
            <a:off x="5639105" y="2468880"/>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03</a:t>
            </a:r>
            <a:endParaRPr lang="en-US" sz="900" dirty="0"/>
          </a:p>
        </p:txBody>
      </p:sp>
      <p:sp>
        <p:nvSpPr>
          <p:cNvPr id="18" name="Text 16"/>
          <p:cNvSpPr txBox="1"/>
          <p:nvPr/>
        </p:nvSpPr>
        <p:spPr>
          <a:xfrm>
            <a:off x="6096305" y="2423160"/>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Fill the card: the number that hurts, the date, the court, the source.</a:t>
            </a:r>
            <a:endParaRPr lang="en-US" sz="1600" dirty="0"/>
          </a:p>
        </p:txBody>
      </p:sp>
      <p:sp>
        <p:nvSpPr>
          <p:cNvPr id="19" name="Shape 17"/>
          <p:cNvSpPr/>
          <p:nvPr/>
        </p:nvSpPr>
        <p:spPr>
          <a:xfrm>
            <a:off x="5639105" y="3078785"/>
            <a:ext cx="5790895" cy="0"/>
          </a:xfrm>
          <a:prstGeom prst="line">
            <a:avLst/>
          </a:prstGeom>
          <a:noFill/>
          <a:ln w="9525">
            <a:solidFill>
              <a:srgbClr val="C9C7BE"/>
            </a:solidFill>
            <a:prstDash val="solid"/>
          </a:ln>
        </p:spPr>
      </p:sp>
      <p:sp>
        <p:nvSpPr>
          <p:cNvPr id="20" name="Text 18"/>
          <p:cNvSpPr txBox="1"/>
          <p:nvPr/>
        </p:nvSpPr>
        <p:spPr>
          <a:xfrm>
            <a:off x="5639105" y="323057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04</a:t>
            </a:r>
            <a:endParaRPr lang="en-US" sz="900" dirty="0"/>
          </a:p>
        </p:txBody>
      </p:sp>
      <p:sp>
        <p:nvSpPr>
          <p:cNvPr id="21" name="Text 19"/>
          <p:cNvSpPr txBox="1"/>
          <p:nvPr/>
        </p:nvSpPr>
        <p:spPr>
          <a:xfrm>
            <a:off x="6096305" y="318485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Every person you will name gets a status line: convicted (final) or resigned.</a:t>
            </a:r>
            <a:endParaRPr lang="en-US" sz="1600" dirty="0"/>
          </a:p>
        </p:txBody>
      </p:sp>
      <p:sp>
        <p:nvSpPr>
          <p:cNvPr id="22" name="Shape 20"/>
          <p:cNvSpPr/>
          <p:nvPr/>
        </p:nvSpPr>
        <p:spPr>
          <a:xfrm>
            <a:off x="5639105" y="3840480"/>
            <a:ext cx="5790895" cy="0"/>
          </a:xfrm>
          <a:prstGeom prst="line">
            <a:avLst/>
          </a:prstGeom>
          <a:noFill/>
          <a:ln w="9525">
            <a:solidFill>
              <a:srgbClr val="C9C7BE"/>
            </a:solidFill>
            <a:prstDash val="solid"/>
          </a:ln>
        </p:spPr>
      </p:sp>
      <p:sp>
        <p:nvSpPr>
          <p:cNvPr id="23" name="Text 21"/>
          <p:cNvSpPr txBox="1"/>
          <p:nvPr/>
        </p:nvSpPr>
        <p:spPr>
          <a:xfrm>
            <a:off x="5639105" y="399318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05</a:t>
            </a:r>
            <a:endParaRPr lang="en-US" sz="900" dirty="0"/>
          </a:p>
        </p:txBody>
      </p:sp>
      <p:sp>
        <p:nvSpPr>
          <p:cNvPr id="24" name="Text 22"/>
          <p:cNvSpPr txBox="1"/>
          <p:nvPr/>
        </p:nvSpPr>
        <p:spPr>
          <a:xfrm>
            <a:off x="6096305" y="394746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Show a facilitator. Go / no-go before you leave this phase.</a:t>
            </a:r>
            <a:endParaRPr lang="en-US" sz="1600" dirty="0"/>
          </a:p>
        </p:txBody>
      </p:sp>
      <p:sp>
        <p:nvSpPr>
          <p:cNvPr id="25" name="Shape 23"/>
          <p:cNvSpPr/>
          <p:nvPr/>
        </p:nvSpPr>
        <p:spPr>
          <a:xfrm>
            <a:off x="5639105" y="4602175"/>
            <a:ext cx="5790895" cy="0"/>
          </a:xfrm>
          <a:prstGeom prst="line">
            <a:avLst/>
          </a:prstGeom>
          <a:noFill/>
          <a:ln w="9525">
            <a:solidFill>
              <a:srgbClr val="C9C7BE"/>
            </a:solidFill>
            <a:prstDash val="solid"/>
          </a:ln>
        </p:spPr>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chemeClr val="accent1"/>
        </a:solidFill>
      </p:bgPr>
    </p:bg>
    <p:spTree>
      <p:nvGrpSpPr>
        <p:cNvPr id="1" name=""/>
        <p:cNvGrpSpPr/>
        <p:nvPr/>
      </p:nvGrpSpPr>
      <p:grpSpPr>
        <a:xfrm>
          <a:off x="0" y="0"/>
          <a:ext cx="0" cy="0"/>
          <a:chOff x="0" y="0"/>
          <a:chExt cx="0" cy="0"/>
        </a:xfrm>
      </p:grpSpPr>
      <p:sp>
        <p:nvSpPr>
          <p:cNvPr id="2" name="Break"/>
          <p:cNvSpPr txBox="1"/>
          <p:nvPr/>
        </p:nvSpPr>
        <p:spPr>
          <a:xfrm>
            <a:off x="457200" y="1143000"/>
            <a:ext cx="8382305" cy="2438705"/>
          </a:xfrm>
          <a:prstGeom prst="rect">
            <a:avLst/>
          </a:prstGeom>
          <a:noFill/>
          <a:ln/>
        </p:spPr>
        <p:txBody>
          <a:bodyPr wrap="square" lIns="0" tIns="0" rIns="0" bIns="0" rtlCol="0" anchor="t"/>
          <a:lstStyle/>
          <a:p>
            <a:pPr indent="0" marL="0">
              <a:buNone/>
            </a:pPr>
            <a:r>
              <a:rPr lang="en-US" sz="17400" dirty="0">
                <a:solidFill>
                  <a:schemeClr val="tx1"/>
                </a:solidFill>
                <a:latin typeface="Roobert" pitchFamily="34" charset="0"/>
                <a:ea typeface="Roobert" pitchFamily="34" charset="-122"/>
                <a:cs typeface="Roobert" pitchFamily="34" charset="-120"/>
              </a:rPr>
              <a:t>Break</a:t>
            </a:r>
            <a:endParaRPr lang="en-US" sz="17400" dirty="0"/>
          </a:p>
        </p:txBody>
      </p:sp>
      <p:sp>
        <p:nvSpPr>
          <p:cNvPr id="3" name="Text 1"/>
          <p:cNvSpPr txBox="1"/>
          <p:nvPr/>
        </p:nvSpPr>
        <p:spPr>
          <a:xfrm>
            <a:off x="609905" y="3657600"/>
            <a:ext cx="6096305" cy="609905"/>
          </a:xfrm>
          <a:prstGeom prst="rect">
            <a:avLst/>
          </a:prstGeom>
          <a:noFill/>
          <a:ln/>
        </p:spPr>
        <p:txBody>
          <a:bodyPr wrap="square" lIns="0" tIns="0" rIns="0" bIns="0" rtlCol="0" anchor="t"/>
          <a:lstStyle/>
          <a:p>
            <a:pPr indent="0" marL="0">
              <a:buNone/>
            </a:pPr>
            <a:r>
              <a:rPr lang="en-US" sz="3200" dirty="0">
                <a:solidFill>
                  <a:schemeClr val="tx1"/>
                </a:solidFill>
                <a:latin typeface="Roobert" pitchFamily="34" charset="0"/>
                <a:ea typeface="Roobert" pitchFamily="34" charset="-122"/>
                <a:cs typeface="Roobert" pitchFamily="34" charset="-120"/>
              </a:rPr>
              <a:t>10 minutes</a:t>
            </a:r>
            <a:endParaRPr lang="en-US" sz="3200" dirty="0"/>
          </a:p>
        </p:txBody>
      </p:sp>
      <p:sp>
        <p:nvSpPr>
          <p:cNvPr id="4" name="Text 2"/>
          <p:cNvSpPr txBox="1"/>
          <p:nvPr/>
        </p:nvSpPr>
        <p:spPr>
          <a:xfrm>
            <a:off x="609905" y="5790895"/>
            <a:ext cx="9144000" cy="457200"/>
          </a:xfrm>
          <a:prstGeom prst="rect">
            <a:avLst/>
          </a:prstGeom>
          <a:noFill/>
          <a:ln/>
        </p:spPr>
        <p:txBody>
          <a:bodyPr wrap="square" lIns="0" tIns="0" rIns="0" bIns="0" rtlCol="0" anchor="t"/>
          <a:lstStyle/>
          <a:p>
            <a:pPr indent="0" marL="0">
              <a:buNone/>
            </a:pPr>
            <a:r>
              <a:rPr lang="en-US" sz="1800" dirty="0">
                <a:solidFill>
                  <a:schemeClr val="tx1"/>
                </a:solidFill>
                <a:latin typeface="Roobert" pitchFamily="34" charset="0"/>
                <a:ea typeface="Roobert" pitchFamily="34" charset="-122"/>
                <a:cs typeface="Roobert" pitchFamily="34" charset="-120"/>
              </a:rPr>
              <a:t>The state runs on coffee too.</a:t>
            </a:r>
            <a:endParaRPr lang="en-US" sz="1800" dirty="0"/>
          </a:p>
        </p:txBody>
      </p:sp>
      <p:sp>
        <p:nvSpPr>
          <p:cNvPr id="6" name="Text 0"/>
          <p:cNvSpPr/>
          <p:nvPr>
            <p:ph idx="100" type="title" hasCustomPrompt="1"/>
          </p:nvPr>
        </p:nvSpPr>
        <p:spPr>
          <a:xfrm>
            <a:off x="548640" y="4267505"/>
            <a:ext cx="10668305" cy="1524305"/>
          </a:xfrm>
          <a:prstGeom prst="rect">
            <a:avLst/>
          </a:prstGeom>
          <a:noFill/>
          <a:ln/>
        </p:spPr>
        <p:txBody>
          <a:bodyPr wrap="square" lIns="0" tIns="0" rIns="0" bIns="0" rtlCol="0" anchor="b"/>
          <a:lstStyle/>
          <a:p>
            <a:pPr algn="l" indent="0" marL="0">
              <a:buNone/>
            </a:pPr>
            <a:endParaRPr lang="en-US" sz="6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chemeClr val="accent5"/>
        </a:solidFill>
      </p:bgPr>
    </p:bg>
    <p:spTree>
      <p:nvGrpSpPr>
        <p:cNvPr id="1" name=""/>
        <p:cNvGrpSpPr/>
        <p:nvPr/>
      </p:nvGrpSpPr>
      <p:grpSpPr>
        <a:xfrm>
          <a:off x="0" y="0"/>
          <a:ext cx="0" cy="0"/>
          <a:chOff x="0" y="0"/>
          <a:chExt cx="0" cy="0"/>
        </a:xfrm>
      </p:grpSpPr>
      <p:sp>
        <p:nvSpPr>
          <p:cNvPr id="2" name="Phase number"/>
          <p:cNvSpPr txBox="1"/>
          <p:nvPr/>
        </p:nvSpPr>
        <p:spPr>
          <a:xfrm>
            <a:off x="441655" y="152705"/>
            <a:ext cx="7619695" cy="3200400"/>
          </a:xfrm>
          <a:prstGeom prst="rect">
            <a:avLst/>
          </a:prstGeom>
          <a:noFill/>
          <a:ln/>
        </p:spPr>
        <p:txBody>
          <a:bodyPr wrap="square" lIns="0" tIns="0" rIns="0" bIns="0" rtlCol="0" anchor="t"/>
          <a:lstStyle/>
          <a:p>
            <a:pPr indent="0" marL="0">
              <a:buNone/>
            </a:pPr>
            <a:r>
              <a:rPr lang="en-US" sz="25200" dirty="0">
                <a:solidFill>
                  <a:schemeClr val="tx1"/>
                </a:solidFill>
                <a:latin typeface="Roobert" pitchFamily="34" charset="0"/>
                <a:ea typeface="Roobert" pitchFamily="34" charset="-122"/>
                <a:cs typeface="Roobert" pitchFamily="34" charset="-120"/>
              </a:rPr>
              <a:t>03</a:t>
            </a:r>
            <a:endParaRPr lang="en-US" sz="25200" dirty="0"/>
          </a:p>
        </p:txBody>
      </p:sp>
      <p:sp>
        <p:nvSpPr>
          <p:cNvPr id="3" name="Text 0"/>
          <p:cNvSpPr/>
          <p:nvPr>
            <p:ph idx="100" type="title" hasCustomPrompt="1"/>
          </p:nvPr>
        </p:nvSpPr>
        <p:spPr>
          <a:xfrm>
            <a:off x="548640" y="4267505"/>
            <a:ext cx="10668305" cy="1524305"/>
          </a:xfrm>
          <a:prstGeom prst="rect">
            <a:avLst/>
          </a:prstGeom>
          <a:noFill/>
          <a:ln/>
        </p:spPr>
        <p:txBody>
          <a:bodyPr wrap="square" lIns="0" tIns="0" rIns="0" bIns="0" rtlCol="0" anchor="b"/>
          <a:lstStyle/>
          <a:p>
            <a:pPr algn="l" indent="0" marL="0">
              <a:buNone/>
            </a:pPr>
            <a:r>
              <a:rPr lang="en-US" sz="6200" dirty="0">
                <a:solidFill>
                  <a:schemeClr val="tx1"/>
                </a:solidFill>
              </a:rPr>
              <a:t>Clone the skin</a:t>
            </a:r>
            <a:endParaRPr lang="en-US" sz="6200" dirty="0"/>
          </a:p>
        </p:txBody>
      </p:sp>
      <p:sp>
        <p:nvSpPr>
          <p:cNvPr id="4" name="Text 2"/>
          <p:cNvSpPr txBox="1"/>
          <p:nvPr/>
        </p:nvSpPr>
        <p:spPr>
          <a:xfrm>
            <a:off x="548640" y="5943600"/>
            <a:ext cx="9905695" cy="381305"/>
          </a:xfrm>
          <a:prstGeom prst="rect">
            <a:avLst/>
          </a:prstGeom>
          <a:noFill/>
          <a:ln/>
        </p:spPr>
        <p:txBody>
          <a:bodyPr wrap="square" lIns="0" tIns="0" rIns="0" bIns="0" rtlCol="0" anchor="t"/>
          <a:lstStyle/>
          <a:p>
            <a:pPr indent="0" marL="0">
              <a:buNone/>
            </a:pPr>
            <a:r>
              <a:rPr lang="en-US" sz="1800" dirty="0">
                <a:solidFill>
                  <a:schemeClr val="tx1"/>
                </a:solidFill>
                <a:latin typeface="Roobert" pitchFamily="34" charset="0"/>
                <a:ea typeface="Roobert" pitchFamily="34" charset="-122"/>
                <a:cs typeface="Roobert" pitchFamily="34" charset="-120"/>
              </a:rPr>
              <a:t>Chrome before content.</a:t>
            </a:r>
            <a:endParaRPr lang="en-US" sz="1800" dirty="0"/>
          </a:p>
        </p:txBody>
      </p:sp>
      <p:sp>
        <p:nvSpPr>
          <p:cNvPr id="5" name="Duration"/>
          <p:cNvSpPr/>
          <p:nvPr/>
        </p:nvSpPr>
        <p:spPr>
          <a:xfrm>
            <a:off x="10591495" y="457200"/>
            <a:ext cx="1067105" cy="395935"/>
          </a:xfrm>
          <a:prstGeom prst="roundRect">
            <a:avLst>
              <a:gd name="adj" fmla="val 115473"/>
            </a:avLst>
          </a:prstGeom>
          <a:ln w="12700">
            <a:solidFill>
              <a:schemeClr val="tx1"/>
            </a:solidFill>
            <a:prstDash val="solid"/>
          </a:ln>
        </p:spPr>
      </p:sp>
      <p:sp>
        <p:nvSpPr>
          <p:cNvPr id="6" name="Text 4"/>
          <p:cNvSpPr txBox="1"/>
          <p:nvPr/>
        </p:nvSpPr>
        <p:spPr>
          <a:xfrm>
            <a:off x="10591495" y="457200"/>
            <a:ext cx="1067105" cy="395935"/>
          </a:xfrm>
          <a:prstGeom prst="rect">
            <a:avLst/>
          </a:prstGeom>
          <a:noFill/>
          <a:ln/>
        </p:spPr>
        <p:txBody>
          <a:bodyPr wrap="square" lIns="0" tIns="0" rIns="0" bIns="0" rtlCol="0" anchor="ctr"/>
          <a:lstStyle/>
          <a:p>
            <a:pPr algn="ctr" indent="0" marL="0">
              <a:buNone/>
            </a:pPr>
            <a:r>
              <a:rPr lang="en-US" sz="1400" dirty="0">
                <a:solidFill>
                  <a:schemeClr val="tx1"/>
                </a:solidFill>
                <a:latin typeface="Roobert" pitchFamily="34" charset="0"/>
                <a:ea typeface="Roobert" pitchFamily="34" charset="-122"/>
                <a:cs typeface="Roobert" pitchFamily="34" charset="-120"/>
              </a:rPr>
              <a:t>45 min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ag Workflow"/>
          <p:cNvSpPr/>
          <p:nvPr/>
        </p:nvSpPr>
        <p:spPr>
          <a:xfrm>
            <a:off x="548640" y="838505"/>
            <a:ext cx="807415" cy="244145"/>
          </a:xfrm>
          <a:prstGeom prst="roundRect">
            <a:avLst>
              <a:gd name="adj" fmla="val 187266"/>
            </a:avLst>
          </a:prstGeom>
          <a:ln w="9525">
            <a:solidFill>
              <a:schemeClr val="tx1"/>
            </a:solidFill>
            <a:prstDash val="solid"/>
          </a:ln>
        </p:spPr>
      </p:sp>
      <p:sp>
        <p:nvSpPr>
          <p:cNvPr id="3" name="Text 1"/>
          <p:cNvSpPr txBox="1"/>
          <p:nvPr/>
        </p:nvSpPr>
        <p:spPr>
          <a:xfrm>
            <a:off x="548640" y="838505"/>
            <a:ext cx="807415" cy="244145"/>
          </a:xfrm>
          <a:prstGeom prst="rect">
            <a:avLst/>
          </a:prstGeom>
          <a:noFill/>
          <a:ln/>
        </p:spPr>
        <p:txBody>
          <a:bodyPr wrap="square" lIns="0" tIns="0" rIns="0" bIns="0" rtlCol="0" anchor="ctr"/>
          <a:lstStyle/>
          <a:p>
            <a:pPr algn="ctr" indent="0" marL="0">
              <a:buNone/>
            </a:pPr>
            <a:r>
              <a:rPr lang="en-US" sz="1000" dirty="0">
                <a:solidFill>
                  <a:schemeClr val="tx1"/>
                </a:solidFill>
                <a:latin typeface="Roobert" pitchFamily="34" charset="0"/>
                <a:ea typeface="Roobert" pitchFamily="34" charset="-122"/>
                <a:cs typeface="Roobert" pitchFamily="34" charset="-120"/>
              </a:rPr>
              <a:t>Workflow</a:t>
            </a:r>
            <a:endParaRPr lang="en-US" sz="1000" dirty="0"/>
          </a:p>
        </p:txBody>
      </p:sp>
      <p:sp>
        <p:nvSpPr>
          <p:cNvPr id="4" name="Title"/>
          <p:cNvSpPr txBox="1"/>
          <p:nvPr/>
        </p:nvSpPr>
        <p:spPr>
          <a:xfrm>
            <a:off x="548640" y="1218895"/>
            <a:ext cx="4114800" cy="3200400"/>
          </a:xfrm>
          <a:prstGeom prst="rect">
            <a:avLst/>
          </a:prstGeom>
          <a:noFill/>
          <a:ln/>
        </p:spPr>
        <p:txBody>
          <a:bodyPr wrap="square" lIns="0" tIns="0" rIns="0" bIns="0" rtlCol="0" anchor="t"/>
          <a:lstStyle/>
          <a:p>
            <a:pPr indent="0" marL="0">
              <a:buNone/>
            </a:pPr>
            <a:r>
              <a:rPr lang="en-US" sz="3800" dirty="0">
                <a:solidFill>
                  <a:schemeClr val="tx1"/>
                </a:solidFill>
                <a:latin typeface="Roobert" pitchFamily="34" charset="0"/>
                <a:ea typeface="Roobert" pitchFamily="34" charset="-122"/>
                <a:cs typeface="Roobert" pitchFamily="34" charset="-120"/>
              </a:rPr>
              <a:t>Four moves</a:t>
            </a:r>
            <a:endParaRPr lang="en-US" sz="3800" dirty="0"/>
          </a:p>
        </p:txBody>
      </p:sp>
      <p:sp>
        <p:nvSpPr>
          <p:cNvPr id="5" name="Shape 3"/>
          <p:cNvSpPr/>
          <p:nvPr/>
        </p:nvSpPr>
        <p:spPr>
          <a:xfrm>
            <a:off x="5181905" y="1143000"/>
            <a:ext cx="6462065" cy="0"/>
          </a:xfrm>
          <a:prstGeom prst="line">
            <a:avLst/>
          </a:prstGeom>
          <a:noFill/>
          <a:ln w="9525">
            <a:solidFill>
              <a:srgbClr val="C9C7BE"/>
            </a:solidFill>
            <a:prstDash val="solid"/>
          </a:ln>
        </p:spPr>
      </p:sp>
      <p:sp>
        <p:nvSpPr>
          <p:cNvPr id="6" name="Text 4"/>
          <p:cNvSpPr txBox="1"/>
          <p:nvPr/>
        </p:nvSpPr>
        <p:spPr>
          <a:xfrm>
            <a:off x="5181905" y="134142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01</a:t>
            </a:r>
            <a:endParaRPr lang="en-US" sz="900" dirty="0"/>
          </a:p>
        </p:txBody>
      </p:sp>
      <p:sp>
        <p:nvSpPr>
          <p:cNvPr id="7" name="Text 5"/>
          <p:cNvSpPr txBox="1"/>
          <p:nvPr/>
        </p:nvSpPr>
        <p:spPr>
          <a:xfrm>
            <a:off x="5639105" y="1264615"/>
            <a:ext cx="6004865" cy="96012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Copy the style prompt</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Style Bureau → your body → Copy style prompt. Paste it into your agent. Fonts, palette, layout, patterns, wording and reference CSS, already assembled.</a:t>
            </a:r>
            <a:endParaRPr lang="en-US" sz="1700" dirty="0"/>
          </a:p>
        </p:txBody>
      </p:sp>
      <p:sp>
        <p:nvSpPr>
          <p:cNvPr id="8" name="Shape 6"/>
          <p:cNvSpPr/>
          <p:nvPr/>
        </p:nvSpPr>
        <p:spPr>
          <a:xfrm>
            <a:off x="5181905" y="2286000"/>
            <a:ext cx="6462065" cy="0"/>
          </a:xfrm>
          <a:prstGeom prst="line">
            <a:avLst/>
          </a:prstGeom>
          <a:noFill/>
          <a:ln w="9525">
            <a:solidFill>
              <a:srgbClr val="C9C7BE"/>
            </a:solidFill>
            <a:prstDash val="solid"/>
          </a:ln>
        </p:spPr>
      </p:sp>
      <p:sp>
        <p:nvSpPr>
          <p:cNvPr id="9" name="Text 7"/>
          <p:cNvSpPr txBox="1"/>
          <p:nvPr/>
        </p:nvSpPr>
        <p:spPr>
          <a:xfrm>
            <a:off x="5181905" y="248442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02</a:t>
            </a:r>
            <a:endParaRPr lang="en-US" sz="900" dirty="0"/>
          </a:p>
        </p:txBody>
      </p:sp>
      <p:sp>
        <p:nvSpPr>
          <p:cNvPr id="10" name="Text 8"/>
          <p:cNvSpPr txBox="1"/>
          <p:nvPr/>
        </p:nvSpPr>
        <p:spPr>
          <a:xfrm>
            <a:off x="5639105" y="2407615"/>
            <a:ext cx="6004865" cy="96012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Build the empty shell</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Header, emblem, menu, breadcrumb, footer, cookie banner. Placeholder text only. The authority lives in the chrome.</a:t>
            </a:r>
            <a:endParaRPr lang="en-US" sz="1700" dirty="0"/>
          </a:p>
        </p:txBody>
      </p:sp>
      <p:sp>
        <p:nvSpPr>
          <p:cNvPr id="11" name="Shape 9"/>
          <p:cNvSpPr/>
          <p:nvPr/>
        </p:nvSpPr>
        <p:spPr>
          <a:xfrm>
            <a:off x="5181905" y="3429000"/>
            <a:ext cx="6462065" cy="0"/>
          </a:xfrm>
          <a:prstGeom prst="line">
            <a:avLst/>
          </a:prstGeom>
          <a:noFill/>
          <a:ln w="9525">
            <a:solidFill>
              <a:srgbClr val="C9C7BE"/>
            </a:solidFill>
            <a:prstDash val="solid"/>
          </a:ln>
        </p:spPr>
      </p:sp>
      <p:sp>
        <p:nvSpPr>
          <p:cNvPr id="12" name="Text 10"/>
          <p:cNvSpPr txBox="1"/>
          <p:nvPr/>
        </p:nvSpPr>
        <p:spPr>
          <a:xfrm>
            <a:off x="5181905" y="362742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03</a:t>
            </a:r>
            <a:endParaRPr lang="en-US" sz="900" dirty="0"/>
          </a:p>
        </p:txBody>
      </p:sp>
      <p:sp>
        <p:nvSpPr>
          <p:cNvPr id="13" name="Text 11"/>
          <p:cNvSpPr txBox="1"/>
          <p:nvPr/>
        </p:nvSpPr>
        <p:spPr>
          <a:xfrm>
            <a:off x="5639105" y="3550615"/>
            <a:ext cx="6004865" cy="96012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Diff against the screenshot</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Drop the full screenshot into the chat. Ask for a list of every difference, then for the fixes.</a:t>
            </a:r>
            <a:endParaRPr lang="en-US" sz="1700" dirty="0"/>
          </a:p>
        </p:txBody>
      </p:sp>
      <p:sp>
        <p:nvSpPr>
          <p:cNvPr id="14" name="Shape 12"/>
          <p:cNvSpPr/>
          <p:nvPr/>
        </p:nvSpPr>
        <p:spPr>
          <a:xfrm>
            <a:off x="5181905" y="4572000"/>
            <a:ext cx="6462065" cy="0"/>
          </a:xfrm>
          <a:prstGeom prst="line">
            <a:avLst/>
          </a:prstGeom>
          <a:noFill/>
          <a:ln w="9525">
            <a:solidFill>
              <a:srgbClr val="C9C7BE"/>
            </a:solidFill>
            <a:prstDash val="solid"/>
          </a:ln>
        </p:spPr>
      </p:sp>
      <p:sp>
        <p:nvSpPr>
          <p:cNvPr id="15" name="Text 13"/>
          <p:cNvSpPr txBox="1"/>
          <p:nvPr/>
        </p:nvSpPr>
        <p:spPr>
          <a:xfrm>
            <a:off x="5181905" y="477042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04</a:t>
            </a:r>
            <a:endParaRPr lang="en-US" sz="900" dirty="0"/>
          </a:p>
        </p:txBody>
      </p:sp>
      <p:sp>
        <p:nvSpPr>
          <p:cNvPr id="16" name="Text 14"/>
          <p:cNvSpPr txBox="1"/>
          <p:nvPr/>
        </p:nvSpPr>
        <p:spPr>
          <a:xfrm>
            <a:off x="5639105" y="4693615"/>
            <a:ext cx="6004865" cy="96012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Swap screens</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At minute 35, trade laptops with the next table for two minutes. They name the one thing that gives you away.</a:t>
            </a:r>
            <a:endParaRPr lang="en-US" sz="1700" dirty="0"/>
          </a:p>
        </p:txBody>
      </p:sp>
      <p:sp>
        <p:nvSpPr>
          <p:cNvPr id="17" name="Shape 15"/>
          <p:cNvSpPr/>
          <p:nvPr/>
        </p:nvSpPr>
        <p:spPr>
          <a:xfrm>
            <a:off x="5181905" y="5715000"/>
            <a:ext cx="6462065" cy="0"/>
          </a:xfrm>
          <a:prstGeom prst="line">
            <a:avLst/>
          </a:prstGeom>
          <a:noFill/>
          <a:ln w="9525">
            <a:solidFill>
              <a:srgbClr val="C9C7BE"/>
            </a:solidFill>
            <a:prstDash val="solid"/>
          </a:ln>
        </p:spPr>
      </p:sp>
      <p:sp>
        <p:nvSpPr>
          <p:cNvPr id="19" name="Text 0"/>
          <p:cNvSpPr/>
          <p:nvPr>
            <p:ph idx="100" type="title" hasCustomPrompt="1"/>
          </p:nvPr>
        </p:nvSpPr>
        <p:spPr>
          <a:xfrm>
            <a:off x="548640" y="731520"/>
            <a:ext cx="11094415" cy="761695"/>
          </a:xfrm>
          <a:prstGeom prst="rect">
            <a:avLst/>
          </a:prstGeom>
          <a:noFill/>
          <a:ln/>
        </p:spPr>
        <p:txBody>
          <a:bodyPr wrap="square" lIns="0" tIns="0" rIns="0" bIns="0" rtlCol="0" anchor="b"/>
          <a:lstStyle/>
          <a:p>
            <a:pPr algn="l" indent="0" marL="0">
              <a:buNone/>
            </a:pPr>
            <a:endParaRPr lang="en-US" sz="41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ag The civil-servant test"/>
          <p:cNvSpPr/>
          <p:nvPr/>
        </p:nvSpPr>
        <p:spPr>
          <a:xfrm>
            <a:off x="548640" y="838505"/>
            <a:ext cx="1767535" cy="244145"/>
          </a:xfrm>
          <a:prstGeom prst="roundRect">
            <a:avLst>
              <a:gd name="adj" fmla="val 187266"/>
            </a:avLst>
          </a:prstGeom>
          <a:ln w="9525">
            <a:solidFill>
              <a:schemeClr val="tx1"/>
            </a:solidFill>
            <a:prstDash val="solid"/>
          </a:ln>
        </p:spPr>
      </p:sp>
      <p:sp>
        <p:nvSpPr>
          <p:cNvPr id="3" name="Text 1"/>
          <p:cNvSpPr txBox="1"/>
          <p:nvPr/>
        </p:nvSpPr>
        <p:spPr>
          <a:xfrm>
            <a:off x="548640" y="838505"/>
            <a:ext cx="1767535" cy="244145"/>
          </a:xfrm>
          <a:prstGeom prst="rect">
            <a:avLst/>
          </a:prstGeom>
          <a:noFill/>
          <a:ln/>
        </p:spPr>
        <p:txBody>
          <a:bodyPr wrap="square" lIns="0" tIns="0" rIns="0" bIns="0" rtlCol="0" anchor="ctr"/>
          <a:lstStyle/>
          <a:p>
            <a:pPr algn="ctr" indent="0" marL="0">
              <a:buNone/>
            </a:pPr>
            <a:r>
              <a:rPr lang="en-US" sz="1000" dirty="0">
                <a:solidFill>
                  <a:schemeClr val="tx1"/>
                </a:solidFill>
                <a:latin typeface="Roobert" pitchFamily="34" charset="0"/>
                <a:ea typeface="Roobert" pitchFamily="34" charset="-122"/>
                <a:cs typeface="Roobert" pitchFamily="34" charset="-120"/>
              </a:rPr>
              <a:t>The civil-servant test</a:t>
            </a:r>
            <a:endParaRPr lang="en-US" sz="1000" dirty="0"/>
          </a:p>
        </p:txBody>
      </p:sp>
      <p:sp>
        <p:nvSpPr>
          <p:cNvPr id="4" name="Title"/>
          <p:cNvSpPr txBox="1"/>
          <p:nvPr/>
        </p:nvSpPr>
        <p:spPr>
          <a:xfrm>
            <a:off x="548640" y="1218895"/>
            <a:ext cx="4114800" cy="3200400"/>
          </a:xfrm>
          <a:prstGeom prst="rect">
            <a:avLst/>
          </a:prstGeom>
          <a:noFill/>
          <a:ln/>
        </p:spPr>
        <p:txBody>
          <a:bodyPr wrap="square" lIns="0" tIns="0" rIns="0" bIns="0" rtlCol="0" anchor="t"/>
          <a:lstStyle/>
          <a:p>
            <a:pPr indent="0" marL="0">
              <a:buNone/>
            </a:pPr>
            <a:r>
              <a:rPr lang="en-US" sz="3800" dirty="0">
                <a:solidFill>
                  <a:schemeClr val="tx1"/>
                </a:solidFill>
                <a:latin typeface="Roobert" pitchFamily="34" charset="0"/>
                <a:ea typeface="Roobert" pitchFamily="34" charset="-122"/>
                <a:cs typeface="Roobert" pitchFamily="34" charset="-120"/>
              </a:rPr>
              <a:t>Would they sign it off?</a:t>
            </a:r>
            <a:endParaRPr lang="en-US" sz="3800" dirty="0"/>
          </a:p>
        </p:txBody>
      </p:sp>
      <p:sp>
        <p:nvSpPr>
          <p:cNvPr id="5" name="Shape 3"/>
          <p:cNvSpPr/>
          <p:nvPr/>
        </p:nvSpPr>
        <p:spPr>
          <a:xfrm>
            <a:off x="5181905" y="1143000"/>
            <a:ext cx="6462065" cy="0"/>
          </a:xfrm>
          <a:prstGeom prst="line">
            <a:avLst/>
          </a:prstGeom>
          <a:noFill/>
          <a:ln w="9525">
            <a:solidFill>
              <a:srgbClr val="C9C7BE"/>
            </a:solidFill>
            <a:prstDash val="solid"/>
          </a:ln>
        </p:spPr>
      </p:sp>
      <p:sp>
        <p:nvSpPr>
          <p:cNvPr id="6" name="Text 4"/>
          <p:cNvSpPr txBox="1"/>
          <p:nvPr/>
        </p:nvSpPr>
        <p:spPr>
          <a:xfrm>
            <a:off x="5181905" y="134142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01</a:t>
            </a:r>
            <a:endParaRPr lang="en-US" sz="900" dirty="0"/>
          </a:p>
        </p:txBody>
      </p:sp>
      <p:sp>
        <p:nvSpPr>
          <p:cNvPr id="7" name="Text 5"/>
          <p:cNvSpPr txBox="1"/>
          <p:nvPr/>
        </p:nvSpPr>
        <p:spPr>
          <a:xfrm>
            <a:off x="5639105" y="1264615"/>
            <a:ext cx="6004865" cy="96012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Spacing too generous</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Government sites are dense. Air is a luxury the budget didn't cover.</a:t>
            </a:r>
            <a:endParaRPr lang="en-US" sz="1700" dirty="0"/>
          </a:p>
        </p:txBody>
      </p:sp>
      <p:sp>
        <p:nvSpPr>
          <p:cNvPr id="8" name="Shape 6"/>
          <p:cNvSpPr/>
          <p:nvPr/>
        </p:nvSpPr>
        <p:spPr>
          <a:xfrm>
            <a:off x="5181905" y="2286000"/>
            <a:ext cx="6462065" cy="0"/>
          </a:xfrm>
          <a:prstGeom prst="line">
            <a:avLst/>
          </a:prstGeom>
          <a:noFill/>
          <a:ln w="9525">
            <a:solidFill>
              <a:srgbClr val="C9C7BE"/>
            </a:solidFill>
            <a:prstDash val="solid"/>
          </a:ln>
        </p:spPr>
      </p:sp>
      <p:sp>
        <p:nvSpPr>
          <p:cNvPr id="9" name="Text 7"/>
          <p:cNvSpPr txBox="1"/>
          <p:nvPr/>
        </p:nvSpPr>
        <p:spPr>
          <a:xfrm>
            <a:off x="5181905" y="248442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02</a:t>
            </a:r>
            <a:endParaRPr lang="en-US" sz="900" dirty="0"/>
          </a:p>
        </p:txBody>
      </p:sp>
      <p:sp>
        <p:nvSpPr>
          <p:cNvPr id="10" name="Text 8"/>
          <p:cNvSpPr txBox="1"/>
          <p:nvPr/>
        </p:nvSpPr>
        <p:spPr>
          <a:xfrm>
            <a:off x="5639105" y="2407615"/>
            <a:ext cx="6004865" cy="96012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A font that's slightly too friendly</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If it has personality, it isn't the state's.</a:t>
            </a:r>
            <a:endParaRPr lang="en-US" sz="1700" dirty="0"/>
          </a:p>
        </p:txBody>
      </p:sp>
      <p:sp>
        <p:nvSpPr>
          <p:cNvPr id="11" name="Shape 9"/>
          <p:cNvSpPr/>
          <p:nvPr/>
        </p:nvSpPr>
        <p:spPr>
          <a:xfrm>
            <a:off x="5181905" y="3429000"/>
            <a:ext cx="6462065" cy="0"/>
          </a:xfrm>
          <a:prstGeom prst="line">
            <a:avLst/>
          </a:prstGeom>
          <a:noFill/>
          <a:ln w="9525">
            <a:solidFill>
              <a:srgbClr val="C9C7BE"/>
            </a:solidFill>
            <a:prstDash val="solid"/>
          </a:ln>
        </p:spPr>
      </p:sp>
      <p:sp>
        <p:nvSpPr>
          <p:cNvPr id="12" name="Text 10"/>
          <p:cNvSpPr txBox="1"/>
          <p:nvPr/>
        </p:nvSpPr>
        <p:spPr>
          <a:xfrm>
            <a:off x="5181905" y="362742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03</a:t>
            </a:r>
            <a:endParaRPr lang="en-US" sz="900" dirty="0"/>
          </a:p>
        </p:txBody>
      </p:sp>
      <p:sp>
        <p:nvSpPr>
          <p:cNvPr id="13" name="Text 11"/>
          <p:cNvSpPr txBox="1"/>
          <p:nvPr/>
        </p:nvSpPr>
        <p:spPr>
          <a:xfrm>
            <a:off x="5639105" y="3550615"/>
            <a:ext cx="6004865" cy="96012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Rounded corners and soft shadows</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The state does not do drop shadows for fun.</a:t>
            </a:r>
            <a:endParaRPr lang="en-US" sz="1700" dirty="0"/>
          </a:p>
        </p:txBody>
      </p:sp>
      <p:sp>
        <p:nvSpPr>
          <p:cNvPr id="14" name="Shape 12"/>
          <p:cNvSpPr/>
          <p:nvPr/>
        </p:nvSpPr>
        <p:spPr>
          <a:xfrm>
            <a:off x="5181905" y="4572000"/>
            <a:ext cx="6462065" cy="0"/>
          </a:xfrm>
          <a:prstGeom prst="line">
            <a:avLst/>
          </a:prstGeom>
          <a:noFill/>
          <a:ln w="9525">
            <a:solidFill>
              <a:srgbClr val="C9C7BE"/>
            </a:solidFill>
            <a:prstDash val="solid"/>
          </a:ln>
        </p:spPr>
      </p:sp>
      <p:sp>
        <p:nvSpPr>
          <p:cNvPr id="15" name="Text 13"/>
          <p:cNvSpPr txBox="1"/>
          <p:nvPr/>
        </p:nvSpPr>
        <p:spPr>
          <a:xfrm>
            <a:off x="5181905" y="477042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04</a:t>
            </a:r>
            <a:endParaRPr lang="en-US" sz="900" dirty="0"/>
          </a:p>
        </p:txBody>
      </p:sp>
      <p:sp>
        <p:nvSpPr>
          <p:cNvPr id="16" name="Text 14"/>
          <p:cNvSpPr txBox="1"/>
          <p:nvPr/>
        </p:nvSpPr>
        <p:spPr>
          <a:xfrm>
            <a:off x="5639105" y="4693615"/>
            <a:ext cx="6004865" cy="96012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Missing furniture</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No breadcrumb, no accessibility link, no cookie legalese: no authority.</a:t>
            </a:r>
            <a:endParaRPr lang="en-US" sz="1700" dirty="0"/>
          </a:p>
        </p:txBody>
      </p:sp>
      <p:sp>
        <p:nvSpPr>
          <p:cNvPr id="17" name="Shape 15"/>
          <p:cNvSpPr/>
          <p:nvPr/>
        </p:nvSpPr>
        <p:spPr>
          <a:xfrm>
            <a:off x="5181905" y="5715000"/>
            <a:ext cx="6462065" cy="0"/>
          </a:xfrm>
          <a:prstGeom prst="line">
            <a:avLst/>
          </a:prstGeom>
          <a:noFill/>
          <a:ln w="9525">
            <a:solidFill>
              <a:srgbClr val="C9C7BE"/>
            </a:solidFill>
            <a:prstDash val="solid"/>
          </a:ln>
        </p:spPr>
      </p:sp>
      <p:sp>
        <p:nvSpPr>
          <p:cNvPr id="19" name="Text 0"/>
          <p:cNvSpPr/>
          <p:nvPr>
            <p:ph idx="100" type="title" hasCustomPrompt="1"/>
          </p:nvPr>
        </p:nvSpPr>
        <p:spPr>
          <a:xfrm>
            <a:off x="548640" y="731520"/>
            <a:ext cx="11094415" cy="761695"/>
          </a:xfrm>
          <a:prstGeom prst="rect">
            <a:avLst/>
          </a:prstGeom>
          <a:noFill/>
          <a:ln/>
        </p:spPr>
        <p:txBody>
          <a:bodyPr wrap="square" lIns="0" tIns="0" rIns="0" bIns="0" rtlCol="0" anchor="b"/>
          <a:lstStyle/>
          <a:p>
            <a:pPr algn="l" indent="0" marL="0">
              <a:buNone/>
            </a:pPr>
            <a:endParaRPr lang="en-US" sz="41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ag Exercise E3"/>
          <p:cNvSpPr/>
          <p:nvPr/>
        </p:nvSpPr>
        <p:spPr>
          <a:xfrm>
            <a:off x="822960" y="792785"/>
            <a:ext cx="990295" cy="244145"/>
          </a:xfrm>
          <a:prstGeom prst="roundRect">
            <a:avLst>
              <a:gd name="adj" fmla="val 187266"/>
            </a:avLst>
          </a:prstGeom>
          <a:solidFill>
            <a:srgbClr val="0B0C0C"/>
          </a:solidFill>
          <a:ln w="9525">
            <a:solidFill>
              <a:srgbClr val="0B0C0C"/>
            </a:solidFill>
            <a:prstDash val="solid"/>
          </a:ln>
        </p:spPr>
      </p:sp>
      <p:sp>
        <p:nvSpPr>
          <p:cNvPr id="3" name="Text 1"/>
          <p:cNvSpPr txBox="1"/>
          <p:nvPr/>
        </p:nvSpPr>
        <p:spPr>
          <a:xfrm>
            <a:off x="822960" y="792785"/>
            <a:ext cx="990295" cy="244145"/>
          </a:xfrm>
          <a:prstGeom prst="rect">
            <a:avLst/>
          </a:prstGeom>
          <a:noFill/>
          <a:ln/>
        </p:spPr>
        <p:txBody>
          <a:bodyPr wrap="square" lIns="0" tIns="0" rIns="0" bIns="0" rtlCol="0" anchor="ctr"/>
          <a:lstStyle/>
          <a:p>
            <a:pPr algn="ctr" indent="0" marL="0">
              <a:buNone/>
            </a:pPr>
            <a:r>
              <a:rPr lang="en-US" sz="1000" dirty="0">
                <a:solidFill>
                  <a:srgbClr val="FFFFFF"/>
                </a:solidFill>
                <a:latin typeface="Roobert" pitchFamily="34" charset="0"/>
                <a:ea typeface="Roobert" pitchFamily="34" charset="-122"/>
                <a:cs typeface="Roobert" pitchFamily="34" charset="-120"/>
              </a:rPr>
              <a:t>Exercise E3</a:t>
            </a:r>
            <a:endParaRPr lang="en-US" sz="1000" dirty="0"/>
          </a:p>
        </p:txBody>
      </p:sp>
      <p:sp>
        <p:nvSpPr>
          <p:cNvPr id="4" name="Shape 2"/>
          <p:cNvSpPr/>
          <p:nvPr/>
        </p:nvSpPr>
        <p:spPr>
          <a:xfrm>
            <a:off x="1920240" y="845820"/>
            <a:ext cx="137160" cy="137160"/>
          </a:xfrm>
          <a:prstGeom prst="ellipse">
            <a:avLst/>
          </a:prstGeom>
          <a:solidFill>
            <a:schemeClr val="accent5"/>
          </a:solidFill>
          <a:ln/>
        </p:spPr>
      </p:sp>
      <p:sp>
        <p:nvSpPr>
          <p:cNvPr id="5" name="Text 3"/>
          <p:cNvSpPr txBox="1"/>
          <p:nvPr/>
        </p:nvSpPr>
        <p:spPr>
          <a:xfrm>
            <a:off x="2133295" y="792785"/>
            <a:ext cx="1524305" cy="244145"/>
          </a:xfrm>
          <a:prstGeom prst="rect">
            <a:avLst/>
          </a:prstGeom>
          <a:noFill/>
          <a:ln/>
        </p:spPr>
        <p:txBody>
          <a:bodyPr wrap="square" lIns="0" tIns="0" rIns="0" bIns="0" rtlCol="0" anchor="ctr"/>
          <a:lstStyle/>
          <a:p>
            <a:pPr indent="0" marL="0">
              <a:buNone/>
            </a:pPr>
            <a:r>
              <a:rPr lang="en-US" sz="1000" dirty="0">
                <a:solidFill>
                  <a:srgbClr val="6F6F6A"/>
                </a:solidFill>
                <a:latin typeface="Roobert" pitchFamily="34" charset="0"/>
                <a:ea typeface="Roobert" pitchFamily="34" charset="-122"/>
                <a:cs typeface="Roobert" pitchFamily="34" charset="-120"/>
              </a:rPr>
              <a:t>Phase 03</a:t>
            </a:r>
            <a:endParaRPr lang="en-US" sz="1000" dirty="0"/>
          </a:p>
        </p:txBody>
      </p:sp>
      <p:sp>
        <p:nvSpPr>
          <p:cNvPr id="6" name="Text 1"/>
          <p:cNvSpPr/>
          <p:nvPr>
            <p:ph idx="101" type="title" hasCustomPrompt="1"/>
          </p:nvPr>
        </p:nvSpPr>
        <p:spPr>
          <a:xfrm>
            <a:off x="822960" y="1218895"/>
            <a:ext cx="4343400" cy="1828800"/>
          </a:xfrm>
          <a:prstGeom prst="rect">
            <a:avLst/>
          </a:prstGeom>
          <a:noFill/>
          <a:ln/>
        </p:spPr>
        <p:txBody>
          <a:bodyPr wrap="square" lIns="0" tIns="0" rIns="0" bIns="0" rtlCol="0" anchor="t"/>
          <a:lstStyle/>
          <a:p>
            <a:pPr algn="l" indent="0" marL="0">
              <a:buNone/>
            </a:pPr>
            <a:r>
              <a:rPr lang="en-US" sz="4300" dirty="0">
                <a:solidFill>
                  <a:schemeClr val="tx1"/>
                </a:solidFill>
              </a:rPr>
              <a:t>Chrome before content</a:t>
            </a:r>
            <a:endParaRPr lang="en-US" sz="4300" dirty="0"/>
          </a:p>
        </p:txBody>
      </p:sp>
      <p:sp>
        <p:nvSpPr>
          <p:cNvPr id="7" name="Shape 5"/>
          <p:cNvSpPr/>
          <p:nvPr/>
        </p:nvSpPr>
        <p:spPr>
          <a:xfrm>
            <a:off x="822960" y="3200400"/>
            <a:ext cx="4267505" cy="0"/>
          </a:xfrm>
          <a:prstGeom prst="line">
            <a:avLst/>
          </a:prstGeom>
          <a:noFill/>
          <a:ln w="9525">
            <a:solidFill>
              <a:srgbClr val="C9C7BE"/>
            </a:solidFill>
            <a:prstDash val="solid"/>
          </a:ln>
        </p:spPr>
      </p:sp>
      <p:sp>
        <p:nvSpPr>
          <p:cNvPr id="8" name="Text 6"/>
          <p:cNvSpPr txBox="1"/>
          <p:nvPr/>
        </p:nvSpPr>
        <p:spPr>
          <a:xfrm>
            <a:off x="822960" y="3353105"/>
            <a:ext cx="4267505" cy="1143000"/>
          </a:xfrm>
          <a:prstGeom prst="rect">
            <a:avLst/>
          </a:prstGeom>
          <a:noFill/>
          <a:ln/>
        </p:spPr>
        <p:txBody>
          <a:bodyPr wrap="square" lIns="0" tIns="0" rIns="0" bIns="0" rtlCol="0" anchor="t"/>
          <a:lstStyle/>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Time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45 min</a:t>
            </a:r>
            <a:endParaRPr lang="en-US" sz="1300" dirty="0"/>
          </a:p>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Who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Team</a:t>
            </a:r>
            <a:endParaRPr lang="en-US" sz="1300" dirty="0"/>
          </a:p>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Hand in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An empty shell a civil servant would sign off</a:t>
            </a:r>
            <a:endParaRPr lang="en-US" sz="1300" dirty="0"/>
          </a:p>
        </p:txBody>
      </p:sp>
      <p:sp>
        <p:nvSpPr>
          <p:cNvPr id="9" name="Text 7"/>
          <p:cNvSpPr txBox="1"/>
          <p:nvPr/>
        </p:nvSpPr>
        <p:spPr>
          <a:xfrm>
            <a:off x="822960" y="5790895"/>
            <a:ext cx="4572000"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Sheet: pauerrr.github.io/redecorating-power/exercises/#e3</a:t>
            </a:r>
            <a:endParaRPr lang="en-US" sz="900" dirty="0"/>
          </a:p>
        </p:txBody>
      </p:sp>
      <p:sp>
        <p:nvSpPr>
          <p:cNvPr id="10" name="Shape 8"/>
          <p:cNvSpPr/>
          <p:nvPr/>
        </p:nvSpPr>
        <p:spPr>
          <a:xfrm>
            <a:off x="5639105" y="792785"/>
            <a:ext cx="5790895" cy="0"/>
          </a:xfrm>
          <a:prstGeom prst="line">
            <a:avLst/>
          </a:prstGeom>
          <a:noFill/>
          <a:ln w="9525">
            <a:solidFill>
              <a:srgbClr val="C9C7BE"/>
            </a:solidFill>
            <a:prstDash val="solid"/>
          </a:ln>
        </p:spPr>
      </p:sp>
      <p:sp>
        <p:nvSpPr>
          <p:cNvPr id="11" name="Text 9"/>
          <p:cNvSpPr txBox="1"/>
          <p:nvPr/>
        </p:nvSpPr>
        <p:spPr>
          <a:xfrm>
            <a:off x="5639105" y="94457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01</a:t>
            </a:r>
            <a:endParaRPr lang="en-US" sz="900" dirty="0"/>
          </a:p>
        </p:txBody>
      </p:sp>
      <p:sp>
        <p:nvSpPr>
          <p:cNvPr id="12" name="Text 10"/>
          <p:cNvSpPr txBox="1"/>
          <p:nvPr/>
        </p:nvSpPr>
        <p:spPr>
          <a:xfrm>
            <a:off x="6096305" y="898855"/>
            <a:ext cx="5333695" cy="39593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Copy style prompt, paste into your agent.</a:t>
            </a:r>
            <a:endParaRPr lang="en-US" sz="1600" dirty="0"/>
          </a:p>
        </p:txBody>
      </p:sp>
      <p:sp>
        <p:nvSpPr>
          <p:cNvPr id="13" name="Shape 11"/>
          <p:cNvSpPr/>
          <p:nvPr/>
        </p:nvSpPr>
        <p:spPr>
          <a:xfrm>
            <a:off x="5639105" y="1341425"/>
            <a:ext cx="5790895" cy="0"/>
          </a:xfrm>
          <a:prstGeom prst="line">
            <a:avLst/>
          </a:prstGeom>
          <a:noFill/>
          <a:ln w="9525">
            <a:solidFill>
              <a:srgbClr val="C9C7BE"/>
            </a:solidFill>
            <a:prstDash val="solid"/>
          </a:ln>
        </p:spPr>
      </p:sp>
      <p:sp>
        <p:nvSpPr>
          <p:cNvPr id="14" name="Text 12"/>
          <p:cNvSpPr txBox="1"/>
          <p:nvPr/>
        </p:nvSpPr>
        <p:spPr>
          <a:xfrm>
            <a:off x="5639105" y="149321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02</a:t>
            </a:r>
            <a:endParaRPr lang="en-US" sz="900" dirty="0"/>
          </a:p>
        </p:txBody>
      </p:sp>
      <p:sp>
        <p:nvSpPr>
          <p:cNvPr id="15" name="Text 13"/>
          <p:cNvSpPr txBox="1"/>
          <p:nvPr/>
        </p:nvSpPr>
        <p:spPr>
          <a:xfrm>
            <a:off x="6096305" y="144749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Ask for the empty shell only. Placeholder text.</a:t>
            </a:r>
            <a:endParaRPr lang="en-US" sz="1600" dirty="0"/>
          </a:p>
        </p:txBody>
      </p:sp>
      <p:sp>
        <p:nvSpPr>
          <p:cNvPr id="16" name="Shape 14"/>
          <p:cNvSpPr/>
          <p:nvPr/>
        </p:nvSpPr>
        <p:spPr>
          <a:xfrm>
            <a:off x="5639105" y="2103120"/>
            <a:ext cx="5790895" cy="0"/>
          </a:xfrm>
          <a:prstGeom prst="line">
            <a:avLst/>
          </a:prstGeom>
          <a:noFill/>
          <a:ln w="9525">
            <a:solidFill>
              <a:srgbClr val="C9C7BE"/>
            </a:solidFill>
            <a:prstDash val="solid"/>
          </a:ln>
        </p:spPr>
      </p:sp>
      <p:sp>
        <p:nvSpPr>
          <p:cNvPr id="17" name="Text 15"/>
          <p:cNvSpPr txBox="1"/>
          <p:nvPr/>
        </p:nvSpPr>
        <p:spPr>
          <a:xfrm>
            <a:off x="5639105" y="225582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03</a:t>
            </a:r>
            <a:endParaRPr lang="en-US" sz="900" dirty="0"/>
          </a:p>
        </p:txBody>
      </p:sp>
      <p:sp>
        <p:nvSpPr>
          <p:cNvPr id="18" name="Text 16"/>
          <p:cNvSpPr txBox="1"/>
          <p:nvPr/>
        </p:nvSpPr>
        <p:spPr>
          <a:xfrm>
            <a:off x="6096305" y="221010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Add the screenshot. Ask for every difference, then fix.</a:t>
            </a:r>
            <a:endParaRPr lang="en-US" sz="1600" dirty="0"/>
          </a:p>
        </p:txBody>
      </p:sp>
      <p:sp>
        <p:nvSpPr>
          <p:cNvPr id="19" name="Shape 17"/>
          <p:cNvSpPr/>
          <p:nvPr/>
        </p:nvSpPr>
        <p:spPr>
          <a:xfrm>
            <a:off x="5639105" y="2864815"/>
            <a:ext cx="5790895" cy="0"/>
          </a:xfrm>
          <a:prstGeom prst="line">
            <a:avLst/>
          </a:prstGeom>
          <a:noFill/>
          <a:ln w="9525">
            <a:solidFill>
              <a:srgbClr val="C9C7BE"/>
            </a:solidFill>
            <a:prstDash val="solid"/>
          </a:ln>
        </p:spPr>
      </p:sp>
      <p:sp>
        <p:nvSpPr>
          <p:cNvPr id="20" name="Text 18"/>
          <p:cNvSpPr txBox="1"/>
          <p:nvPr/>
        </p:nvSpPr>
        <p:spPr>
          <a:xfrm>
            <a:off x="5639105" y="3017520"/>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04</a:t>
            </a:r>
            <a:endParaRPr lang="en-US" sz="900" dirty="0"/>
          </a:p>
        </p:txBody>
      </p:sp>
      <p:sp>
        <p:nvSpPr>
          <p:cNvPr id="21" name="Text 19"/>
          <p:cNvSpPr txBox="1"/>
          <p:nvPr/>
        </p:nvSpPr>
        <p:spPr>
          <a:xfrm>
            <a:off x="6096305" y="2971800"/>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Minute 35: swap screens for two minutes. Fix what they spot.</a:t>
            </a:r>
            <a:endParaRPr lang="en-US" sz="1600" dirty="0"/>
          </a:p>
        </p:txBody>
      </p:sp>
      <p:sp>
        <p:nvSpPr>
          <p:cNvPr id="22" name="Shape 20"/>
          <p:cNvSpPr/>
          <p:nvPr/>
        </p:nvSpPr>
        <p:spPr>
          <a:xfrm>
            <a:off x="5639105" y="3627425"/>
            <a:ext cx="5790895" cy="0"/>
          </a:xfrm>
          <a:prstGeom prst="line">
            <a:avLst/>
          </a:prstGeom>
          <a:noFill/>
          <a:ln w="9525">
            <a:solidFill>
              <a:srgbClr val="C9C7BE"/>
            </a:solidFill>
            <a:prstDash val="solid"/>
          </a:ln>
        </p:spPr>
      </p:sp>
      <p:sp>
        <p:nvSpPr>
          <p:cNvPr id="23" name="Text 21"/>
          <p:cNvSpPr txBox="1"/>
          <p:nvPr/>
        </p:nvSpPr>
        <p:spPr>
          <a:xfrm>
            <a:off x="5639105" y="377921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05</a:t>
            </a:r>
            <a:endParaRPr lang="en-US" sz="900" dirty="0"/>
          </a:p>
        </p:txBody>
      </p:sp>
      <p:sp>
        <p:nvSpPr>
          <p:cNvPr id="24" name="Text 22"/>
          <p:cNvSpPr txBox="1"/>
          <p:nvPr/>
        </p:nvSpPr>
        <p:spPr>
          <a:xfrm>
            <a:off x="6096305" y="3733495"/>
            <a:ext cx="5333695" cy="39593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Tick the furniture checklist on the sheet.</a:t>
            </a:r>
            <a:endParaRPr lang="en-US" sz="1600" dirty="0"/>
          </a:p>
        </p:txBody>
      </p:sp>
      <p:sp>
        <p:nvSpPr>
          <p:cNvPr id="25" name="Shape 23"/>
          <p:cNvSpPr/>
          <p:nvPr/>
        </p:nvSpPr>
        <p:spPr>
          <a:xfrm>
            <a:off x="5639105" y="4176065"/>
            <a:ext cx="5790895" cy="0"/>
          </a:xfrm>
          <a:prstGeom prst="line">
            <a:avLst/>
          </a:prstGeom>
          <a:noFill/>
          <a:ln w="9525">
            <a:solidFill>
              <a:srgbClr val="C9C7BE"/>
            </a:solidFill>
            <a:prstDash val="solid"/>
          </a:ln>
        </p:spPr>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chemeClr val="accent3"/>
        </a:solidFill>
      </p:bgPr>
    </p:bg>
    <p:spTree>
      <p:nvGrpSpPr>
        <p:cNvPr id="1" name=""/>
        <p:cNvGrpSpPr/>
        <p:nvPr/>
      </p:nvGrpSpPr>
      <p:grpSpPr>
        <a:xfrm>
          <a:off x="0" y="0"/>
          <a:ext cx="0" cy="0"/>
          <a:chOff x="0" y="0"/>
          <a:chExt cx="0" cy="0"/>
        </a:xfrm>
      </p:grpSpPr>
      <p:sp>
        <p:nvSpPr>
          <p:cNvPr id="2" name="Phase number"/>
          <p:cNvSpPr txBox="1"/>
          <p:nvPr/>
        </p:nvSpPr>
        <p:spPr>
          <a:xfrm>
            <a:off x="441655" y="152705"/>
            <a:ext cx="7619695" cy="3200400"/>
          </a:xfrm>
          <a:prstGeom prst="rect">
            <a:avLst/>
          </a:prstGeom>
          <a:noFill/>
          <a:ln/>
        </p:spPr>
        <p:txBody>
          <a:bodyPr wrap="square" lIns="0" tIns="0" rIns="0" bIns="0" rtlCol="0" anchor="t"/>
          <a:lstStyle/>
          <a:p>
            <a:pPr indent="0" marL="0">
              <a:buNone/>
            </a:pPr>
            <a:r>
              <a:rPr lang="en-US" sz="25200" dirty="0">
                <a:solidFill>
                  <a:schemeClr val="bg2"/>
                </a:solidFill>
                <a:latin typeface="Roobert" pitchFamily="34" charset="0"/>
                <a:ea typeface="Roobert" pitchFamily="34" charset="-122"/>
                <a:cs typeface="Roobert" pitchFamily="34" charset="-120"/>
              </a:rPr>
              <a:t>04</a:t>
            </a:r>
            <a:endParaRPr lang="en-US" sz="25200" dirty="0"/>
          </a:p>
        </p:txBody>
      </p:sp>
      <p:sp>
        <p:nvSpPr>
          <p:cNvPr id="3" name="Text 0"/>
          <p:cNvSpPr/>
          <p:nvPr>
            <p:ph idx="100" type="title" hasCustomPrompt="1"/>
          </p:nvPr>
        </p:nvSpPr>
        <p:spPr>
          <a:xfrm>
            <a:off x="548640" y="4267505"/>
            <a:ext cx="10668305" cy="1524305"/>
          </a:xfrm>
          <a:prstGeom prst="rect">
            <a:avLst/>
          </a:prstGeom>
          <a:noFill/>
          <a:ln/>
        </p:spPr>
        <p:txBody>
          <a:bodyPr wrap="square" lIns="0" tIns="0" rIns="0" bIns="0" rtlCol="0" anchor="b"/>
          <a:lstStyle/>
          <a:p>
            <a:pPr algn="l" indent="0" marL="0">
              <a:buNone/>
            </a:pPr>
            <a:r>
              <a:rPr lang="en-US" sz="6200" dirty="0">
                <a:solidFill>
                  <a:schemeClr val="tx1"/>
                </a:solidFill>
              </a:rPr>
              <a:t>Pour in the story</a:t>
            </a:r>
            <a:endParaRPr lang="en-US" sz="6200" dirty="0"/>
          </a:p>
        </p:txBody>
      </p:sp>
      <p:sp>
        <p:nvSpPr>
          <p:cNvPr id="4" name="Text 2"/>
          <p:cNvSpPr txBox="1"/>
          <p:nvPr/>
        </p:nvSpPr>
        <p:spPr>
          <a:xfrm>
            <a:off x="548640" y="5943600"/>
            <a:ext cx="9905695" cy="381305"/>
          </a:xfrm>
          <a:prstGeom prst="rect">
            <a:avLst/>
          </a:prstGeom>
          <a:noFill/>
          <a:ln/>
        </p:spPr>
        <p:txBody>
          <a:bodyPr wrap="square" lIns="0" tIns="0" rIns="0" bIns="0" rtlCol="0" anchor="t"/>
          <a:lstStyle/>
          <a:p>
            <a:pPr indent="0" marL="0">
              <a:buNone/>
            </a:pPr>
            <a:r>
              <a:rPr lang="en-US" sz="1800" dirty="0">
                <a:solidFill>
                  <a:schemeClr val="bg2"/>
                </a:solidFill>
                <a:latin typeface="Roobert" pitchFamily="34" charset="0"/>
                <a:ea typeface="Roobert" pitchFamily="34" charset="-122"/>
                <a:cs typeface="Roobert" pitchFamily="34" charset="-120"/>
              </a:rPr>
              <a:t>The more damning the fact, the more boring the delivery.</a:t>
            </a:r>
            <a:endParaRPr lang="en-US" sz="1800" dirty="0"/>
          </a:p>
        </p:txBody>
      </p:sp>
      <p:sp>
        <p:nvSpPr>
          <p:cNvPr id="5" name="Duration"/>
          <p:cNvSpPr/>
          <p:nvPr/>
        </p:nvSpPr>
        <p:spPr>
          <a:xfrm>
            <a:off x="10591495" y="457200"/>
            <a:ext cx="1067105" cy="395935"/>
          </a:xfrm>
          <a:prstGeom prst="roundRect">
            <a:avLst>
              <a:gd name="adj" fmla="val 115473"/>
            </a:avLst>
          </a:prstGeom>
          <a:ln w="12700">
            <a:solidFill>
              <a:schemeClr val="bg2"/>
            </a:solidFill>
            <a:prstDash val="solid"/>
          </a:ln>
        </p:spPr>
      </p:sp>
      <p:sp>
        <p:nvSpPr>
          <p:cNvPr id="6" name="Text 4"/>
          <p:cNvSpPr txBox="1"/>
          <p:nvPr/>
        </p:nvSpPr>
        <p:spPr>
          <a:xfrm>
            <a:off x="10591495" y="457200"/>
            <a:ext cx="1067105" cy="395935"/>
          </a:xfrm>
          <a:prstGeom prst="rect">
            <a:avLst/>
          </a:prstGeom>
          <a:noFill/>
          <a:ln/>
        </p:spPr>
        <p:txBody>
          <a:bodyPr wrap="square" lIns="0" tIns="0" rIns="0" bIns="0" rtlCol="0" anchor="ctr"/>
          <a:lstStyle/>
          <a:p>
            <a:pPr algn="ctr" indent="0" marL="0">
              <a:buNone/>
            </a:pPr>
            <a:r>
              <a:rPr lang="en-US" sz="1400" dirty="0">
                <a:solidFill>
                  <a:schemeClr val="bg2"/>
                </a:solidFill>
                <a:latin typeface="Roobert" pitchFamily="34" charset="0"/>
                <a:ea typeface="Roobert" pitchFamily="34" charset="-122"/>
                <a:cs typeface="Roobert" pitchFamily="34" charset="-120"/>
              </a:rPr>
              <a:t>45 min</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61695"/>
          </a:xfrm>
          <a:prstGeom prst="rect">
            <a:avLst/>
          </a:prstGeom>
          <a:noFill/>
          <a:ln/>
        </p:spPr>
        <p:txBody>
          <a:bodyPr wrap="square" lIns="0" tIns="0" rIns="0" bIns="0" rtlCol="0" anchor="b"/>
          <a:lstStyle/>
          <a:p>
            <a:pPr algn="l" indent="0" marL="0">
              <a:buNone/>
            </a:pPr>
            <a:r>
              <a:rPr lang="en-US" sz="4100" dirty="0">
                <a:solidFill>
                  <a:schemeClr val="tx1"/>
                </a:solidFill>
              </a:rPr>
              <a:t>Never wink</a:t>
            </a:r>
            <a:endParaRPr lang="en-US" sz="4100" dirty="0"/>
          </a:p>
        </p:txBody>
      </p:sp>
      <p:sp>
        <p:nvSpPr>
          <p:cNvPr id="3" name="Tag Winking"/>
          <p:cNvSpPr/>
          <p:nvPr/>
        </p:nvSpPr>
        <p:spPr>
          <a:xfrm>
            <a:off x="548640" y="1996135"/>
            <a:ext cx="738835" cy="244145"/>
          </a:xfrm>
          <a:prstGeom prst="roundRect">
            <a:avLst>
              <a:gd name="adj" fmla="val 187266"/>
            </a:avLst>
          </a:prstGeom>
          <a:ln w="9525">
            <a:solidFill>
              <a:srgbClr val="C9C7BE"/>
            </a:solidFill>
            <a:prstDash val="solid"/>
          </a:ln>
        </p:spPr>
      </p:sp>
      <p:sp>
        <p:nvSpPr>
          <p:cNvPr id="4" name="Text 2"/>
          <p:cNvSpPr txBox="1"/>
          <p:nvPr/>
        </p:nvSpPr>
        <p:spPr>
          <a:xfrm>
            <a:off x="548640" y="1996135"/>
            <a:ext cx="738835" cy="244145"/>
          </a:xfrm>
          <a:prstGeom prst="rect">
            <a:avLst/>
          </a:prstGeom>
          <a:noFill/>
          <a:ln/>
        </p:spPr>
        <p:txBody>
          <a:bodyPr wrap="square" lIns="0" tIns="0" rIns="0" bIns="0" rtlCol="0" anchor="ctr"/>
          <a:lstStyle/>
          <a:p>
            <a:pPr algn="ctr" indent="0" marL="0">
              <a:buNone/>
            </a:pPr>
            <a:r>
              <a:rPr lang="en-US" sz="1000" dirty="0">
                <a:solidFill>
                  <a:srgbClr val="6F6F6A"/>
                </a:solidFill>
                <a:latin typeface="Roobert" pitchFamily="34" charset="0"/>
                <a:ea typeface="Roobert" pitchFamily="34" charset="-122"/>
                <a:cs typeface="Roobert" pitchFamily="34" charset="-120"/>
              </a:rPr>
              <a:t>Winking</a:t>
            </a:r>
            <a:endParaRPr lang="en-US" sz="1000" dirty="0"/>
          </a:p>
        </p:txBody>
      </p:sp>
      <p:sp>
        <p:nvSpPr>
          <p:cNvPr id="5" name="Text 3"/>
          <p:cNvSpPr txBox="1"/>
          <p:nvPr/>
        </p:nvSpPr>
        <p:spPr>
          <a:xfrm>
            <a:off x="548640" y="2438705"/>
            <a:ext cx="4114800" cy="1828800"/>
          </a:xfrm>
          <a:prstGeom prst="rect">
            <a:avLst/>
          </a:prstGeom>
          <a:noFill/>
          <a:ln/>
        </p:spPr>
        <p:txBody>
          <a:bodyPr wrap="square" lIns="0" tIns="0" rIns="0" bIns="0" rtlCol="0" anchor="t"/>
          <a:lstStyle/>
          <a:p>
            <a:pPr indent="0" marL="0">
              <a:buNone/>
            </a:pPr>
            <a:r>
              <a:rPr lang="en-US" sz="2300" strike="sngStrike" dirty="0">
                <a:solidFill>
                  <a:srgbClr val="A9A8A2"/>
                </a:solidFill>
                <a:latin typeface="Roobert" pitchFamily="34" charset="0"/>
                <a:ea typeface="Roobert" pitchFamily="34" charset="-122"/>
                <a:cs typeface="Roobert" pitchFamily="34" charset="-120"/>
              </a:rPr>
              <a:t>LOL, turns out the ruling party had a secret piggy bank for 20 years.</a:t>
            </a:r>
            <a:endParaRPr lang="en-US" sz="2300" dirty="0"/>
          </a:p>
        </p:txBody>
      </p:sp>
      <p:sp>
        <p:nvSpPr>
          <p:cNvPr id="6" name="Tag Deadpan"/>
          <p:cNvSpPr/>
          <p:nvPr/>
        </p:nvSpPr>
        <p:spPr>
          <a:xfrm>
            <a:off x="5333695" y="1996135"/>
            <a:ext cx="738835" cy="244145"/>
          </a:xfrm>
          <a:prstGeom prst="roundRect">
            <a:avLst>
              <a:gd name="adj" fmla="val 187266"/>
            </a:avLst>
          </a:prstGeom>
          <a:solidFill>
            <a:srgbClr val="C5FF71"/>
          </a:solidFill>
          <a:ln w="9525">
            <a:solidFill>
              <a:srgbClr val="C5FF71"/>
            </a:solidFill>
            <a:prstDash val="solid"/>
          </a:ln>
        </p:spPr>
      </p:sp>
      <p:sp>
        <p:nvSpPr>
          <p:cNvPr id="7" name="Text 5"/>
          <p:cNvSpPr txBox="1"/>
          <p:nvPr/>
        </p:nvSpPr>
        <p:spPr>
          <a:xfrm>
            <a:off x="5333695" y="1996135"/>
            <a:ext cx="738835" cy="244145"/>
          </a:xfrm>
          <a:prstGeom prst="rect">
            <a:avLst/>
          </a:prstGeom>
          <a:noFill/>
          <a:ln/>
        </p:spPr>
        <p:txBody>
          <a:bodyPr wrap="square" lIns="0" tIns="0" rIns="0" bIns="0" rtlCol="0" anchor="ctr"/>
          <a:lstStyle/>
          <a:p>
            <a:pPr algn="ctr" indent="0" marL="0">
              <a:buNone/>
            </a:pPr>
            <a:r>
              <a:rPr lang="en-US" sz="1000" dirty="0">
                <a:solidFill>
                  <a:schemeClr val="tx1"/>
                </a:solidFill>
                <a:latin typeface="Roobert" pitchFamily="34" charset="0"/>
                <a:ea typeface="Roobert" pitchFamily="34" charset="-122"/>
                <a:cs typeface="Roobert" pitchFamily="34" charset="-120"/>
              </a:rPr>
              <a:t>Deadpan</a:t>
            </a:r>
            <a:endParaRPr lang="en-US" sz="1000" dirty="0"/>
          </a:p>
        </p:txBody>
      </p:sp>
      <p:sp>
        <p:nvSpPr>
          <p:cNvPr id="8" name="Mock notice"/>
          <p:cNvSpPr/>
          <p:nvPr/>
        </p:nvSpPr>
        <p:spPr>
          <a:xfrm>
            <a:off x="5333695" y="2438705"/>
            <a:ext cx="6309360" cy="2895905"/>
          </a:xfrm>
          <a:prstGeom prst="rect">
            <a:avLst/>
          </a:prstGeom>
          <a:solidFill>
            <a:srgbClr val="FFFFFF"/>
          </a:solidFill>
          <a:ln w="9525">
            <a:solidFill>
              <a:srgbClr val="C9CCD1"/>
            </a:solidFill>
            <a:prstDash val="solid"/>
          </a:ln>
        </p:spPr>
      </p:sp>
      <p:sp>
        <p:nvSpPr>
          <p:cNvPr id="9" name="Mock notice header"/>
          <p:cNvSpPr/>
          <p:nvPr/>
        </p:nvSpPr>
        <p:spPr>
          <a:xfrm>
            <a:off x="5333695" y="2438705"/>
            <a:ext cx="6309360" cy="427025"/>
          </a:xfrm>
          <a:prstGeom prst="rect">
            <a:avLst/>
          </a:prstGeom>
          <a:solidFill>
            <a:srgbClr val="0D357B"/>
          </a:solidFill>
          <a:ln/>
        </p:spPr>
      </p:sp>
      <p:sp>
        <p:nvSpPr>
          <p:cNvPr id="10" name="Text 8"/>
          <p:cNvSpPr txBox="1"/>
          <p:nvPr/>
        </p:nvSpPr>
        <p:spPr>
          <a:xfrm>
            <a:off x="5516575" y="2438705"/>
            <a:ext cx="5943600" cy="427025"/>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Notice 10/2020</a:t>
            </a:r>
            <a:endParaRPr lang="en-US" sz="1300" dirty="0"/>
          </a:p>
        </p:txBody>
      </p:sp>
      <p:sp>
        <p:nvSpPr>
          <p:cNvPr id="11" name="Text 9"/>
          <p:cNvSpPr txBox="1"/>
          <p:nvPr/>
        </p:nvSpPr>
        <p:spPr>
          <a:xfrm>
            <a:off x="5516575" y="3017520"/>
            <a:ext cx="5943600" cy="1752905"/>
          </a:xfrm>
          <a:prstGeom prst="rect">
            <a:avLst/>
          </a:prstGeom>
          <a:noFill/>
          <a:ln/>
        </p:spPr>
        <p:txBody>
          <a:bodyPr wrap="square" lIns="0" tIns="0" rIns="0" bIns="0" rtlCol="0" anchor="t"/>
          <a:lstStyle/>
          <a:p>
            <a:pPr indent="0" marL="0">
              <a:buNone/>
            </a:pPr>
            <a:r>
              <a:rPr lang="en-US" sz="1600" dirty="0">
                <a:solidFill>
                  <a:srgbClr val="1D1D1B"/>
                </a:solidFill>
                <a:latin typeface="Arial" pitchFamily="34" charset="0"/>
                <a:ea typeface="Arial" pitchFamily="34" charset="-122"/>
                <a:cs typeface="Arial" pitchFamily="34" charset="-120"/>
              </a:rPr>
              <a:t>The Tribunal Supremo has confirmed sentences of up to 51 years and 11 months in the Gürtel case. The party has been designated a 'beneficiario a título lucrativo'. No action is required from citizens.</a:t>
            </a:r>
            <a:endParaRPr lang="en-US" sz="1600" dirty="0"/>
          </a:p>
        </p:txBody>
      </p:sp>
      <p:sp>
        <p:nvSpPr>
          <p:cNvPr id="12" name="Shape 10"/>
          <p:cNvSpPr/>
          <p:nvPr/>
        </p:nvSpPr>
        <p:spPr>
          <a:xfrm>
            <a:off x="5333695" y="4953305"/>
            <a:ext cx="6309360" cy="0"/>
          </a:xfrm>
          <a:prstGeom prst="line">
            <a:avLst/>
          </a:prstGeom>
          <a:noFill/>
          <a:ln w="9525">
            <a:solidFill>
              <a:srgbClr val="E2E4E8"/>
            </a:solidFill>
            <a:prstDash val="solid"/>
          </a:ln>
        </p:spPr>
      </p:sp>
      <p:sp>
        <p:nvSpPr>
          <p:cNvPr id="13" name="Text 11"/>
          <p:cNvSpPr txBox="1"/>
          <p:nvPr/>
        </p:nvSpPr>
        <p:spPr>
          <a:xfrm>
            <a:off x="5516575" y="5029200"/>
            <a:ext cx="5943600" cy="228600"/>
          </a:xfrm>
          <a:prstGeom prst="rect">
            <a:avLst/>
          </a:prstGeom>
          <a:noFill/>
          <a:ln/>
        </p:spPr>
        <p:txBody>
          <a:bodyPr wrap="square" lIns="0" tIns="0" rIns="0" bIns="0" rtlCol="0" anchor="t"/>
          <a:lstStyle/>
          <a:p>
            <a:pPr indent="0" marL="0">
              <a:buNone/>
            </a:pPr>
            <a:r>
              <a:rPr lang="en-US" sz="900" dirty="0">
                <a:solidFill>
                  <a:srgbClr val="5E5E5E"/>
                </a:solidFill>
                <a:latin typeface="Arial" pitchFamily="34" charset="0"/>
                <a:ea typeface="Arial" pitchFamily="34" charset="-122"/>
                <a:cs typeface="Arial" pitchFamily="34" charset="-120"/>
              </a:rPr>
              <a:t>Inicio › Sala de Prensa › Notas informativas</a:t>
            </a:r>
            <a:endParaRPr lang="en-US" sz="900" dirty="0"/>
          </a:p>
        </p:txBody>
      </p:sp>
      <p:sp>
        <p:nvSpPr>
          <p:cNvPr id="14" name="Text 12"/>
          <p:cNvSpPr txBox="1"/>
          <p:nvPr/>
        </p:nvSpPr>
        <p:spPr>
          <a:xfrm>
            <a:off x="5333695" y="6019495"/>
            <a:ext cx="6096305" cy="228600"/>
          </a:xfrm>
          <a:prstGeom prst="rect">
            <a:avLst/>
          </a:prstGeom>
          <a:noFill/>
          <a:ln/>
        </p:spPr>
        <p:txBody>
          <a:bodyPr wrap="square" lIns="0" tIns="0" rIns="0" bIns="0" rtlCol="0" anchor="t"/>
          <a:lstStyle/>
          <a:p>
            <a:pPr indent="0" marL="0">
              <a:buNone/>
            </a:pPr>
            <a:r>
              <a:rPr lang="en-US" sz="1100" dirty="0">
                <a:solidFill>
                  <a:srgbClr val="6F6F6A"/>
                </a:solidFill>
                <a:latin typeface="Roobert" pitchFamily="34" charset="0"/>
                <a:ea typeface="Roobert" pitchFamily="34" charset="-122"/>
                <a:cs typeface="Roobert" pitchFamily="34" charset="-120"/>
              </a:rPr>
              <a:t>Facts: Spain dossier, case 2.1</a:t>
            </a:r>
            <a:endParaRPr lang="en-US" sz="11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ag Exercise E4"/>
          <p:cNvSpPr/>
          <p:nvPr/>
        </p:nvSpPr>
        <p:spPr>
          <a:xfrm>
            <a:off x="822960" y="792785"/>
            <a:ext cx="990295" cy="244145"/>
          </a:xfrm>
          <a:prstGeom prst="roundRect">
            <a:avLst>
              <a:gd name="adj" fmla="val 187266"/>
            </a:avLst>
          </a:prstGeom>
          <a:solidFill>
            <a:srgbClr val="0B0C0C"/>
          </a:solidFill>
          <a:ln w="9525">
            <a:solidFill>
              <a:srgbClr val="0B0C0C"/>
            </a:solidFill>
            <a:prstDash val="solid"/>
          </a:ln>
        </p:spPr>
      </p:sp>
      <p:sp>
        <p:nvSpPr>
          <p:cNvPr id="3" name="Text 1"/>
          <p:cNvSpPr txBox="1"/>
          <p:nvPr/>
        </p:nvSpPr>
        <p:spPr>
          <a:xfrm>
            <a:off x="822960" y="792785"/>
            <a:ext cx="990295" cy="244145"/>
          </a:xfrm>
          <a:prstGeom prst="rect">
            <a:avLst/>
          </a:prstGeom>
          <a:noFill/>
          <a:ln/>
        </p:spPr>
        <p:txBody>
          <a:bodyPr wrap="square" lIns="0" tIns="0" rIns="0" bIns="0" rtlCol="0" anchor="ctr"/>
          <a:lstStyle/>
          <a:p>
            <a:pPr algn="ctr" indent="0" marL="0">
              <a:buNone/>
            </a:pPr>
            <a:r>
              <a:rPr lang="en-US" sz="1000" dirty="0">
                <a:solidFill>
                  <a:srgbClr val="FFFFFF"/>
                </a:solidFill>
                <a:latin typeface="Roobert" pitchFamily="34" charset="0"/>
                <a:ea typeface="Roobert" pitchFamily="34" charset="-122"/>
                <a:cs typeface="Roobert" pitchFamily="34" charset="-120"/>
              </a:rPr>
              <a:t>Exercise E4</a:t>
            </a:r>
            <a:endParaRPr lang="en-US" sz="1000" dirty="0"/>
          </a:p>
        </p:txBody>
      </p:sp>
      <p:sp>
        <p:nvSpPr>
          <p:cNvPr id="4" name="Shape 2"/>
          <p:cNvSpPr/>
          <p:nvPr/>
        </p:nvSpPr>
        <p:spPr>
          <a:xfrm>
            <a:off x="1920240" y="845820"/>
            <a:ext cx="137160" cy="137160"/>
          </a:xfrm>
          <a:prstGeom prst="ellipse">
            <a:avLst/>
          </a:prstGeom>
          <a:solidFill>
            <a:schemeClr val="accent3"/>
          </a:solidFill>
          <a:ln/>
        </p:spPr>
      </p:sp>
      <p:sp>
        <p:nvSpPr>
          <p:cNvPr id="5" name="Text 3"/>
          <p:cNvSpPr txBox="1"/>
          <p:nvPr/>
        </p:nvSpPr>
        <p:spPr>
          <a:xfrm>
            <a:off x="2133295" y="792785"/>
            <a:ext cx="1524305" cy="244145"/>
          </a:xfrm>
          <a:prstGeom prst="rect">
            <a:avLst/>
          </a:prstGeom>
          <a:noFill/>
          <a:ln/>
        </p:spPr>
        <p:txBody>
          <a:bodyPr wrap="square" lIns="0" tIns="0" rIns="0" bIns="0" rtlCol="0" anchor="ctr"/>
          <a:lstStyle/>
          <a:p>
            <a:pPr indent="0" marL="0">
              <a:buNone/>
            </a:pPr>
            <a:r>
              <a:rPr lang="en-US" sz="1000" dirty="0">
                <a:solidFill>
                  <a:srgbClr val="6F6F6A"/>
                </a:solidFill>
                <a:latin typeface="Roobert" pitchFamily="34" charset="0"/>
                <a:ea typeface="Roobert" pitchFamily="34" charset="-122"/>
                <a:cs typeface="Roobert" pitchFamily="34" charset="-120"/>
              </a:rPr>
              <a:t>Phase 04</a:t>
            </a:r>
            <a:endParaRPr lang="en-US" sz="1000" dirty="0"/>
          </a:p>
        </p:txBody>
      </p:sp>
      <p:sp>
        <p:nvSpPr>
          <p:cNvPr id="6" name="Text 1"/>
          <p:cNvSpPr/>
          <p:nvPr>
            <p:ph idx="101" type="title" hasCustomPrompt="1"/>
          </p:nvPr>
        </p:nvSpPr>
        <p:spPr>
          <a:xfrm>
            <a:off x="822960" y="1218895"/>
            <a:ext cx="4343400" cy="1828800"/>
          </a:xfrm>
          <a:prstGeom prst="rect">
            <a:avLst/>
          </a:prstGeom>
          <a:noFill/>
          <a:ln/>
        </p:spPr>
        <p:txBody>
          <a:bodyPr wrap="square" lIns="0" tIns="0" rIns="0" bIns="0" rtlCol="0" anchor="t"/>
          <a:lstStyle/>
          <a:p>
            <a:pPr algn="l" indent="0" marL="0">
              <a:buNone/>
            </a:pPr>
            <a:r>
              <a:rPr lang="en-US" sz="4300" dirty="0">
                <a:solidFill>
                  <a:schemeClr val="tx1"/>
                </a:solidFill>
              </a:rPr>
              <a:t>Deadpan rewrite &amp; fact ledger</a:t>
            </a:r>
            <a:endParaRPr lang="en-US" sz="4300" dirty="0"/>
          </a:p>
        </p:txBody>
      </p:sp>
      <p:sp>
        <p:nvSpPr>
          <p:cNvPr id="7" name="Shape 5"/>
          <p:cNvSpPr/>
          <p:nvPr/>
        </p:nvSpPr>
        <p:spPr>
          <a:xfrm>
            <a:off x="822960" y="3200400"/>
            <a:ext cx="4267505" cy="0"/>
          </a:xfrm>
          <a:prstGeom prst="line">
            <a:avLst/>
          </a:prstGeom>
          <a:noFill/>
          <a:ln w="9525">
            <a:solidFill>
              <a:srgbClr val="C9C7BE"/>
            </a:solidFill>
            <a:prstDash val="solid"/>
          </a:ln>
        </p:spPr>
      </p:sp>
      <p:sp>
        <p:nvSpPr>
          <p:cNvPr id="8" name="Text 6"/>
          <p:cNvSpPr txBox="1"/>
          <p:nvPr/>
        </p:nvSpPr>
        <p:spPr>
          <a:xfrm>
            <a:off x="822960" y="3353105"/>
            <a:ext cx="4267505" cy="1143000"/>
          </a:xfrm>
          <a:prstGeom prst="rect">
            <a:avLst/>
          </a:prstGeom>
          <a:noFill/>
          <a:ln/>
        </p:spPr>
        <p:txBody>
          <a:bodyPr wrap="square" lIns="0" tIns="0" rIns="0" bIns="0" rtlCol="0" anchor="t"/>
          <a:lstStyle/>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Time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45 min</a:t>
            </a:r>
            <a:endParaRPr lang="en-US" sz="1300" dirty="0"/>
          </a:p>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Who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Team</a:t>
            </a:r>
            <a:endParaRPr lang="en-US" sz="1300" dirty="0"/>
          </a:p>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Hand in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A page with every fact sourced and no winks</a:t>
            </a:r>
            <a:endParaRPr lang="en-US" sz="1300" dirty="0"/>
          </a:p>
        </p:txBody>
      </p:sp>
      <p:sp>
        <p:nvSpPr>
          <p:cNvPr id="9" name="Text 7"/>
          <p:cNvSpPr txBox="1"/>
          <p:nvPr/>
        </p:nvSpPr>
        <p:spPr>
          <a:xfrm>
            <a:off x="822960" y="5790895"/>
            <a:ext cx="4572000"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Sheet: pauerrr.github.io/redecorating-power/exercises/#e4</a:t>
            </a:r>
            <a:endParaRPr lang="en-US" sz="900" dirty="0"/>
          </a:p>
        </p:txBody>
      </p:sp>
      <p:sp>
        <p:nvSpPr>
          <p:cNvPr id="10" name="Shape 8"/>
          <p:cNvSpPr/>
          <p:nvPr/>
        </p:nvSpPr>
        <p:spPr>
          <a:xfrm>
            <a:off x="5639105" y="792785"/>
            <a:ext cx="5790895" cy="0"/>
          </a:xfrm>
          <a:prstGeom prst="line">
            <a:avLst/>
          </a:prstGeom>
          <a:noFill/>
          <a:ln w="9525">
            <a:solidFill>
              <a:srgbClr val="C9C7BE"/>
            </a:solidFill>
            <a:prstDash val="solid"/>
          </a:ln>
        </p:spPr>
      </p:sp>
      <p:sp>
        <p:nvSpPr>
          <p:cNvPr id="11" name="Text 9"/>
          <p:cNvSpPr txBox="1"/>
          <p:nvPr/>
        </p:nvSpPr>
        <p:spPr>
          <a:xfrm>
            <a:off x="5639105" y="94457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01</a:t>
            </a:r>
            <a:endParaRPr lang="en-US" sz="900" dirty="0"/>
          </a:p>
        </p:txBody>
      </p:sp>
      <p:sp>
        <p:nvSpPr>
          <p:cNvPr id="12" name="Text 10"/>
          <p:cNvSpPr txBox="1"/>
          <p:nvPr/>
        </p:nvSpPr>
        <p:spPr>
          <a:xfrm>
            <a:off x="6096305" y="89885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Write the content in the institution's voice. Steal its phrases from the Style Bureau.</a:t>
            </a:r>
            <a:endParaRPr lang="en-US" sz="1600" dirty="0"/>
          </a:p>
        </p:txBody>
      </p:sp>
      <p:sp>
        <p:nvSpPr>
          <p:cNvPr id="13" name="Shape 11"/>
          <p:cNvSpPr/>
          <p:nvPr/>
        </p:nvSpPr>
        <p:spPr>
          <a:xfrm>
            <a:off x="5639105" y="1554480"/>
            <a:ext cx="5790895" cy="0"/>
          </a:xfrm>
          <a:prstGeom prst="line">
            <a:avLst/>
          </a:prstGeom>
          <a:noFill/>
          <a:ln w="9525">
            <a:solidFill>
              <a:srgbClr val="C9C7BE"/>
            </a:solidFill>
            <a:prstDash val="solid"/>
          </a:ln>
        </p:spPr>
      </p:sp>
      <p:sp>
        <p:nvSpPr>
          <p:cNvPr id="14" name="Text 12"/>
          <p:cNvSpPr txBox="1"/>
          <p:nvPr/>
        </p:nvSpPr>
        <p:spPr>
          <a:xfrm>
            <a:off x="5639105" y="170718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02</a:t>
            </a:r>
            <a:endParaRPr lang="en-US" sz="900" dirty="0"/>
          </a:p>
        </p:txBody>
      </p:sp>
      <p:sp>
        <p:nvSpPr>
          <p:cNvPr id="15" name="Text 13"/>
          <p:cNvSpPr txBox="1"/>
          <p:nvPr/>
        </p:nvSpPr>
        <p:spPr>
          <a:xfrm>
            <a:off x="6096305" y="166146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Every hard fact gets a ledger row: claim, source link, status.</a:t>
            </a:r>
            <a:endParaRPr lang="en-US" sz="1600" dirty="0"/>
          </a:p>
        </p:txBody>
      </p:sp>
      <p:sp>
        <p:nvSpPr>
          <p:cNvPr id="16" name="Shape 14"/>
          <p:cNvSpPr/>
          <p:nvPr/>
        </p:nvSpPr>
        <p:spPr>
          <a:xfrm>
            <a:off x="5639105" y="2316175"/>
            <a:ext cx="5790895" cy="0"/>
          </a:xfrm>
          <a:prstGeom prst="line">
            <a:avLst/>
          </a:prstGeom>
          <a:noFill/>
          <a:ln w="9525">
            <a:solidFill>
              <a:srgbClr val="C9C7BE"/>
            </a:solidFill>
            <a:prstDash val="solid"/>
          </a:ln>
        </p:spPr>
      </p:sp>
      <p:sp>
        <p:nvSpPr>
          <p:cNvPr id="17" name="Text 15"/>
          <p:cNvSpPr txBox="1"/>
          <p:nvPr/>
        </p:nvSpPr>
        <p:spPr>
          <a:xfrm>
            <a:off x="5639105" y="2468880"/>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03</a:t>
            </a:r>
            <a:endParaRPr lang="en-US" sz="900" dirty="0"/>
          </a:p>
        </p:txBody>
      </p:sp>
      <p:sp>
        <p:nvSpPr>
          <p:cNvPr id="18" name="Text 16"/>
          <p:cNvSpPr txBox="1"/>
          <p:nvPr/>
        </p:nvSpPr>
        <p:spPr>
          <a:xfrm>
            <a:off x="6096305" y="2423160"/>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Keep their words where you can. Their euphemisms are funnier than yours.</a:t>
            </a:r>
            <a:endParaRPr lang="en-US" sz="1600" dirty="0"/>
          </a:p>
        </p:txBody>
      </p:sp>
      <p:sp>
        <p:nvSpPr>
          <p:cNvPr id="19" name="Shape 17"/>
          <p:cNvSpPr/>
          <p:nvPr/>
        </p:nvSpPr>
        <p:spPr>
          <a:xfrm>
            <a:off x="5639105" y="3078785"/>
            <a:ext cx="5790895" cy="0"/>
          </a:xfrm>
          <a:prstGeom prst="line">
            <a:avLst/>
          </a:prstGeom>
          <a:noFill/>
          <a:ln w="9525">
            <a:solidFill>
              <a:srgbClr val="C9C7BE"/>
            </a:solidFill>
            <a:prstDash val="solid"/>
          </a:ln>
        </p:spPr>
      </p:sp>
      <p:sp>
        <p:nvSpPr>
          <p:cNvPr id="20" name="Text 18"/>
          <p:cNvSpPr txBox="1"/>
          <p:nvPr/>
        </p:nvSpPr>
        <p:spPr>
          <a:xfrm>
            <a:off x="5639105" y="323057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04</a:t>
            </a:r>
            <a:endParaRPr lang="en-US" sz="900" dirty="0"/>
          </a:p>
        </p:txBody>
      </p:sp>
      <p:sp>
        <p:nvSpPr>
          <p:cNvPr id="21" name="Text 19"/>
          <p:cNvSpPr txBox="1"/>
          <p:nvPr/>
        </p:nvSpPr>
        <p:spPr>
          <a:xfrm>
            <a:off x="6096305" y="318485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Minute 40 — wink audit: rewrite your funniest line more boringly.</a:t>
            </a:r>
            <a:endParaRPr lang="en-US" sz="1600" dirty="0"/>
          </a:p>
        </p:txBody>
      </p:sp>
      <p:sp>
        <p:nvSpPr>
          <p:cNvPr id="22" name="Shape 20"/>
          <p:cNvSpPr/>
          <p:nvPr/>
        </p:nvSpPr>
        <p:spPr>
          <a:xfrm>
            <a:off x="5639105" y="3840480"/>
            <a:ext cx="5790895" cy="0"/>
          </a:xfrm>
          <a:prstGeom prst="line">
            <a:avLst/>
          </a:prstGeom>
          <a:noFill/>
          <a:ln w="9525">
            <a:solidFill>
              <a:srgbClr val="C9C7BE"/>
            </a:solidFill>
            <a:prstDash val="solid"/>
          </a:ln>
        </p:spPr>
      </p:sp>
      <p:sp>
        <p:nvSpPr>
          <p:cNvPr id="23" name="Text 21"/>
          <p:cNvSpPr txBox="1"/>
          <p:nvPr/>
        </p:nvSpPr>
        <p:spPr>
          <a:xfrm>
            <a:off x="5639105" y="399318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05</a:t>
            </a:r>
            <a:endParaRPr lang="en-US" sz="900" dirty="0"/>
          </a:p>
        </p:txBody>
      </p:sp>
      <p:sp>
        <p:nvSpPr>
          <p:cNvPr id="24" name="Text 22"/>
          <p:cNvSpPr txBox="1"/>
          <p:nvPr/>
        </p:nvSpPr>
        <p:spPr>
          <a:xfrm>
            <a:off x="6096305" y="3947465"/>
            <a:ext cx="5333695" cy="39593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Build a Sources section from the ledger.</a:t>
            </a:r>
            <a:endParaRPr lang="en-US" sz="1600" dirty="0"/>
          </a:p>
        </p:txBody>
      </p:sp>
      <p:sp>
        <p:nvSpPr>
          <p:cNvPr id="25" name="Shape 23"/>
          <p:cNvSpPr/>
          <p:nvPr/>
        </p:nvSpPr>
        <p:spPr>
          <a:xfrm>
            <a:off x="5639105" y="4389120"/>
            <a:ext cx="5790895" cy="0"/>
          </a:xfrm>
          <a:prstGeom prst="line">
            <a:avLst/>
          </a:prstGeom>
          <a:noFill/>
          <a:ln w="9525">
            <a:solidFill>
              <a:srgbClr val="C9C7BE"/>
            </a:solidFill>
            <a:prstDash val="solid"/>
          </a:ln>
        </p:spPr>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chemeClr val="accent2"/>
        </a:solidFill>
      </p:bgPr>
    </p:bg>
    <p:spTree>
      <p:nvGrpSpPr>
        <p:cNvPr id="1" name=""/>
        <p:cNvGrpSpPr/>
        <p:nvPr/>
      </p:nvGrpSpPr>
      <p:grpSpPr>
        <a:xfrm>
          <a:off x="0" y="0"/>
          <a:ext cx="0" cy="0"/>
          <a:chOff x="0" y="0"/>
          <a:chExt cx="0" cy="0"/>
        </a:xfrm>
      </p:grpSpPr>
      <p:sp>
        <p:nvSpPr>
          <p:cNvPr id="2" name="Phase number"/>
          <p:cNvSpPr txBox="1"/>
          <p:nvPr/>
        </p:nvSpPr>
        <p:spPr>
          <a:xfrm>
            <a:off x="441655" y="152705"/>
            <a:ext cx="7619695" cy="3200400"/>
          </a:xfrm>
          <a:prstGeom prst="rect">
            <a:avLst/>
          </a:prstGeom>
          <a:noFill/>
          <a:ln/>
        </p:spPr>
        <p:txBody>
          <a:bodyPr wrap="square" lIns="0" tIns="0" rIns="0" bIns="0" rtlCol="0" anchor="t"/>
          <a:lstStyle/>
          <a:p>
            <a:pPr indent="0" marL="0">
              <a:buNone/>
            </a:pPr>
            <a:r>
              <a:rPr lang="en-US" sz="25200" dirty="0">
                <a:solidFill>
                  <a:schemeClr val="bg2"/>
                </a:solidFill>
                <a:latin typeface="Roobert" pitchFamily="34" charset="0"/>
                <a:ea typeface="Roobert" pitchFamily="34" charset="-122"/>
                <a:cs typeface="Roobert" pitchFamily="34" charset="-120"/>
              </a:rPr>
              <a:t>05</a:t>
            </a:r>
            <a:endParaRPr lang="en-US" sz="25200" dirty="0"/>
          </a:p>
        </p:txBody>
      </p:sp>
      <p:sp>
        <p:nvSpPr>
          <p:cNvPr id="3" name="Text 0"/>
          <p:cNvSpPr/>
          <p:nvPr>
            <p:ph idx="100" type="title" hasCustomPrompt="1"/>
          </p:nvPr>
        </p:nvSpPr>
        <p:spPr>
          <a:xfrm>
            <a:off x="548640" y="4267505"/>
            <a:ext cx="10668305" cy="1524305"/>
          </a:xfrm>
          <a:prstGeom prst="rect">
            <a:avLst/>
          </a:prstGeom>
          <a:noFill/>
          <a:ln/>
        </p:spPr>
        <p:txBody>
          <a:bodyPr wrap="square" lIns="0" tIns="0" rIns="0" bIns="0" rtlCol="0" anchor="b"/>
          <a:lstStyle/>
          <a:p>
            <a:pPr algn="l" indent="0" marL="0">
              <a:buNone/>
            </a:pPr>
            <a:r>
              <a:rPr lang="en-US" sz="6200" dirty="0">
                <a:solidFill>
                  <a:schemeClr val="tx1"/>
                </a:solidFill>
              </a:rPr>
              <a:t>The register of works</a:t>
            </a:r>
            <a:endParaRPr lang="en-US" sz="6200" dirty="0"/>
          </a:p>
        </p:txBody>
      </p:sp>
      <p:sp>
        <p:nvSpPr>
          <p:cNvPr id="4" name="Text 2"/>
          <p:cNvSpPr txBox="1"/>
          <p:nvPr/>
        </p:nvSpPr>
        <p:spPr>
          <a:xfrm>
            <a:off x="548640" y="5943600"/>
            <a:ext cx="9905695" cy="381305"/>
          </a:xfrm>
          <a:prstGeom prst="rect">
            <a:avLst/>
          </a:prstGeom>
          <a:noFill/>
          <a:ln/>
        </p:spPr>
        <p:txBody>
          <a:bodyPr wrap="square" lIns="0" tIns="0" rIns="0" bIns="0" rtlCol="0" anchor="t"/>
          <a:lstStyle/>
          <a:p>
            <a:pPr indent="0" marL="0">
              <a:buNone/>
            </a:pPr>
            <a:r>
              <a:rPr lang="en-US" sz="1800" dirty="0">
                <a:solidFill>
                  <a:schemeClr val="bg2"/>
                </a:solidFill>
                <a:latin typeface="Roobert" pitchFamily="34" charset="0"/>
                <a:ea typeface="Roobert" pitchFamily="34" charset="-122"/>
                <a:cs typeface="Roobert" pitchFamily="34" charset="-120"/>
              </a:rPr>
              <a:t>Ninety seconds each. In character.</a:t>
            </a:r>
            <a:endParaRPr lang="en-US" sz="1800" dirty="0"/>
          </a:p>
        </p:txBody>
      </p:sp>
      <p:sp>
        <p:nvSpPr>
          <p:cNvPr id="5" name="Duration"/>
          <p:cNvSpPr/>
          <p:nvPr/>
        </p:nvSpPr>
        <p:spPr>
          <a:xfrm>
            <a:off x="10591495" y="457200"/>
            <a:ext cx="1067105" cy="395935"/>
          </a:xfrm>
          <a:prstGeom prst="roundRect">
            <a:avLst>
              <a:gd name="adj" fmla="val 115473"/>
            </a:avLst>
          </a:prstGeom>
          <a:ln w="12700">
            <a:solidFill>
              <a:schemeClr val="bg2"/>
            </a:solidFill>
            <a:prstDash val="solid"/>
          </a:ln>
        </p:spPr>
      </p:sp>
      <p:sp>
        <p:nvSpPr>
          <p:cNvPr id="6" name="Text 4"/>
          <p:cNvSpPr txBox="1"/>
          <p:nvPr/>
        </p:nvSpPr>
        <p:spPr>
          <a:xfrm>
            <a:off x="10591495" y="457200"/>
            <a:ext cx="1067105" cy="395935"/>
          </a:xfrm>
          <a:prstGeom prst="rect">
            <a:avLst/>
          </a:prstGeom>
          <a:noFill/>
          <a:ln/>
        </p:spPr>
        <p:txBody>
          <a:bodyPr wrap="square" lIns="0" tIns="0" rIns="0" bIns="0" rtlCol="0" anchor="ctr"/>
          <a:lstStyle/>
          <a:p>
            <a:pPr algn="ctr" indent="0" marL="0">
              <a:buNone/>
            </a:pPr>
            <a:r>
              <a:rPr lang="en-US" sz="1400" dirty="0">
                <a:solidFill>
                  <a:schemeClr val="bg2"/>
                </a:solidFill>
                <a:latin typeface="Roobert" pitchFamily="34" charset="0"/>
                <a:ea typeface="Roobert" pitchFamily="34" charset="-122"/>
                <a:cs typeface="Roobert" pitchFamily="34" charset="-120"/>
              </a:rPr>
              <a:t>25 min</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ag Exercise E5"/>
          <p:cNvSpPr/>
          <p:nvPr/>
        </p:nvSpPr>
        <p:spPr>
          <a:xfrm>
            <a:off x="822960" y="792785"/>
            <a:ext cx="990295" cy="244145"/>
          </a:xfrm>
          <a:prstGeom prst="roundRect">
            <a:avLst>
              <a:gd name="adj" fmla="val 187266"/>
            </a:avLst>
          </a:prstGeom>
          <a:solidFill>
            <a:srgbClr val="0B0C0C"/>
          </a:solidFill>
          <a:ln w="9525">
            <a:solidFill>
              <a:srgbClr val="0B0C0C"/>
            </a:solidFill>
            <a:prstDash val="solid"/>
          </a:ln>
        </p:spPr>
      </p:sp>
      <p:sp>
        <p:nvSpPr>
          <p:cNvPr id="3" name="Text 1"/>
          <p:cNvSpPr txBox="1"/>
          <p:nvPr/>
        </p:nvSpPr>
        <p:spPr>
          <a:xfrm>
            <a:off x="822960" y="792785"/>
            <a:ext cx="990295" cy="244145"/>
          </a:xfrm>
          <a:prstGeom prst="rect">
            <a:avLst/>
          </a:prstGeom>
          <a:noFill/>
          <a:ln/>
        </p:spPr>
        <p:txBody>
          <a:bodyPr wrap="square" lIns="0" tIns="0" rIns="0" bIns="0" rtlCol="0" anchor="ctr"/>
          <a:lstStyle/>
          <a:p>
            <a:pPr algn="ctr" indent="0" marL="0">
              <a:buNone/>
            </a:pPr>
            <a:r>
              <a:rPr lang="en-US" sz="1000" dirty="0">
                <a:solidFill>
                  <a:srgbClr val="FFFFFF"/>
                </a:solidFill>
                <a:latin typeface="Roobert" pitchFamily="34" charset="0"/>
                <a:ea typeface="Roobert" pitchFamily="34" charset="-122"/>
                <a:cs typeface="Roobert" pitchFamily="34" charset="-120"/>
              </a:rPr>
              <a:t>Exercise E5</a:t>
            </a:r>
            <a:endParaRPr lang="en-US" sz="1000" dirty="0"/>
          </a:p>
        </p:txBody>
      </p:sp>
      <p:sp>
        <p:nvSpPr>
          <p:cNvPr id="4" name="Shape 2"/>
          <p:cNvSpPr/>
          <p:nvPr/>
        </p:nvSpPr>
        <p:spPr>
          <a:xfrm>
            <a:off x="1920240" y="845820"/>
            <a:ext cx="137160" cy="137160"/>
          </a:xfrm>
          <a:prstGeom prst="ellipse">
            <a:avLst/>
          </a:prstGeom>
          <a:solidFill>
            <a:schemeClr val="accent2"/>
          </a:solidFill>
          <a:ln/>
        </p:spPr>
      </p:sp>
      <p:sp>
        <p:nvSpPr>
          <p:cNvPr id="5" name="Text 3"/>
          <p:cNvSpPr txBox="1"/>
          <p:nvPr/>
        </p:nvSpPr>
        <p:spPr>
          <a:xfrm>
            <a:off x="2133295" y="792785"/>
            <a:ext cx="1524305" cy="244145"/>
          </a:xfrm>
          <a:prstGeom prst="rect">
            <a:avLst/>
          </a:prstGeom>
          <a:noFill/>
          <a:ln/>
        </p:spPr>
        <p:txBody>
          <a:bodyPr wrap="square" lIns="0" tIns="0" rIns="0" bIns="0" rtlCol="0" anchor="ctr"/>
          <a:lstStyle/>
          <a:p>
            <a:pPr indent="0" marL="0">
              <a:buNone/>
            </a:pPr>
            <a:r>
              <a:rPr lang="en-US" sz="1000" dirty="0">
                <a:solidFill>
                  <a:srgbClr val="6F6F6A"/>
                </a:solidFill>
                <a:latin typeface="Roobert" pitchFamily="34" charset="0"/>
                <a:ea typeface="Roobert" pitchFamily="34" charset="-122"/>
                <a:cs typeface="Roobert" pitchFamily="34" charset="-120"/>
              </a:rPr>
              <a:t>Phase 05</a:t>
            </a:r>
            <a:endParaRPr lang="en-US" sz="1000" dirty="0"/>
          </a:p>
        </p:txBody>
      </p:sp>
      <p:sp>
        <p:nvSpPr>
          <p:cNvPr id="6" name="Text 1"/>
          <p:cNvSpPr/>
          <p:nvPr>
            <p:ph idx="101" type="title" hasCustomPrompt="1"/>
          </p:nvPr>
        </p:nvSpPr>
        <p:spPr>
          <a:xfrm>
            <a:off x="822960" y="1218895"/>
            <a:ext cx="4343400" cy="1828800"/>
          </a:xfrm>
          <a:prstGeom prst="rect">
            <a:avLst/>
          </a:prstGeom>
          <a:noFill/>
          <a:ln/>
        </p:spPr>
        <p:txBody>
          <a:bodyPr wrap="square" lIns="0" tIns="0" rIns="0" bIns="0" rtlCol="0" anchor="t"/>
          <a:lstStyle/>
          <a:p>
            <a:pPr algn="l" indent="0" marL="0">
              <a:buNone/>
            </a:pPr>
            <a:r>
              <a:rPr lang="en-US" sz="4300" dirty="0">
                <a:solidFill>
                  <a:schemeClr val="tx1"/>
                </a:solidFill>
              </a:rPr>
              <a:t>Spokesperson</a:t>
            </a:r>
            <a:endParaRPr lang="en-US" sz="4300" dirty="0"/>
          </a:p>
        </p:txBody>
      </p:sp>
      <p:sp>
        <p:nvSpPr>
          <p:cNvPr id="7" name="Shape 5"/>
          <p:cNvSpPr/>
          <p:nvPr/>
        </p:nvSpPr>
        <p:spPr>
          <a:xfrm>
            <a:off x="822960" y="3200400"/>
            <a:ext cx="4267505" cy="0"/>
          </a:xfrm>
          <a:prstGeom prst="line">
            <a:avLst/>
          </a:prstGeom>
          <a:noFill/>
          <a:ln w="9525">
            <a:solidFill>
              <a:srgbClr val="C9C7BE"/>
            </a:solidFill>
            <a:prstDash val="solid"/>
          </a:ln>
        </p:spPr>
      </p:sp>
      <p:sp>
        <p:nvSpPr>
          <p:cNvPr id="8" name="Text 6"/>
          <p:cNvSpPr txBox="1"/>
          <p:nvPr/>
        </p:nvSpPr>
        <p:spPr>
          <a:xfrm>
            <a:off x="822960" y="3353105"/>
            <a:ext cx="4267505" cy="1143000"/>
          </a:xfrm>
          <a:prstGeom prst="rect">
            <a:avLst/>
          </a:prstGeom>
          <a:noFill/>
          <a:ln/>
        </p:spPr>
        <p:txBody>
          <a:bodyPr wrap="square" lIns="0" tIns="0" rIns="0" bIns="0" rtlCol="0" anchor="t"/>
          <a:lstStyle/>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Time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90 sec per team</a:t>
            </a:r>
            <a:endParaRPr lang="en-US" sz="1300" dirty="0"/>
          </a:p>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Who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Team, in character</a:t>
            </a:r>
            <a:endParaRPr lang="en-US" sz="1300" dirty="0"/>
          </a:p>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Hand in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A launch, not an explanation</a:t>
            </a:r>
            <a:endParaRPr lang="en-US" sz="1300" dirty="0"/>
          </a:p>
        </p:txBody>
      </p:sp>
      <p:sp>
        <p:nvSpPr>
          <p:cNvPr id="9" name="Text 7"/>
          <p:cNvSpPr txBox="1"/>
          <p:nvPr/>
        </p:nvSpPr>
        <p:spPr>
          <a:xfrm>
            <a:off x="822960" y="5790895"/>
            <a:ext cx="4572000"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Sheet: pauerrr.github.io/redecorating-power/exercises/#e5</a:t>
            </a:r>
            <a:endParaRPr lang="en-US" sz="900" dirty="0"/>
          </a:p>
        </p:txBody>
      </p:sp>
      <p:sp>
        <p:nvSpPr>
          <p:cNvPr id="10" name="Shape 8"/>
          <p:cNvSpPr/>
          <p:nvPr/>
        </p:nvSpPr>
        <p:spPr>
          <a:xfrm>
            <a:off x="5639105" y="792785"/>
            <a:ext cx="5790895" cy="0"/>
          </a:xfrm>
          <a:prstGeom prst="line">
            <a:avLst/>
          </a:prstGeom>
          <a:noFill/>
          <a:ln w="9525">
            <a:solidFill>
              <a:srgbClr val="C9C7BE"/>
            </a:solidFill>
            <a:prstDash val="solid"/>
          </a:ln>
        </p:spPr>
      </p:sp>
      <p:sp>
        <p:nvSpPr>
          <p:cNvPr id="11" name="Text 9"/>
          <p:cNvSpPr txBox="1"/>
          <p:nvPr/>
        </p:nvSpPr>
        <p:spPr>
          <a:xfrm>
            <a:off x="5639105" y="94457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01</a:t>
            </a:r>
            <a:endParaRPr lang="en-US" sz="900" dirty="0"/>
          </a:p>
        </p:txBody>
      </p:sp>
      <p:sp>
        <p:nvSpPr>
          <p:cNvPr id="12" name="Text 10"/>
          <p:cNvSpPr txBox="1"/>
          <p:nvPr/>
        </p:nvSpPr>
        <p:spPr>
          <a:xfrm>
            <a:off x="6096305" y="89885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One person is the institution's press officer. The others stand behind looking serious.</a:t>
            </a:r>
            <a:endParaRPr lang="en-US" sz="1600" dirty="0"/>
          </a:p>
        </p:txBody>
      </p:sp>
      <p:sp>
        <p:nvSpPr>
          <p:cNvPr id="13" name="Shape 11"/>
          <p:cNvSpPr/>
          <p:nvPr/>
        </p:nvSpPr>
        <p:spPr>
          <a:xfrm>
            <a:off x="5639105" y="1554480"/>
            <a:ext cx="5790895" cy="0"/>
          </a:xfrm>
          <a:prstGeom prst="line">
            <a:avLst/>
          </a:prstGeom>
          <a:noFill/>
          <a:ln w="9525">
            <a:solidFill>
              <a:srgbClr val="C9C7BE"/>
            </a:solidFill>
            <a:prstDash val="solid"/>
          </a:ln>
        </p:spPr>
      </p:sp>
      <p:sp>
        <p:nvSpPr>
          <p:cNvPr id="14" name="Text 12"/>
          <p:cNvSpPr txBox="1"/>
          <p:nvPr/>
        </p:nvSpPr>
        <p:spPr>
          <a:xfrm>
            <a:off x="5639105" y="170718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02</a:t>
            </a:r>
            <a:endParaRPr lang="en-US" sz="900" dirty="0"/>
          </a:p>
        </p:txBody>
      </p:sp>
      <p:sp>
        <p:nvSpPr>
          <p:cNvPr id="15" name="Text 13"/>
          <p:cNvSpPr txBox="1"/>
          <p:nvPr/>
        </p:nvSpPr>
        <p:spPr>
          <a:xfrm>
            <a:off x="6096305" y="166146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Launch the site as if it were a real service update.</a:t>
            </a:r>
            <a:endParaRPr lang="en-US" sz="1600" dirty="0"/>
          </a:p>
        </p:txBody>
      </p:sp>
      <p:sp>
        <p:nvSpPr>
          <p:cNvPr id="16" name="Shape 14"/>
          <p:cNvSpPr/>
          <p:nvPr/>
        </p:nvSpPr>
        <p:spPr>
          <a:xfrm>
            <a:off x="5639105" y="2316175"/>
            <a:ext cx="5790895" cy="0"/>
          </a:xfrm>
          <a:prstGeom prst="line">
            <a:avLst/>
          </a:prstGeom>
          <a:noFill/>
          <a:ln w="9525">
            <a:solidFill>
              <a:srgbClr val="C9C7BE"/>
            </a:solidFill>
            <a:prstDash val="solid"/>
          </a:ln>
        </p:spPr>
      </p:sp>
      <p:sp>
        <p:nvSpPr>
          <p:cNvPr id="17" name="Text 15"/>
          <p:cNvSpPr txBox="1"/>
          <p:nvPr/>
        </p:nvSpPr>
        <p:spPr>
          <a:xfrm>
            <a:off x="5639105" y="2468880"/>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03</a:t>
            </a:r>
            <a:endParaRPr lang="en-US" sz="900" dirty="0"/>
          </a:p>
        </p:txBody>
      </p:sp>
      <p:sp>
        <p:nvSpPr>
          <p:cNvPr id="18" name="Text 16"/>
          <p:cNvSpPr txBox="1"/>
          <p:nvPr/>
        </p:nvSpPr>
        <p:spPr>
          <a:xfrm>
            <a:off x="6096305" y="2423160"/>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No stepping out of role. If it needs explaining, that's the note.</a:t>
            </a:r>
            <a:endParaRPr lang="en-US" sz="1600" dirty="0"/>
          </a:p>
        </p:txBody>
      </p:sp>
      <p:sp>
        <p:nvSpPr>
          <p:cNvPr id="19" name="Shape 17"/>
          <p:cNvSpPr/>
          <p:nvPr/>
        </p:nvSpPr>
        <p:spPr>
          <a:xfrm>
            <a:off x="5639105" y="3078785"/>
            <a:ext cx="5790895" cy="0"/>
          </a:xfrm>
          <a:prstGeom prst="line">
            <a:avLst/>
          </a:prstGeom>
          <a:noFill/>
          <a:ln w="9525">
            <a:solidFill>
              <a:srgbClr val="C9C7BE"/>
            </a:solidFill>
            <a:prstDash val="solid"/>
          </a:ln>
        </p:spPr>
      </p:sp>
      <p:sp>
        <p:nvSpPr>
          <p:cNvPr id="20" name="Text 18"/>
          <p:cNvSpPr txBox="1"/>
          <p:nvPr/>
        </p:nvSpPr>
        <p:spPr>
          <a:xfrm>
            <a:off x="5639105" y="323057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04</a:t>
            </a:r>
            <a:endParaRPr lang="en-US" sz="900" dirty="0"/>
          </a:p>
        </p:txBody>
      </p:sp>
      <p:sp>
        <p:nvSpPr>
          <p:cNvPr id="21" name="Text 19"/>
          <p:cNvSpPr txBox="1"/>
          <p:nvPr/>
        </p:nvSpPr>
        <p:spPr>
          <a:xfrm>
            <a:off x="6096305" y="318485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The room answers two questions: did the look sell the authority? Did the gap land?</a:t>
            </a:r>
            <a:endParaRPr lang="en-US" sz="1600" dirty="0"/>
          </a:p>
        </p:txBody>
      </p:sp>
      <p:sp>
        <p:nvSpPr>
          <p:cNvPr id="22" name="Shape 20"/>
          <p:cNvSpPr/>
          <p:nvPr/>
        </p:nvSpPr>
        <p:spPr>
          <a:xfrm>
            <a:off x="5639105" y="3840480"/>
            <a:ext cx="5790895" cy="0"/>
          </a:xfrm>
          <a:prstGeom prst="line">
            <a:avLst/>
          </a:prstGeom>
          <a:noFill/>
          <a:ln w="9525">
            <a:solidFill>
              <a:srgbClr val="C9C7BE"/>
            </a:solidFill>
            <a:prstDash val="solid"/>
          </a:ln>
        </p:spPr>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chemeClr val="tx1"/>
        </a:solidFill>
      </p:bgPr>
    </p:bg>
    <p:spTree>
      <p:nvGrpSpPr>
        <p:cNvPr id="1" name=""/>
        <p:cNvGrpSpPr/>
        <p:nvPr/>
      </p:nvGrpSpPr>
      <p:grpSpPr>
        <a:xfrm>
          <a:off x="0" y="0"/>
          <a:ext cx="0" cy="0"/>
          <a:chOff x="0" y="0"/>
          <a:chExt cx="0" cy="0"/>
        </a:xfrm>
      </p:grpSpPr>
      <p:sp>
        <p:nvSpPr>
          <p:cNvPr id="2" name="Phase number"/>
          <p:cNvSpPr txBox="1"/>
          <p:nvPr/>
        </p:nvSpPr>
        <p:spPr>
          <a:xfrm>
            <a:off x="441655" y="152705"/>
            <a:ext cx="7619695" cy="3200400"/>
          </a:xfrm>
          <a:prstGeom prst="rect">
            <a:avLst/>
          </a:prstGeom>
          <a:noFill/>
          <a:ln/>
        </p:spPr>
        <p:txBody>
          <a:bodyPr wrap="square" lIns="0" tIns="0" rIns="0" bIns="0" rtlCol="0" anchor="t"/>
          <a:lstStyle/>
          <a:p>
            <a:pPr indent="0" marL="0">
              <a:buNone/>
            </a:pPr>
            <a:r>
              <a:rPr lang="en-US" sz="25200" dirty="0">
                <a:solidFill>
                  <a:schemeClr val="bg2"/>
                </a:solidFill>
                <a:latin typeface="Roobert" pitchFamily="34" charset="0"/>
                <a:ea typeface="Roobert" pitchFamily="34" charset="-122"/>
                <a:cs typeface="Roobert" pitchFamily="34" charset="-120"/>
              </a:rPr>
              <a:t>06</a:t>
            </a:r>
            <a:endParaRPr lang="en-US" sz="25200" dirty="0"/>
          </a:p>
        </p:txBody>
      </p:sp>
      <p:sp>
        <p:nvSpPr>
          <p:cNvPr id="3" name="Text 0"/>
          <p:cNvSpPr/>
          <p:nvPr>
            <p:ph idx="100" type="title" hasCustomPrompt="1"/>
          </p:nvPr>
        </p:nvSpPr>
        <p:spPr>
          <a:xfrm>
            <a:off x="548640" y="4267505"/>
            <a:ext cx="10668305" cy="1524305"/>
          </a:xfrm>
          <a:prstGeom prst="rect">
            <a:avLst/>
          </a:prstGeom>
          <a:noFill/>
          <a:ln/>
        </p:spPr>
        <p:txBody>
          <a:bodyPr wrap="square" lIns="0" tIns="0" rIns="0" bIns="0" rtlCol="0" anchor="b"/>
          <a:lstStyle/>
          <a:p>
            <a:pPr algn="l" indent="0" marL="0">
              <a:buNone/>
            </a:pPr>
            <a:r>
              <a:rPr lang="en-US" sz="6200" dirty="0">
                <a:solidFill>
                  <a:schemeClr val="tx1"/>
                </a:solidFill>
              </a:rPr>
              <a:t>Debrief</a:t>
            </a:r>
            <a:endParaRPr lang="en-US" sz="6200" dirty="0"/>
          </a:p>
        </p:txBody>
      </p:sp>
      <p:sp>
        <p:nvSpPr>
          <p:cNvPr id="4" name="Text 2"/>
          <p:cNvSpPr txBox="1"/>
          <p:nvPr/>
        </p:nvSpPr>
        <p:spPr>
          <a:xfrm>
            <a:off x="548640" y="5943600"/>
            <a:ext cx="9905695" cy="381305"/>
          </a:xfrm>
          <a:prstGeom prst="rect">
            <a:avLst/>
          </a:prstGeom>
          <a:noFill/>
          <a:ln/>
        </p:spPr>
        <p:txBody>
          <a:bodyPr wrap="square" lIns="0" tIns="0" rIns="0" bIns="0" rtlCol="0" anchor="t"/>
          <a:lstStyle/>
          <a:p>
            <a:pPr indent="0" marL="0">
              <a:buNone/>
            </a:pPr>
            <a:r>
              <a:rPr lang="en-US" sz="1800" dirty="0">
                <a:solidFill>
                  <a:schemeClr val="bg2"/>
                </a:solidFill>
                <a:latin typeface="Roobert" pitchFamily="34" charset="0"/>
                <a:ea typeface="Roobert" pitchFamily="34" charset="-122"/>
                <a:cs typeface="Roobert" pitchFamily="34" charset="-120"/>
              </a:rPr>
              <a:t>Nobody practised vibe-coding today.</a:t>
            </a:r>
            <a:endParaRPr lang="en-US" sz="1800" dirty="0"/>
          </a:p>
        </p:txBody>
      </p:sp>
      <p:sp>
        <p:nvSpPr>
          <p:cNvPr id="5" name="Duration"/>
          <p:cNvSpPr/>
          <p:nvPr/>
        </p:nvSpPr>
        <p:spPr>
          <a:xfrm>
            <a:off x="10591495" y="457200"/>
            <a:ext cx="1067105" cy="395935"/>
          </a:xfrm>
          <a:prstGeom prst="roundRect">
            <a:avLst>
              <a:gd name="adj" fmla="val 115473"/>
            </a:avLst>
          </a:prstGeom>
          <a:ln w="12700">
            <a:solidFill>
              <a:schemeClr val="bg2"/>
            </a:solidFill>
            <a:prstDash val="solid"/>
          </a:ln>
        </p:spPr>
      </p:sp>
      <p:sp>
        <p:nvSpPr>
          <p:cNvPr id="6" name="Text 4"/>
          <p:cNvSpPr txBox="1"/>
          <p:nvPr/>
        </p:nvSpPr>
        <p:spPr>
          <a:xfrm>
            <a:off x="10591495" y="457200"/>
            <a:ext cx="1067105" cy="395935"/>
          </a:xfrm>
          <a:prstGeom prst="rect">
            <a:avLst/>
          </a:prstGeom>
          <a:noFill/>
          <a:ln/>
        </p:spPr>
        <p:txBody>
          <a:bodyPr wrap="square" lIns="0" tIns="0" rIns="0" bIns="0" rtlCol="0" anchor="ctr"/>
          <a:lstStyle/>
          <a:p>
            <a:pPr algn="ctr" indent="0" marL="0">
              <a:buNone/>
            </a:pPr>
            <a:r>
              <a:rPr lang="en-US" sz="1400" dirty="0">
                <a:solidFill>
                  <a:schemeClr val="bg2"/>
                </a:solidFill>
                <a:latin typeface="Roobert" pitchFamily="34" charset="0"/>
                <a:ea typeface="Roobert" pitchFamily="34" charset="-122"/>
                <a:cs typeface="Roobert" pitchFamily="34" charset="-120"/>
              </a:rPr>
              <a:t>10 min</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tatement"/>
          <p:cNvSpPr txBox="1"/>
          <p:nvPr/>
        </p:nvSpPr>
        <p:spPr>
          <a:xfrm>
            <a:off x="548640" y="990295"/>
            <a:ext cx="10668305" cy="3200400"/>
          </a:xfrm>
          <a:prstGeom prst="rect">
            <a:avLst/>
          </a:prstGeom>
          <a:noFill/>
          <a:ln/>
        </p:spPr>
        <p:txBody>
          <a:bodyPr wrap="square" lIns="0" tIns="0" rIns="0" bIns="0" rtlCol="0" anchor="t"/>
          <a:lstStyle/>
          <a:p>
            <a:pPr indent="0" marL="0">
              <a:buNone/>
            </a:pPr>
            <a:r>
              <a:rPr lang="en-US" sz="6000" dirty="0">
                <a:solidFill>
                  <a:schemeClr val="tx1"/>
                </a:solidFill>
                <a:latin typeface="Roobert" pitchFamily="34" charset="0"/>
                <a:ea typeface="Roobert" pitchFamily="34" charset="-122"/>
                <a:cs typeface="Roobert" pitchFamily="34" charset="-120"/>
              </a:rPr>
              <a:t>You practised reading design as rhetoric, and writing back in the same language.</a:t>
            </a:r>
            <a:endParaRPr lang="en-US" sz="6000" dirty="0"/>
          </a:p>
        </p:txBody>
      </p:sp>
      <p:sp>
        <p:nvSpPr>
          <p:cNvPr id="3" name="Text 1"/>
          <p:cNvSpPr txBox="1"/>
          <p:nvPr/>
        </p:nvSpPr>
        <p:spPr>
          <a:xfrm>
            <a:off x="548640" y="4876495"/>
            <a:ext cx="7619695" cy="121889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That doesn't stay in this room. Onboarding flows that fake friendliness, cancellation pages that fake helpfulness, 'we've updated our privacy policy' pop-ups that fake consent. Aesthetics are always making an argument.</a:t>
            </a:r>
            <a:endParaRPr lang="en-US" sz="1600" dirty="0"/>
          </a:p>
        </p:txBody>
      </p:sp>
      <p:sp>
        <p:nvSpPr>
          <p:cNvPr id="5" name="Text 0"/>
          <p:cNvSpPr/>
          <p:nvPr>
            <p:ph idx="100" type="title" hasCustomPrompt="1"/>
          </p:nvPr>
        </p:nvSpPr>
        <p:spPr>
          <a:xfrm>
            <a:off x="548640" y="731520"/>
            <a:ext cx="11094415" cy="761695"/>
          </a:xfrm>
          <a:prstGeom prst="rect">
            <a:avLst/>
          </a:prstGeom>
          <a:noFill/>
          <a:ln/>
        </p:spPr>
        <p:txBody>
          <a:bodyPr wrap="square" lIns="0" tIns="0" rIns="0" bIns="0" rtlCol="0" anchor="b"/>
          <a:lstStyle/>
          <a:p>
            <a:pPr algn="l" indent="0" marL="0">
              <a:buNone/>
            </a:pPr>
            <a:endParaRPr lang="en-US" sz="41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ag Exercise E6"/>
          <p:cNvSpPr/>
          <p:nvPr/>
        </p:nvSpPr>
        <p:spPr>
          <a:xfrm>
            <a:off x="822960" y="792785"/>
            <a:ext cx="990295" cy="244145"/>
          </a:xfrm>
          <a:prstGeom prst="roundRect">
            <a:avLst>
              <a:gd name="adj" fmla="val 187266"/>
            </a:avLst>
          </a:prstGeom>
          <a:solidFill>
            <a:srgbClr val="0B0C0C"/>
          </a:solidFill>
          <a:ln w="9525">
            <a:solidFill>
              <a:srgbClr val="0B0C0C"/>
            </a:solidFill>
            <a:prstDash val="solid"/>
          </a:ln>
        </p:spPr>
      </p:sp>
      <p:sp>
        <p:nvSpPr>
          <p:cNvPr id="3" name="Text 1"/>
          <p:cNvSpPr txBox="1"/>
          <p:nvPr/>
        </p:nvSpPr>
        <p:spPr>
          <a:xfrm>
            <a:off x="822960" y="792785"/>
            <a:ext cx="990295" cy="244145"/>
          </a:xfrm>
          <a:prstGeom prst="rect">
            <a:avLst/>
          </a:prstGeom>
          <a:noFill/>
          <a:ln/>
        </p:spPr>
        <p:txBody>
          <a:bodyPr wrap="square" lIns="0" tIns="0" rIns="0" bIns="0" rtlCol="0" anchor="ctr"/>
          <a:lstStyle/>
          <a:p>
            <a:pPr algn="ctr" indent="0" marL="0">
              <a:buNone/>
            </a:pPr>
            <a:r>
              <a:rPr lang="en-US" sz="1000" dirty="0">
                <a:solidFill>
                  <a:srgbClr val="FFFFFF"/>
                </a:solidFill>
                <a:latin typeface="Roobert" pitchFamily="34" charset="0"/>
                <a:ea typeface="Roobert" pitchFamily="34" charset="-122"/>
                <a:cs typeface="Roobert" pitchFamily="34" charset="-120"/>
              </a:rPr>
              <a:t>Exercise E6</a:t>
            </a:r>
            <a:endParaRPr lang="en-US" sz="1000" dirty="0"/>
          </a:p>
        </p:txBody>
      </p:sp>
      <p:sp>
        <p:nvSpPr>
          <p:cNvPr id="4" name="Shape 2"/>
          <p:cNvSpPr/>
          <p:nvPr/>
        </p:nvSpPr>
        <p:spPr>
          <a:xfrm>
            <a:off x="1920240" y="845820"/>
            <a:ext cx="137160" cy="137160"/>
          </a:xfrm>
          <a:prstGeom prst="ellipse">
            <a:avLst/>
          </a:prstGeom>
          <a:solidFill>
            <a:schemeClr val="tx1"/>
          </a:solidFill>
          <a:ln/>
        </p:spPr>
      </p:sp>
      <p:sp>
        <p:nvSpPr>
          <p:cNvPr id="5" name="Text 3"/>
          <p:cNvSpPr txBox="1"/>
          <p:nvPr/>
        </p:nvSpPr>
        <p:spPr>
          <a:xfrm>
            <a:off x="2133295" y="792785"/>
            <a:ext cx="1524305" cy="244145"/>
          </a:xfrm>
          <a:prstGeom prst="rect">
            <a:avLst/>
          </a:prstGeom>
          <a:noFill/>
          <a:ln/>
        </p:spPr>
        <p:txBody>
          <a:bodyPr wrap="square" lIns="0" tIns="0" rIns="0" bIns="0" rtlCol="0" anchor="ctr"/>
          <a:lstStyle/>
          <a:p>
            <a:pPr indent="0" marL="0">
              <a:buNone/>
            </a:pPr>
            <a:r>
              <a:rPr lang="en-US" sz="1000" dirty="0">
                <a:solidFill>
                  <a:srgbClr val="6F6F6A"/>
                </a:solidFill>
                <a:latin typeface="Roobert" pitchFamily="34" charset="0"/>
                <a:ea typeface="Roobert" pitchFamily="34" charset="-122"/>
                <a:cs typeface="Roobert" pitchFamily="34" charset="-120"/>
              </a:rPr>
              <a:t>Phase 06</a:t>
            </a:r>
            <a:endParaRPr lang="en-US" sz="1000" dirty="0"/>
          </a:p>
        </p:txBody>
      </p:sp>
      <p:sp>
        <p:nvSpPr>
          <p:cNvPr id="6" name="Text 1"/>
          <p:cNvSpPr/>
          <p:nvPr>
            <p:ph idx="101" type="title" hasCustomPrompt="1"/>
          </p:nvPr>
        </p:nvSpPr>
        <p:spPr>
          <a:xfrm>
            <a:off x="822960" y="1218895"/>
            <a:ext cx="4343400" cy="1828800"/>
          </a:xfrm>
          <a:prstGeom prst="rect">
            <a:avLst/>
          </a:prstGeom>
          <a:noFill/>
          <a:ln/>
        </p:spPr>
        <p:txBody>
          <a:bodyPr wrap="square" lIns="0" tIns="0" rIns="0" bIns="0" rtlCol="0" anchor="t"/>
          <a:lstStyle/>
          <a:p>
            <a:pPr algn="l" indent="0" marL="0">
              <a:buNone/>
            </a:pPr>
            <a:r>
              <a:rPr lang="en-US" sz="4300" dirty="0">
                <a:solidFill>
                  <a:schemeClr val="tx1"/>
                </a:solidFill>
              </a:rPr>
              <a:t>Spot it in the wild</a:t>
            </a:r>
            <a:endParaRPr lang="en-US" sz="4300" dirty="0"/>
          </a:p>
        </p:txBody>
      </p:sp>
      <p:sp>
        <p:nvSpPr>
          <p:cNvPr id="7" name="Shape 5"/>
          <p:cNvSpPr/>
          <p:nvPr/>
        </p:nvSpPr>
        <p:spPr>
          <a:xfrm>
            <a:off x="822960" y="3200400"/>
            <a:ext cx="4267505" cy="0"/>
          </a:xfrm>
          <a:prstGeom prst="line">
            <a:avLst/>
          </a:prstGeom>
          <a:noFill/>
          <a:ln w="9525">
            <a:solidFill>
              <a:srgbClr val="C9C7BE"/>
            </a:solidFill>
            <a:prstDash val="solid"/>
          </a:ln>
        </p:spPr>
      </p:sp>
      <p:sp>
        <p:nvSpPr>
          <p:cNvPr id="8" name="Text 6"/>
          <p:cNvSpPr txBox="1"/>
          <p:nvPr/>
        </p:nvSpPr>
        <p:spPr>
          <a:xfrm>
            <a:off x="822960" y="3353105"/>
            <a:ext cx="4267505" cy="1143000"/>
          </a:xfrm>
          <a:prstGeom prst="rect">
            <a:avLst/>
          </a:prstGeom>
          <a:noFill/>
          <a:ln/>
        </p:spPr>
        <p:txBody>
          <a:bodyPr wrap="square" lIns="0" tIns="0" rIns="0" bIns="0" rtlCol="0" anchor="t"/>
          <a:lstStyle/>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Time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5 min</a:t>
            </a:r>
            <a:endParaRPr lang="en-US" sz="1300" dirty="0"/>
          </a:p>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Who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Everyone</a:t>
            </a:r>
            <a:endParaRPr lang="en-US" sz="1300" dirty="0"/>
          </a:p>
          <a:p>
            <a:pPr indent="0" marL="0">
              <a:spcAft>
                <a:spcPts val="600"/>
              </a:spcAft>
              <a:buNone/>
            </a:pPr>
            <a:r>
              <a:rPr lang="en-US" sz="1300" dirty="0">
                <a:solidFill>
                  <a:srgbClr val="6F6F6A"/>
                </a:solidFill>
                <a:latin typeface="Roobert" pitchFamily="34" charset="0"/>
                <a:ea typeface="Roobert" pitchFamily="34" charset="-122"/>
                <a:cs typeface="Roobert" pitchFamily="34" charset="-120"/>
              </a:rPr>
              <a:t>Hand in    </a:t>
            </a:r>
            <a:pPr indent="0" marL="0">
              <a:spcAft>
                <a:spcPts val="600"/>
              </a:spcAft>
              <a:buNone/>
            </a:pPr>
            <a:r>
              <a:rPr lang="en-US" sz="1300" dirty="0">
                <a:solidFill>
                  <a:schemeClr val="tx1"/>
                </a:solidFill>
                <a:latin typeface="Roobert" pitchFamily="34" charset="0"/>
                <a:ea typeface="Roobert" pitchFamily="34" charset="-122"/>
                <a:cs typeface="Roobert" pitchFamily="34" charset="-120"/>
              </a:rPr>
              <a:t>One example each</a:t>
            </a:r>
            <a:endParaRPr lang="en-US" sz="1300" dirty="0"/>
          </a:p>
        </p:txBody>
      </p:sp>
      <p:sp>
        <p:nvSpPr>
          <p:cNvPr id="9" name="Text 7"/>
          <p:cNvSpPr txBox="1"/>
          <p:nvPr/>
        </p:nvSpPr>
        <p:spPr>
          <a:xfrm>
            <a:off x="822960" y="5790895"/>
            <a:ext cx="4572000"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Sheet: pauerrr.github.io/redecorating-power/exercises/#e6</a:t>
            </a:r>
            <a:endParaRPr lang="en-US" sz="900" dirty="0"/>
          </a:p>
        </p:txBody>
      </p:sp>
      <p:sp>
        <p:nvSpPr>
          <p:cNvPr id="10" name="Shape 8"/>
          <p:cNvSpPr/>
          <p:nvPr/>
        </p:nvSpPr>
        <p:spPr>
          <a:xfrm>
            <a:off x="5639105" y="792785"/>
            <a:ext cx="5790895" cy="0"/>
          </a:xfrm>
          <a:prstGeom prst="line">
            <a:avLst/>
          </a:prstGeom>
          <a:noFill/>
          <a:ln w="9525">
            <a:solidFill>
              <a:srgbClr val="C9C7BE"/>
            </a:solidFill>
            <a:prstDash val="solid"/>
          </a:ln>
        </p:spPr>
      </p:sp>
      <p:sp>
        <p:nvSpPr>
          <p:cNvPr id="11" name="Text 9"/>
          <p:cNvSpPr txBox="1"/>
          <p:nvPr/>
        </p:nvSpPr>
        <p:spPr>
          <a:xfrm>
            <a:off x="5639105" y="94457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01</a:t>
            </a:r>
            <a:endParaRPr lang="en-US" sz="900" dirty="0"/>
          </a:p>
        </p:txBody>
      </p:sp>
      <p:sp>
        <p:nvSpPr>
          <p:cNvPr id="12" name="Text 10"/>
          <p:cNvSpPr txBox="1"/>
          <p:nvPr/>
        </p:nvSpPr>
        <p:spPr>
          <a:xfrm>
            <a:off x="6096305" y="89885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Name one interface outside government that uses the same authority devices.</a:t>
            </a:r>
            <a:endParaRPr lang="en-US" sz="1600" dirty="0"/>
          </a:p>
        </p:txBody>
      </p:sp>
      <p:sp>
        <p:nvSpPr>
          <p:cNvPr id="13" name="Shape 11"/>
          <p:cNvSpPr/>
          <p:nvPr/>
        </p:nvSpPr>
        <p:spPr>
          <a:xfrm>
            <a:off x="5639105" y="1554480"/>
            <a:ext cx="5790895" cy="0"/>
          </a:xfrm>
          <a:prstGeom prst="line">
            <a:avLst/>
          </a:prstGeom>
          <a:noFill/>
          <a:ln w="9525">
            <a:solidFill>
              <a:srgbClr val="C9C7BE"/>
            </a:solidFill>
            <a:prstDash val="solid"/>
          </a:ln>
        </p:spPr>
      </p:sp>
      <p:sp>
        <p:nvSpPr>
          <p:cNvPr id="14" name="Text 12"/>
          <p:cNvSpPr txBox="1"/>
          <p:nvPr/>
        </p:nvSpPr>
        <p:spPr>
          <a:xfrm>
            <a:off x="5639105" y="170718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02</a:t>
            </a:r>
            <a:endParaRPr lang="en-US" sz="900" dirty="0"/>
          </a:p>
        </p:txBody>
      </p:sp>
      <p:sp>
        <p:nvSpPr>
          <p:cNvPr id="15" name="Text 13"/>
          <p:cNvSpPr txBox="1"/>
          <p:nvPr/>
        </p:nvSpPr>
        <p:spPr>
          <a:xfrm>
            <a:off x="6096305" y="1661465"/>
            <a:ext cx="5333695" cy="39593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Say which device, and what it was protecting.</a:t>
            </a:r>
            <a:endParaRPr lang="en-US" sz="1600" dirty="0"/>
          </a:p>
        </p:txBody>
      </p:sp>
      <p:sp>
        <p:nvSpPr>
          <p:cNvPr id="16" name="Shape 14"/>
          <p:cNvSpPr/>
          <p:nvPr/>
        </p:nvSpPr>
        <p:spPr>
          <a:xfrm>
            <a:off x="5639105" y="2103120"/>
            <a:ext cx="5790895" cy="0"/>
          </a:xfrm>
          <a:prstGeom prst="line">
            <a:avLst/>
          </a:prstGeom>
          <a:noFill/>
          <a:ln w="9525">
            <a:solidFill>
              <a:srgbClr val="C9C7BE"/>
            </a:solidFill>
            <a:prstDash val="solid"/>
          </a:ln>
        </p:spPr>
      </p:sp>
      <p:sp>
        <p:nvSpPr>
          <p:cNvPr id="17" name="Text 15"/>
          <p:cNvSpPr txBox="1"/>
          <p:nvPr/>
        </p:nvSpPr>
        <p:spPr>
          <a:xfrm>
            <a:off x="5639105" y="2255825"/>
            <a:ext cx="381305" cy="228600"/>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03</a:t>
            </a:r>
            <a:endParaRPr lang="en-US" sz="900" dirty="0"/>
          </a:p>
        </p:txBody>
      </p:sp>
      <p:sp>
        <p:nvSpPr>
          <p:cNvPr id="18" name="Text 16"/>
          <p:cNvSpPr txBox="1"/>
          <p:nvPr/>
        </p:nvSpPr>
        <p:spPr>
          <a:xfrm>
            <a:off x="6096305" y="2210105"/>
            <a:ext cx="5333695" cy="609905"/>
          </a:xfrm>
          <a:prstGeom prst="rect">
            <a:avLst/>
          </a:prstGeom>
          <a:noFill/>
          <a:ln/>
        </p:spPr>
        <p:txBody>
          <a:bodyPr wrap="square" lIns="0" tIns="0" rIns="0" bIns="0" rtlCol="0" anchor="t"/>
          <a:lstStyle/>
          <a:p>
            <a:pPr indent="0" marL="0">
              <a:buNone/>
            </a:pPr>
            <a:r>
              <a:rPr lang="en-US" sz="1600" dirty="0">
                <a:solidFill>
                  <a:schemeClr val="tx1"/>
                </a:solidFill>
                <a:latin typeface="Roobert" pitchFamily="34" charset="0"/>
                <a:ea typeface="Roobert" pitchFamily="34" charset="-122"/>
                <a:cs typeface="Roobert" pitchFamily="34" charset="-120"/>
              </a:rPr>
              <a:t>Look at the words from the start. Did any of them change?</a:t>
            </a:r>
            <a:endParaRPr lang="en-US" sz="1600" dirty="0"/>
          </a:p>
        </p:txBody>
      </p:sp>
      <p:sp>
        <p:nvSpPr>
          <p:cNvPr id="19" name="Shape 17"/>
          <p:cNvSpPr/>
          <p:nvPr/>
        </p:nvSpPr>
        <p:spPr>
          <a:xfrm>
            <a:off x="5639105" y="2864815"/>
            <a:ext cx="5790895" cy="0"/>
          </a:xfrm>
          <a:prstGeom prst="line">
            <a:avLst/>
          </a:prstGeom>
          <a:noFill/>
          <a:ln w="9525">
            <a:solidFill>
              <a:srgbClr val="C9C7BE"/>
            </a:solidFill>
            <a:prstDash val="solid"/>
          </a:ln>
        </p:spPr>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ag If you publish"/>
          <p:cNvSpPr/>
          <p:nvPr/>
        </p:nvSpPr>
        <p:spPr>
          <a:xfrm>
            <a:off x="548640" y="838505"/>
            <a:ext cx="1218895" cy="244145"/>
          </a:xfrm>
          <a:prstGeom prst="roundRect">
            <a:avLst>
              <a:gd name="adj" fmla="val 187266"/>
            </a:avLst>
          </a:prstGeom>
          <a:ln w="9525">
            <a:solidFill>
              <a:schemeClr val="tx1"/>
            </a:solidFill>
            <a:prstDash val="solid"/>
          </a:ln>
        </p:spPr>
      </p:sp>
      <p:sp>
        <p:nvSpPr>
          <p:cNvPr id="3" name="Text 1"/>
          <p:cNvSpPr txBox="1"/>
          <p:nvPr/>
        </p:nvSpPr>
        <p:spPr>
          <a:xfrm>
            <a:off x="548640" y="838505"/>
            <a:ext cx="1218895" cy="244145"/>
          </a:xfrm>
          <a:prstGeom prst="rect">
            <a:avLst/>
          </a:prstGeom>
          <a:noFill/>
          <a:ln/>
        </p:spPr>
        <p:txBody>
          <a:bodyPr wrap="square" lIns="0" tIns="0" rIns="0" bIns="0" rtlCol="0" anchor="ctr"/>
          <a:lstStyle/>
          <a:p>
            <a:pPr algn="ctr" indent="0" marL="0">
              <a:buNone/>
            </a:pPr>
            <a:r>
              <a:rPr lang="en-US" sz="1000" dirty="0">
                <a:solidFill>
                  <a:schemeClr val="tx1"/>
                </a:solidFill>
                <a:latin typeface="Roobert" pitchFamily="34" charset="0"/>
                <a:ea typeface="Roobert" pitchFamily="34" charset="-122"/>
                <a:cs typeface="Roobert" pitchFamily="34" charset="-120"/>
              </a:rPr>
              <a:t>If you publish</a:t>
            </a:r>
            <a:endParaRPr lang="en-US" sz="1000" dirty="0"/>
          </a:p>
        </p:txBody>
      </p:sp>
      <p:sp>
        <p:nvSpPr>
          <p:cNvPr id="4" name="Title"/>
          <p:cNvSpPr txBox="1"/>
          <p:nvPr/>
        </p:nvSpPr>
        <p:spPr>
          <a:xfrm>
            <a:off x="548640" y="1218895"/>
            <a:ext cx="4114800" cy="3200400"/>
          </a:xfrm>
          <a:prstGeom prst="rect">
            <a:avLst/>
          </a:prstGeom>
          <a:noFill/>
          <a:ln/>
        </p:spPr>
        <p:txBody>
          <a:bodyPr wrap="square" lIns="0" tIns="0" rIns="0" bIns="0" rtlCol="0" anchor="t"/>
          <a:lstStyle/>
          <a:p>
            <a:pPr indent="0" marL="0">
              <a:buNone/>
            </a:pPr>
            <a:r>
              <a:rPr lang="en-US" sz="3800" dirty="0">
                <a:solidFill>
                  <a:schemeClr val="tx1"/>
                </a:solidFill>
                <a:latin typeface="Roobert" pitchFamily="34" charset="0"/>
                <a:ea typeface="Roobert" pitchFamily="34" charset="-122"/>
                <a:cs typeface="Roobert" pitchFamily="34" charset="-120"/>
              </a:rPr>
              <a:t>Outside the room, a perfect clone is a different object</a:t>
            </a:r>
            <a:endParaRPr lang="en-US" sz="3800" dirty="0"/>
          </a:p>
        </p:txBody>
      </p:sp>
      <p:sp>
        <p:nvSpPr>
          <p:cNvPr id="5" name="Shape 3"/>
          <p:cNvSpPr/>
          <p:nvPr/>
        </p:nvSpPr>
        <p:spPr>
          <a:xfrm>
            <a:off x="5181905" y="1143000"/>
            <a:ext cx="6462065" cy="0"/>
          </a:xfrm>
          <a:prstGeom prst="line">
            <a:avLst/>
          </a:prstGeom>
          <a:noFill/>
          <a:ln w="9525">
            <a:solidFill>
              <a:srgbClr val="C9C7BE"/>
            </a:solidFill>
            <a:prstDash val="solid"/>
          </a:ln>
        </p:spPr>
      </p:sp>
      <p:sp>
        <p:nvSpPr>
          <p:cNvPr id="6" name="Text 4"/>
          <p:cNvSpPr txBox="1"/>
          <p:nvPr/>
        </p:nvSpPr>
        <p:spPr>
          <a:xfrm>
            <a:off x="5181905" y="134142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01</a:t>
            </a:r>
            <a:endParaRPr lang="en-US" sz="900" dirty="0"/>
          </a:p>
        </p:txBody>
      </p:sp>
      <p:sp>
        <p:nvSpPr>
          <p:cNvPr id="7" name="Text 5"/>
          <p:cNvSpPr txBox="1"/>
          <p:nvPr/>
        </p:nvSpPr>
        <p:spPr>
          <a:xfrm>
            <a:off x="5639105" y="1264615"/>
            <a:ext cx="6004865" cy="96012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A permanent banner</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Parody / satire. Not affiliated with the institution. Made at the Redecorating Power workshop.</a:t>
            </a:r>
            <a:endParaRPr lang="en-US" sz="1700" dirty="0"/>
          </a:p>
        </p:txBody>
      </p:sp>
      <p:sp>
        <p:nvSpPr>
          <p:cNvPr id="8" name="Shape 6"/>
          <p:cNvSpPr/>
          <p:nvPr/>
        </p:nvSpPr>
        <p:spPr>
          <a:xfrm>
            <a:off x="5181905" y="2286000"/>
            <a:ext cx="6462065" cy="0"/>
          </a:xfrm>
          <a:prstGeom prst="line">
            <a:avLst/>
          </a:prstGeom>
          <a:noFill/>
          <a:ln w="9525">
            <a:solidFill>
              <a:srgbClr val="C9C7BE"/>
            </a:solidFill>
            <a:prstDash val="solid"/>
          </a:ln>
        </p:spPr>
      </p:sp>
      <p:sp>
        <p:nvSpPr>
          <p:cNvPr id="9" name="Text 7"/>
          <p:cNvSpPr txBox="1"/>
          <p:nvPr/>
        </p:nvSpPr>
        <p:spPr>
          <a:xfrm>
            <a:off x="5181905" y="248442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02</a:t>
            </a:r>
            <a:endParaRPr lang="en-US" sz="900" dirty="0"/>
          </a:p>
        </p:txBody>
      </p:sp>
      <p:sp>
        <p:nvSpPr>
          <p:cNvPr id="10" name="Text 8"/>
          <p:cNvSpPr txBox="1"/>
          <p:nvPr/>
        </p:nvSpPr>
        <p:spPr>
          <a:xfrm>
            <a:off x="5639105" y="2407615"/>
            <a:ext cx="6004865" cy="96012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An invented emblem</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Replace official crests and seals. Several states restrict their use; the invented one is usually funnier.</a:t>
            </a:r>
            <a:endParaRPr lang="en-US" sz="1700" dirty="0"/>
          </a:p>
        </p:txBody>
      </p:sp>
      <p:sp>
        <p:nvSpPr>
          <p:cNvPr id="11" name="Shape 9"/>
          <p:cNvSpPr/>
          <p:nvPr/>
        </p:nvSpPr>
        <p:spPr>
          <a:xfrm>
            <a:off x="5181905" y="3429000"/>
            <a:ext cx="6462065" cy="0"/>
          </a:xfrm>
          <a:prstGeom prst="line">
            <a:avLst/>
          </a:prstGeom>
          <a:noFill/>
          <a:ln w="9525">
            <a:solidFill>
              <a:srgbClr val="C9C7BE"/>
            </a:solidFill>
            <a:prstDash val="solid"/>
          </a:ln>
        </p:spPr>
      </p:sp>
      <p:sp>
        <p:nvSpPr>
          <p:cNvPr id="12" name="Text 10"/>
          <p:cNvSpPr txBox="1"/>
          <p:nvPr/>
        </p:nvSpPr>
        <p:spPr>
          <a:xfrm>
            <a:off x="5181905" y="362742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03</a:t>
            </a:r>
            <a:endParaRPr lang="en-US" sz="900" dirty="0"/>
          </a:p>
        </p:txBody>
      </p:sp>
      <p:sp>
        <p:nvSpPr>
          <p:cNvPr id="13" name="Text 11"/>
          <p:cNvSpPr txBox="1"/>
          <p:nvPr/>
        </p:nvSpPr>
        <p:spPr>
          <a:xfrm>
            <a:off x="5639105" y="3550615"/>
            <a:ext cx="6004865" cy="96012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No forms, no logins</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Nothing a visitor could mistake for a real service.</a:t>
            </a:r>
            <a:endParaRPr lang="en-US" sz="1700" dirty="0"/>
          </a:p>
        </p:txBody>
      </p:sp>
      <p:sp>
        <p:nvSpPr>
          <p:cNvPr id="14" name="Shape 12"/>
          <p:cNvSpPr/>
          <p:nvPr/>
        </p:nvSpPr>
        <p:spPr>
          <a:xfrm>
            <a:off x="5181905" y="4572000"/>
            <a:ext cx="6462065" cy="0"/>
          </a:xfrm>
          <a:prstGeom prst="line">
            <a:avLst/>
          </a:prstGeom>
          <a:noFill/>
          <a:ln w="9525">
            <a:solidFill>
              <a:srgbClr val="C9C7BE"/>
            </a:solidFill>
            <a:prstDash val="solid"/>
          </a:ln>
        </p:spPr>
      </p:sp>
      <p:sp>
        <p:nvSpPr>
          <p:cNvPr id="15" name="Text 13"/>
          <p:cNvSpPr txBox="1"/>
          <p:nvPr/>
        </p:nvSpPr>
        <p:spPr>
          <a:xfrm>
            <a:off x="5181905" y="4770425"/>
            <a:ext cx="381305" cy="198425"/>
          </a:xfrm>
          <a:prstGeom prst="rect">
            <a:avLst/>
          </a:prstGeom>
          <a:noFill/>
          <a:ln/>
        </p:spPr>
        <p:txBody>
          <a:bodyPr wrap="square" lIns="0" tIns="0" rIns="0" bIns="0" rtlCol="0" anchor="t"/>
          <a:lstStyle/>
          <a:p>
            <a:pPr indent="0" marL="0">
              <a:buNone/>
            </a:pPr>
            <a:r>
              <a:rPr lang="en-US" sz="900" dirty="0">
                <a:solidFill>
                  <a:srgbClr val="6F6F6A"/>
                </a:solidFill>
                <a:latin typeface="Courier New" pitchFamily="34" charset="0"/>
                <a:ea typeface="Courier New" pitchFamily="34" charset="-122"/>
                <a:cs typeface="Courier New" pitchFamily="34" charset="-120"/>
              </a:rPr>
              <a:t>04</a:t>
            </a:r>
            <a:endParaRPr lang="en-US" sz="900" dirty="0"/>
          </a:p>
        </p:txBody>
      </p:sp>
      <p:sp>
        <p:nvSpPr>
          <p:cNvPr id="16" name="Text 14"/>
          <p:cNvSpPr txBox="1"/>
          <p:nvPr/>
        </p:nvSpPr>
        <p:spPr>
          <a:xfrm>
            <a:off x="5639105" y="4693615"/>
            <a:ext cx="6004865" cy="960120"/>
          </a:xfrm>
          <a:prstGeom prst="rect">
            <a:avLst/>
          </a:prstGeom>
          <a:noFill/>
          <a:ln/>
        </p:spPr>
        <p:txBody>
          <a:bodyPr wrap="square" lIns="0" tIns="0" rIns="0" bIns="0" rtlCol="0" anchor="t"/>
          <a:lstStyle/>
          <a:p>
            <a:pPr indent="0" marL="0">
              <a:spcAft>
                <a:spcPts val="400"/>
              </a:spcAft>
              <a:buNone/>
            </a:pPr>
            <a:r>
              <a:rPr lang="en-US" sz="1700" dirty="0">
                <a:solidFill>
                  <a:schemeClr val="tx1"/>
                </a:solidFill>
                <a:latin typeface="Roobert" pitchFamily="34" charset="0"/>
                <a:ea typeface="Roobert" pitchFamily="34" charset="-122"/>
                <a:cs typeface="Roobert" pitchFamily="34" charset="-120"/>
              </a:rPr>
              <a:t>noindex, sources visible, neutral address</a:t>
            </a:r>
            <a:endParaRPr lang="en-US" sz="1700" dirty="0"/>
          </a:p>
          <a:p>
            <a:pPr indent="0" marL="0">
              <a:spcAft>
                <a:spcPts val="400"/>
              </a:spcAft>
              <a:buNone/>
            </a:pPr>
            <a:r>
              <a:rPr lang="en-US" sz="1100" dirty="0">
                <a:solidFill>
                  <a:srgbClr val="6F6F6A"/>
                </a:solidFill>
                <a:latin typeface="Roobert" pitchFamily="34" charset="0"/>
                <a:ea typeface="Roobert" pitchFamily="34" charset="-122"/>
                <a:cs typeface="Roobert" pitchFamily="34" charset="-120"/>
              </a:rPr>
              <a:t>Don't compete with the real site in search. Keep the ledger on the page. Don't register look-alike domains.</a:t>
            </a:r>
            <a:endParaRPr lang="en-US" sz="1700" dirty="0"/>
          </a:p>
        </p:txBody>
      </p:sp>
      <p:sp>
        <p:nvSpPr>
          <p:cNvPr id="17" name="Shape 15"/>
          <p:cNvSpPr/>
          <p:nvPr/>
        </p:nvSpPr>
        <p:spPr>
          <a:xfrm>
            <a:off x="5181905" y="5715000"/>
            <a:ext cx="6462065" cy="0"/>
          </a:xfrm>
          <a:prstGeom prst="line">
            <a:avLst/>
          </a:prstGeom>
          <a:noFill/>
          <a:ln w="9525">
            <a:solidFill>
              <a:srgbClr val="C9C7BE"/>
            </a:solidFill>
            <a:prstDash val="solid"/>
          </a:ln>
        </p:spPr>
      </p:sp>
      <p:sp>
        <p:nvSpPr>
          <p:cNvPr id="19" name="Text 0"/>
          <p:cNvSpPr/>
          <p:nvPr>
            <p:ph idx="100" type="title" hasCustomPrompt="1"/>
          </p:nvPr>
        </p:nvSpPr>
        <p:spPr>
          <a:xfrm>
            <a:off x="548640" y="731520"/>
            <a:ext cx="11094415" cy="761695"/>
          </a:xfrm>
          <a:prstGeom prst="rect">
            <a:avLst/>
          </a:prstGeom>
          <a:noFill/>
          <a:ln/>
        </p:spPr>
        <p:txBody>
          <a:bodyPr wrap="square" lIns="0" tIns="0" rIns="0" bIns="0" rtlCol="0" anchor="b"/>
          <a:lstStyle/>
          <a:p>
            <a:pPr algn="l" indent="0" marL="0">
              <a:buNone/>
            </a:pPr>
            <a:endParaRPr lang="en-US" sz="41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F6F6A"/>
                </a:solidFill>
                <a:latin typeface="Courier New"/>
                <a:ea typeface="Courier New"/>
                <a:cs typeface="Courier New"/>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990295"/>
            <a:ext cx="5790895" cy="3047695"/>
          </a:xfrm>
          <a:prstGeom prst="rect">
            <a:avLst/>
          </a:prstGeom>
          <a:noFill/>
          <a:ln/>
        </p:spPr>
        <p:txBody>
          <a:bodyPr wrap="square" lIns="0" tIns="0" rIns="0" bIns="0" rtlCol="0" anchor="t"/>
          <a:lstStyle/>
          <a:p>
            <a:pPr algn="l" indent="0" marL="0">
              <a:buNone/>
            </a:pPr>
            <a:r>
              <a:rPr lang="en-US" sz="5800" dirty="0">
                <a:solidFill>
                  <a:schemeClr val="bg2"/>
                </a:solidFill>
              </a:rPr>
              <a:t>Case</a:t>
            </a:r>
            <a:endParaRPr lang="en-US" sz="5800" dirty="0"/>
          </a:p>
          <a:p>
            <a:pPr algn="l" indent="0" marL="0">
              <a:buNone/>
            </a:pPr>
            <a:r>
              <a:rPr lang="en-US" sz="5800" dirty="0">
                <a:solidFill>
                  <a:schemeClr val="bg2"/>
                </a:solidFill>
              </a:rPr>
              <a:t>closed.</a:t>
            </a:r>
            <a:endParaRPr lang="en-US" sz="5800" dirty="0"/>
          </a:p>
        </p:txBody>
      </p:sp>
      <p:sp>
        <p:nvSpPr>
          <p:cNvPr id="3" name="Text 1"/>
          <p:cNvSpPr txBox="1"/>
          <p:nvPr/>
        </p:nvSpPr>
        <p:spPr>
          <a:xfrm>
            <a:off x="548640" y="4267505"/>
            <a:ext cx="6248095" cy="838505"/>
          </a:xfrm>
          <a:prstGeom prst="rect">
            <a:avLst/>
          </a:prstGeom>
          <a:noFill/>
          <a:ln/>
        </p:spPr>
        <p:txBody>
          <a:bodyPr wrap="square" lIns="0" tIns="0" rIns="0" bIns="0" rtlCol="0" anchor="t"/>
          <a:lstStyle/>
          <a:p>
            <a:pPr indent="0" marL="0">
              <a:buNone/>
            </a:pPr>
            <a:r>
              <a:rPr lang="en-US" sz="1800" dirty="0">
                <a:solidFill>
                  <a:schemeClr val="bg2"/>
                </a:solidFill>
                <a:latin typeface="Roobert" pitchFamily="34" charset="0"/>
                <a:ea typeface="Roobert" pitchFamily="34" charset="-122"/>
                <a:cs typeface="Roobert" pitchFamily="34" charset="-120"/>
              </a:rPr>
              <a:t>The kit stays online. Take it home, run it again, send us what you make.</a:t>
            </a:r>
            <a:endParaRPr lang="en-US" sz="1800" dirty="0"/>
          </a:p>
        </p:txBody>
      </p:sp>
      <p:sp>
        <p:nvSpPr>
          <p:cNvPr id="4" name="Text 2"/>
          <p:cNvSpPr txBox="1"/>
          <p:nvPr/>
        </p:nvSpPr>
        <p:spPr>
          <a:xfrm>
            <a:off x="548640" y="5562295"/>
            <a:ext cx="6248095" cy="761695"/>
          </a:xfrm>
          <a:prstGeom prst="rect">
            <a:avLst/>
          </a:prstGeom>
          <a:noFill/>
          <a:ln/>
        </p:spPr>
        <p:txBody>
          <a:bodyPr wrap="square" lIns="0" tIns="0" rIns="0" bIns="0" rtlCol="0" anchor="t"/>
          <a:lstStyle/>
          <a:p>
            <a:pPr indent="0" marL="0">
              <a:buNone/>
            </a:pPr>
            <a:r>
              <a:rPr lang="en-US" sz="1200" dirty="0">
                <a:solidFill>
                  <a:srgbClr val="A9A8A2"/>
                </a:solidFill>
                <a:latin typeface="Roobert" pitchFamily="34" charset="0"/>
                <a:ea typeface="Roobert" pitchFamily="34" charset="-122"/>
                <a:cs typeface="Roobert" pitchFamily="34" charset="-120"/>
              </a:rPr>
              <a:t>#RedecoratingPower</a:t>
            </a:r>
            <a:endParaRPr lang="en-US" sz="1200" dirty="0"/>
          </a:p>
          <a:p>
            <a:pPr indent="0" marL="0">
              <a:buNone/>
            </a:pPr>
            <a:r>
              <a:rPr lang="en-US" sz="1200" dirty="0">
                <a:solidFill>
                  <a:srgbClr val="A9A8A2"/>
                </a:solidFill>
                <a:latin typeface="Roobert" pitchFamily="34" charset="0"/>
                <a:ea typeface="Roobert" pitchFamily="34" charset="-122"/>
                <a:cs typeface="Roobert" pitchFamily="34" charset="-120"/>
              </a:rPr>
              <a:t>hello@domesticstreamers.com</a:t>
            </a:r>
            <a:endParaRPr lang="en-US" sz="1200" dirty="0"/>
          </a:p>
        </p:txBody>
      </p:sp>
      <p:sp>
        <p:nvSpPr>
          <p:cNvPr id="5" name="Kit address card"/>
          <p:cNvSpPr/>
          <p:nvPr/>
        </p:nvSpPr>
        <p:spPr>
          <a:xfrm>
            <a:off x="8748065" y="990295"/>
            <a:ext cx="2895905" cy="3429000"/>
          </a:xfrm>
          <a:prstGeom prst="roundRect">
            <a:avLst>
              <a:gd name="adj" fmla="val 7894"/>
            </a:avLst>
          </a:prstGeom>
          <a:solidFill>
            <a:schemeClr val="bg1"/>
          </a:solidFill>
          <a:ln/>
        </p:spPr>
      </p:sp>
      <p:pic>
        <p:nvPicPr>
          <p:cNvPr id="6" name="QR code" descr="QR code to the workshop kit">    </p:cNvPr>
          <p:cNvPicPr>
            <a:picLocks noChangeAspect="1"/>
          </p:cNvPicPr>
          <p:nvPr/>
        </p:nvPicPr>
        <p:blipFill>
          <a:blip r:embed="rId1"/>
          <a:stretch>
            <a:fillRect/>
          </a:stretch>
        </p:blipFill>
        <p:spPr>
          <a:xfrm>
            <a:off x="8930945" y="1173175"/>
            <a:ext cx="2530145" cy="2530145"/>
          </a:xfrm>
          <a:prstGeom prst="rect">
            <a:avLst/>
          </a:prstGeom>
        </p:spPr>
      </p:pic>
      <p:sp>
        <p:nvSpPr>
          <p:cNvPr id="7" name="Text 4"/>
          <p:cNvSpPr txBox="1"/>
          <p:nvPr/>
        </p:nvSpPr>
        <p:spPr>
          <a:xfrm>
            <a:off x="8930945" y="3810305"/>
            <a:ext cx="2530145" cy="45720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pauerrr.github.io/redecorating-power</a:t>
            </a:r>
            <a:endParaRPr lang="en-US" sz="1000" dirty="0"/>
          </a:p>
        </p:txBody>
      </p:sp>
      <p:sp>
        <p:nvSpPr>
          <p:cNvPr id="25" name="Slide Number Placeholder 0"/>
          <p:cNvSpPr>
            <a:spLocks noGrp="1"/>
          </p:cNvSpPr>
          <p:nvPr>
            <p:ph type="sldNum" sz="quarter" idx="4294967295"/>
          </p:nvPr>
        </p:nvSpPr>
        <p:spPr>
          <a:xfrm>
            <a:off x="10515600" y="6400800"/>
            <a:ext cx="11430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9A8A2"/>
                </a:solidFill>
                <a:latin typeface="Courier New"/>
                <a:ea typeface="Courier New"/>
                <a:cs typeface="Courier New"/>
              </a:defRPr>
            </a:lvl1pPr>
          </a:lstStyle>
          <a:p>
            <a:pPr algn="r"/>
            <a:fld id="{F7021451-1387-4CA6-816F-3879F97B5CBC}" type="slidenum">
              <a:rPr b="0" lang="en-US"/>
              <a:t>36</a:t>
            </a:fld>
            <a:endParaRPr lang="en-US"/>
          </a:p>
        </p:txBody>
      </p:sp>
    </p:spTree>
  </p:cSld>
  <p:clrMapOvr>
    <a:masterClrMapping/>
  </p:clrMapOvr>
</p:sld>
</file>

<file path=ppt/theme/theme1.xml><?xml version="1.0" encoding="utf-8"?>
<a:theme xmlns:a="http://schemas.openxmlformats.org/drawingml/2006/main" name="Office Theme">
  <a:themeElements>
    <a:clrScheme name="Redecorating Power (DDS)">
      <a:dk1>
        <a:srgbClr val="0B0C0C"/>
      </a:dk1>
      <a:lt1>
        <a:srgbClr val="FFFFFF"/>
      </a:lt1>
      <a:dk2>
        <a:srgbClr val="0B0C0C"/>
      </a:dk2>
      <a:lt2>
        <a:srgbClr val="F0EEE5"/>
      </a:lt2>
      <a:accent1>
        <a:srgbClr val="C5FF71"/>
      </a:accent1>
      <a:accent2>
        <a:srgbClr val="3F5DFE"/>
      </a:accent2>
      <a:accent3>
        <a:srgbClr val="FF3F25"/>
      </a:accent3>
      <a:accent4>
        <a:srgbClr val="A9EAFF"/>
      </a:accent4>
      <a:accent5>
        <a:srgbClr val="E1BCE0"/>
      </a:accent5>
      <a:accent6>
        <a:srgbClr val="FBE965"/>
      </a:accent6>
      <a:hlink>
        <a:srgbClr val="3F5DFE"/>
      </a:hlink>
      <a:folHlink>
        <a:srgbClr val="3F5DFE"/>
      </a:folHlink>
    </a:clrScheme>
    <a:fontScheme name="Office">
      <a:majorFont>
        <a:latin typeface="Roober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ober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Domestic Data Streamers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Redecorating Power — workshop deck</dc:title>
  <dc:subject>PptxGenJS Presentation</dc:subject>
  <dc:creator>Domestic Data Streamers</dc:creator>
  <cp:lastModifiedBy>Domestic Data Streamers</cp:lastModifiedBy>
  <cp:revision>1</cp:revision>
  <dcterms:created xsi:type="dcterms:W3CDTF">2026-10-16T10:35:26Z</dcterms:created>
  <dcterms:modified xsi:type="dcterms:W3CDTF">2026-10-16T10:35:26Z</dcterms:modified>
</cp:coreProperties>
</file>